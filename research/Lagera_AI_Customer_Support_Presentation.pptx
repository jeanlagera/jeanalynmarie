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27c230bd-c636-8ff9-45a9-cbf0de084f1b}">
          <p14:sldIdLst>
            <p14:sldId id="256"/>
            <p14:sldId id="257"/>
            <p14:sldId id="258"/>
            <p14:sldId id="259"/>
            <p14:sldId id="260"/>
            <p14:sldId id="261"/>
          </p14:sldIdLst>
        </p14:section>
        <p14:section name="Literature" id="{2928397d-b35b-f1b0-1fc3-2cafda248503}">
          <p14:sldIdLst>
            <p14:sldId id="262"/>
            <p14:sldId id="263"/>
          </p14:sldIdLst>
        </p14:section>
        <p14:section name="Methodology" id="{c99e1c6e-86f6-293f-4b28-1070be9ca24c}">
          <p14:sldIdLst>
            <p14:sldId id="264"/>
            <p14:sldId id="265"/>
          </p14:sldIdLst>
        </p14:section>
        <p14:section name="System Design" id="{61cd8824-e38e-611b-ae9a-d0a75f38915c}">
          <p14:sldIdLst>
            <p14:sldId id="266"/>
            <p14:sldId id="267"/>
            <p14:sldId id="268"/>
            <p14:sldId id="269"/>
            <p14:sldId id="270"/>
            <p14:sldId id="271"/>
            <p14:sldId id="272"/>
            <p14:sldId id="273"/>
          </p14:sldIdLst>
        </p14:section>
        <p14:section name="Evaluation" id="{eb802d83-4190-1de8-e7b4-57476a7eae49}">
          <p14:sldIdLst>
            <p14:sldId id="274"/>
            <p14:sldId id="275"/>
          </p14:sldIdLst>
        </p14:section>
        <p14:section name="Conclusion" id="{142e767d-b27d-44ff-3e9d-8078aeebb864}">
          <p14:sldIdLst>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day po. My research is a design project: an AI-assisted customer support system for micro and small online sellers in Baguio City and Benguet. It answers routine customer questions using only the seller's approved information and passes complaints and difficult cases to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everyday problem. Small sellers in Baguio and Benguet mostly sell through Facebook pages and Messenger. The same questions come again and again: available pa, how much, COD, delivery time, returns. One or two people answer all of them while also running the business. Speed is one issue; consistency is another, because prices and stock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numbers set the context. Almost all Philippine businesses are MSMEs. The digital economy is almost 10 percent of GDP and e-commerce is about a third of it. Most online sellers use social media, and most accept COD. So for a small seller, customer questions arrive in Messenger, not in a help desk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Locally, government programs are actively helping Baguio and Benguet MSMEs go online. Source: Philippine Information Agency reports, 2026. But these programs focus on opening and marketing stores. Handling the customer messages afterwards is the gap this study starts from. Note: these reports describe the setting; the seller survey will confirm the actual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problem is how to build a support assistant that answers routine questions quickly and correctly, never states something the business has not approved, and hands anything difficult to a person. Specific objectives: gather requirements from sellers, design the owner-managed knowledge base, support English, Filipino and Taglish, answer only from approved records, add human escalation, and evaluate the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research questions guide the design: seller needs, grounded answers, language handling, escalation, and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takeaways. First, customers care about correct, concrete answers, not just speed. Second, Huang, Markovitch and Stough found that chatbot service with light human help matched human-only service. This shaped the escalation design. Third, a Philippine study of Shopee and Lazada chatbots found users struggled with dialogue and understanding. Fourth, AI models are weaker in Tagalog and Taglish, so the system must be tested per language. Also mentioned in the paper: Data Privacy Act, NPC Advisory 2024-04, NIST AI RMF, OWASP LLM Top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Parts of this idea already exist in the Philippines: shop chatbots in Nueva Ecija, the Shopee and Lazada bots, DOST-ASTI's iTANONG which answers in Taglish from approved data, and ChatGenie for MSME chat commerce. But none combines owner-controlled answers, Taglish testing and human hand-off for micro sellers, and none is in the Cordillera. That is the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design project following the design-science pattern: identify the problem, build the artifact, evaluate it. Development follows Agile, adapted from Scrum, with six two-week sprints. Agile fits because the seller interviews may change the knowledge-base fields and escalation rules during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options were compared. A, manual and saved replies, costs nothing but doesn't save time. B, a keyword bot, breaks on Taglish spellings like 'hm po' and 'mgkano'. C, a general AI chatbot, reads Taglish well but may invent a price or return period the shop never set. D, the proposed design, keeps the language ability but answers only from the owner's records and hands off to staff. D was selected.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Inputs: the customer's message, the owner's approved records, and escalation rules. Process: language and intent detection, retrieval, grounded generation, a confidence check, and escalation. Output: an answer traceable to a record, or a hand-off to staff. Privacy, security, human oversight and transparency apply to every stage. The feedback loop: when logs show a question with no matching record, the owner adds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flowchart. Sensitive numbers are masked first. Language and intent are detected. Complaints, refunds and disputes go straight to staff. Other questions go to retrieval, which searches only this seller's active records. If a record passes the confidence threshold, the reply is generated from it and the record ID is logged. If not, the chat is escalated. The system never guesses a price or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layers: presentation (customer chat and owner dashboard), application (REST API, login, business rules, escalation queue), AI orchestration (language and intent, retriever, grounded generation and confidence check), and data (relational database plus vector index). Key design choice: the language model owns no data and cannot take any action. This follows NIST and OWASP guidance.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customer asks, picks quick topics, requests a person and rates answers. Owners and staff manage products, FAQs and policies and handle escalations. The AI service only takes part in 'retrieve and answer.' Right: a business has products, knowledge items and conversations; each message stores the intent, confidence and the knowledge item used, so every answer is auditable. Customers are identified by a reference code, not by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 means business rule: fixed rules written in the application code that the AI cannot override. The most important is BR3: refunds, complaints and discounts not in the policy always go to a real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 side: mobile-first chat that says replies are automated, shows which record each answer came from, follows the customer's language, and always has a Staff button. Owner side: a dashboard with weekly counts, the escalation queue with an 'Add FAQ' action, top questions, and a reminder for products not updated recently. Values shown are samples for illustration.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stack is small and affordable: a responsive web app, a REST API, a hosted LLM through a neutral interface, and PostgreSQL with pgvector on a small cloud server. Security covers both standard web controls and AI-specific ones from the OWASP LLM Top 10, such as prompt injection. Privacy follows the Data Privacy Act and NPC Advisory 2024-04.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B2B subscription: the seller pays. A free tier lets sellers try it, Starter at 499 pesos fits most micro sellers, Growth at 1,299 for busier shops. These are planning figures and the survey asks about willingness to pay. Sustainability: exact FAQ matches skip the AI call, and each tier has a usage cap. First market: sellers who finished DTI or DICT digital-selling programs.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project targets, not industry benchmarks. Accuracy is the main measure. The test set has 120 questions, 40 per language, and the correct answer for each is written before testing so it can't be adjusted after. No performance results are claimed until the prototype is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instruments. Survey A, before building, confirms the actual needs of local sellers and starts with a screening question, so only businesses that sell or take inquiries online are included. Survey B, after testing, measures the evaluation targets including the SUS. Recruitment is through a request letter to DTI, DICT-CAR and the city office asking them to forward the survey, plus seller groups and referrals. No participant lists are requested, in line with the Data Privacy 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sellers are being encouraged to go online, and answering customers becomes a daily burden. The design answers only from the owner's records, works in Taglish and hands off to staff. It acts as a helper, not a decision-maker. Recommendations: build and test as planned, confirm requirements with sellers, keep escalation strict, add Messenger next, and partner with DTI and DICT.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ACM-formatted reference list (30 entries) is in the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panel and invite questions. Be ready for: why not ChatGPT, how you know local sellers have this problem, what if the AI is wrong, Taglish handling, privacy, who pays, where are the results, and what's new compared with ChatGenie or iTANONG.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accent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8778240" cy="182880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731520" y="3794760"/>
            <a:ext cx="10698480" cy="2011680"/>
          </a:xfrm>
          <a:prstGeom prst="rect">
            <a:avLst/>
          </a:prstGeom>
          <a:noFill/>
          <a:ln/>
        </p:spPr>
        <p:txBody>
          <a:bodyPr wrap="square" rtlCol="0"/>
          <a:lstStyle>
            <a:lvl1pPr algn="l" indent="0" marL="0">
              <a:buNone/>
              <a:defRPr lang="en-US" sz="1800" dirty="0">
                <a:solidFill>
                  <a:srgbClr val="CFE0D6"/>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200" b="1" dirty="0">
                <a:solidFill>
                  <a:schemeClr val="accent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3" name="Text 0"/>
          <p:cNvSpPr/>
          <p:nvPr/>
        </p:nvSpPr>
        <p:spPr>
          <a:xfrm>
            <a:off x="548640" y="6400800"/>
            <a:ext cx="5486400" cy="274320"/>
          </a:xfrm>
          <a:prstGeom prst="rect">
            <a:avLst/>
          </a:prstGeom>
          <a:noFill/>
          <a:ln/>
        </p:spPr>
        <p:txBody>
          <a:bodyPr wrap="square" rtlCol="0" anchor="ctr"/>
          <a:lstStyle/>
          <a:p>
            <a:pPr indent="0" marL="0">
              <a:buNone/>
            </a:pPr>
            <a:r>
              <a:rPr lang="en-US" sz="1000" dirty="0">
                <a:solidFill>
                  <a:srgbClr val="7A8A82"/>
                </a:solidFill>
              </a:rPr>
              <a:t>Lagera  |  MITO 611 Research Project</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A8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A8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3.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3.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3.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3.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3.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8778240" cy="1828800"/>
          </a:xfrm>
          <a:prstGeom prst="rect">
            <a:avLst/>
          </a:prstGeom>
          <a:noFill/>
          <a:ln/>
        </p:spPr>
        <p:txBody>
          <a:bodyPr wrap="square"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Design of an AI-Assisted Customer Support System for Micro and Small E-Commerce Businesses in Baguio City and Benguet</a:t>
            </a:r>
            <a:endParaRPr lang="en-US" sz="4000" dirty="0"/>
          </a:p>
        </p:txBody>
      </p:sp>
      <p:sp>
        <p:nvSpPr>
          <p:cNvPr id="3" name="Text 0"/>
          <p:cNvSpPr/>
          <p:nvPr>
            <p:ph idx="101" type="body" hasCustomPrompt="1"/>
          </p:nvPr>
        </p:nvSpPr>
        <p:spPr>
          <a:xfrm>
            <a:off x="731520" y="3794760"/>
            <a:ext cx="10698480" cy="2011680"/>
          </a:xfrm>
          <a:prstGeom prst="rect">
            <a:avLst/>
          </a:prstGeom>
          <a:noFill/>
          <a:ln/>
        </p:spPr>
        <p:txBody>
          <a:bodyPr wrap="square" rtlCol="0" anchor="t"/>
          <a:lstStyle/>
          <a:p>
            <a:pPr algn="l" indent="0" marL="0">
              <a:buNone/>
            </a:pPr>
            <a:r>
              <a:rPr lang="en-US" sz="1800" b="1" dirty="0">
                <a:solidFill>
                  <a:srgbClr val="FFFFFF"/>
                </a:solidFill>
              </a:rPr>
              <a:t>Jeanalyn Marie B. Lagera</a:t>
            </a:r>
            <a:endParaRPr lang="en-US" sz="1800" dirty="0"/>
          </a:p>
          <a:p>
            <a:pPr algn="l" indent="0" marL="0">
              <a:buNone/>
            </a:pPr>
            <a:r>
              <a:rPr lang="en-US" sz="1800" dirty="0">
                <a:solidFill>
                  <a:srgbClr val="CFE0D6"/>
                </a:solidFill>
              </a:rPr>
              <a:t>Mapúa University  |  MITO 611 – Advanced Web Systems and Technologies</a:t>
            </a:r>
            <a:endParaRPr lang="en-US" sz="1800" dirty="0"/>
          </a:p>
          <a:p>
            <a:pPr algn="l" indent="0" marL="0">
              <a:buNone/>
            </a:pPr>
            <a:r>
              <a:rPr lang="en-US" sz="1800" i="1" dirty="0">
                <a:solidFill>
                  <a:srgbClr val="CFE0D6"/>
                </a:solidFill>
              </a:rPr>
              <a:t>Design Project</a:t>
            </a:r>
            <a:endParaRPr lang="en-US" sz="1800" dirty="0"/>
          </a:p>
        </p:txBody>
      </p:sp>
      <p:pic>
        <p:nvPicPr>
          <p:cNvPr id="4" name="chat icon decoration" descr="preencoded.png">    </p:cNvPr>
          <p:cNvPicPr>
            <a:picLocks noChangeAspect="1"/>
          </p:cNvPicPr>
          <p:nvPr/>
        </p:nvPicPr>
        <p:blipFill>
          <a:blip r:embed="rId1"/>
          <a:stretch>
            <a:fillRect/>
          </a:stretch>
        </p:blipFill>
        <p:spPr>
          <a:xfrm>
            <a:off x="9692640" y="457200"/>
            <a:ext cx="1828800" cy="18288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accent1"/>
                </a:solidFill>
                <a:latin typeface="Cambria" pitchFamily="34" charset="0"/>
                <a:ea typeface="Cambria" pitchFamily="34" charset="-122"/>
                <a:cs typeface="Cambria" pitchFamily="34" charset="-120"/>
              </a:rPr>
              <a:t>One owner, many chats, the same questions</a:t>
            </a:r>
            <a:endParaRPr lang="en-US" sz="3200" dirty="0"/>
          </a:p>
        </p:txBody>
      </p:sp>
      <p:sp>
        <p:nvSpPr>
          <p:cNvPr id="3" name="inbox mock"/>
          <p:cNvSpPr/>
          <p:nvPr/>
        </p:nvSpPr>
        <p:spPr>
          <a:xfrm>
            <a:off x="548640" y="1371600"/>
            <a:ext cx="5120640" cy="4754880"/>
          </a:xfrm>
          <a:prstGeom prst="roundRect">
            <a:avLst>
              <a:gd name="adj" fmla="val 2308"/>
            </a:avLst>
          </a:prstGeom>
          <a:solidFill>
            <a:srgbClr val="F4F6F5"/>
          </a:solidFill>
          <a:ln w="12700">
            <a:solidFill>
              <a:srgbClr val="D5DED9"/>
            </a:solidFill>
            <a:prstDash val="solid"/>
          </a:ln>
        </p:spPr>
      </p:sp>
      <p:sp>
        <p:nvSpPr>
          <p:cNvPr id="4" name="Text 2"/>
          <p:cNvSpPr txBox="1"/>
          <p:nvPr/>
        </p:nvSpPr>
        <p:spPr>
          <a:xfrm>
            <a:off x="822960" y="1554480"/>
            <a:ext cx="4114800" cy="365760"/>
          </a:xfrm>
          <a:prstGeom prst="rect">
            <a:avLst/>
          </a:prstGeom>
          <a:noFill/>
          <a:ln/>
        </p:spPr>
        <p:txBody>
          <a:bodyPr wrap="square" lIns="0" tIns="0" rIns="0" bIns="0" rtlCol="0" anchor="t"/>
          <a:lstStyle/>
          <a:p>
            <a:pPr indent="0" marL="0">
              <a:buNone/>
            </a:pPr>
            <a:r>
              <a:rPr lang="en-US" sz="1400" b="1" dirty="0">
                <a:solidFill>
                  <a:schemeClr val="accent1"/>
                </a:solidFill>
              </a:rPr>
              <a:t>Shop page inbox</a:t>
            </a:r>
            <a:endParaRPr lang="en-US" sz="1400" dirty="0"/>
          </a:p>
        </p:txBody>
      </p:sp>
      <p:sp>
        <p:nvSpPr>
          <p:cNvPr id="5" name="message 1"/>
          <p:cNvSpPr/>
          <p:nvPr/>
        </p:nvSpPr>
        <p:spPr>
          <a:xfrm>
            <a:off x="822960" y="2057400"/>
            <a:ext cx="4480560" cy="530352"/>
          </a:xfrm>
          <a:prstGeom prst="roundRect">
            <a:avLst>
              <a:gd name="adj" fmla="val 17241"/>
            </a:avLst>
          </a:prstGeom>
          <a:solidFill>
            <a:srgbClr val="FFFFFF"/>
          </a:solidFill>
          <a:ln w="12700">
            <a:solidFill>
              <a:srgbClr val="D5DED9"/>
            </a:solidFill>
            <a:prstDash val="solid"/>
          </a:ln>
        </p:spPr>
      </p:sp>
      <p:sp>
        <p:nvSpPr>
          <p:cNvPr id="6" name="Text 4"/>
          <p:cNvSpPr txBox="1"/>
          <p:nvPr/>
        </p:nvSpPr>
        <p:spPr>
          <a:xfrm>
            <a:off x="1005840" y="2112264"/>
            <a:ext cx="3291840" cy="420624"/>
          </a:xfrm>
          <a:prstGeom prst="rect">
            <a:avLst/>
          </a:prstGeom>
          <a:noFill/>
          <a:ln/>
        </p:spPr>
        <p:txBody>
          <a:bodyPr wrap="square" lIns="0" tIns="0" rIns="0" bIns="0" rtlCol="0" anchor="ctr"/>
          <a:lstStyle/>
          <a:p>
            <a:pPr indent="0" marL="0">
              <a:buNone/>
            </a:pPr>
            <a:r>
              <a:rPr lang="en-US" sz="1400" dirty="0">
                <a:solidFill>
                  <a:schemeClr val="tx1"/>
                </a:solidFill>
              </a:rPr>
              <a:t>Hi po, avail pa?</a:t>
            </a:r>
            <a:endParaRPr lang="en-US" sz="1400" dirty="0"/>
          </a:p>
        </p:txBody>
      </p:sp>
      <p:sp>
        <p:nvSpPr>
          <p:cNvPr id="7" name="Text 5"/>
          <p:cNvSpPr txBox="1"/>
          <p:nvPr/>
        </p:nvSpPr>
        <p:spPr>
          <a:xfrm>
            <a:off x="4389120" y="2112264"/>
            <a:ext cx="777240" cy="420624"/>
          </a:xfrm>
          <a:prstGeom prst="rect">
            <a:avLst/>
          </a:prstGeom>
          <a:noFill/>
          <a:ln/>
        </p:spPr>
        <p:txBody>
          <a:bodyPr wrap="square" lIns="0" tIns="0" rIns="0" bIns="0" rtlCol="0" anchor="ctr"/>
          <a:lstStyle/>
          <a:p>
            <a:pPr algn="r" indent="0" marL="0">
              <a:buNone/>
            </a:pPr>
            <a:r>
              <a:rPr lang="en-US" sz="1000" b="1" dirty="0">
                <a:solidFill>
                  <a:schemeClr val="accent2"/>
                </a:solidFill>
              </a:rPr>
              <a:t>unread</a:t>
            </a:r>
            <a:endParaRPr lang="en-US" sz="1000" dirty="0"/>
          </a:p>
        </p:txBody>
      </p:sp>
      <p:sp>
        <p:nvSpPr>
          <p:cNvPr id="8" name="message 2"/>
          <p:cNvSpPr/>
          <p:nvPr/>
        </p:nvSpPr>
        <p:spPr>
          <a:xfrm>
            <a:off x="822960" y="2715768"/>
            <a:ext cx="4480560" cy="530352"/>
          </a:xfrm>
          <a:prstGeom prst="roundRect">
            <a:avLst>
              <a:gd name="adj" fmla="val 17241"/>
            </a:avLst>
          </a:prstGeom>
          <a:solidFill>
            <a:srgbClr val="FFFFFF"/>
          </a:solidFill>
          <a:ln w="12700">
            <a:solidFill>
              <a:srgbClr val="D5DED9"/>
            </a:solidFill>
            <a:prstDash val="solid"/>
          </a:ln>
        </p:spPr>
      </p:sp>
      <p:sp>
        <p:nvSpPr>
          <p:cNvPr id="9" name="Text 7"/>
          <p:cNvSpPr txBox="1"/>
          <p:nvPr/>
        </p:nvSpPr>
        <p:spPr>
          <a:xfrm>
            <a:off x="1005840" y="2770632"/>
            <a:ext cx="3291840" cy="420624"/>
          </a:xfrm>
          <a:prstGeom prst="rect">
            <a:avLst/>
          </a:prstGeom>
          <a:noFill/>
          <a:ln/>
        </p:spPr>
        <p:txBody>
          <a:bodyPr wrap="square" lIns="0" tIns="0" rIns="0" bIns="0" rtlCol="0" anchor="ctr"/>
          <a:lstStyle/>
          <a:p>
            <a:pPr indent="0" marL="0">
              <a:buNone/>
            </a:pPr>
            <a:r>
              <a:rPr lang="en-US" sz="1400" dirty="0">
                <a:solidFill>
                  <a:schemeClr val="tx1"/>
                </a:solidFill>
              </a:rPr>
              <a:t>hm po?</a:t>
            </a:r>
            <a:endParaRPr lang="en-US" sz="1400" dirty="0"/>
          </a:p>
        </p:txBody>
      </p:sp>
      <p:sp>
        <p:nvSpPr>
          <p:cNvPr id="10" name="Text 8"/>
          <p:cNvSpPr txBox="1"/>
          <p:nvPr/>
        </p:nvSpPr>
        <p:spPr>
          <a:xfrm>
            <a:off x="4389120" y="2770632"/>
            <a:ext cx="777240" cy="420624"/>
          </a:xfrm>
          <a:prstGeom prst="rect">
            <a:avLst/>
          </a:prstGeom>
          <a:noFill/>
          <a:ln/>
        </p:spPr>
        <p:txBody>
          <a:bodyPr wrap="square" lIns="0" tIns="0" rIns="0" bIns="0" rtlCol="0" anchor="ctr"/>
          <a:lstStyle/>
          <a:p>
            <a:pPr algn="r" indent="0" marL="0">
              <a:buNone/>
            </a:pPr>
            <a:r>
              <a:rPr lang="en-US" sz="1000" b="1" dirty="0">
                <a:solidFill>
                  <a:schemeClr val="accent2"/>
                </a:solidFill>
              </a:rPr>
              <a:t>unread</a:t>
            </a:r>
            <a:endParaRPr lang="en-US" sz="1000" dirty="0"/>
          </a:p>
        </p:txBody>
      </p:sp>
      <p:sp>
        <p:nvSpPr>
          <p:cNvPr id="11" name="message 3"/>
          <p:cNvSpPr/>
          <p:nvPr/>
        </p:nvSpPr>
        <p:spPr>
          <a:xfrm>
            <a:off x="822960" y="3374136"/>
            <a:ext cx="4480560" cy="530352"/>
          </a:xfrm>
          <a:prstGeom prst="roundRect">
            <a:avLst>
              <a:gd name="adj" fmla="val 17241"/>
            </a:avLst>
          </a:prstGeom>
          <a:solidFill>
            <a:srgbClr val="FFFFFF"/>
          </a:solidFill>
          <a:ln w="12700">
            <a:solidFill>
              <a:srgbClr val="D5DED9"/>
            </a:solidFill>
            <a:prstDash val="solid"/>
          </a:ln>
        </p:spPr>
      </p:sp>
      <p:sp>
        <p:nvSpPr>
          <p:cNvPr id="12" name="Text 10"/>
          <p:cNvSpPr txBox="1"/>
          <p:nvPr/>
        </p:nvSpPr>
        <p:spPr>
          <a:xfrm>
            <a:off x="1005840" y="3429000"/>
            <a:ext cx="3291840" cy="420624"/>
          </a:xfrm>
          <a:prstGeom prst="rect">
            <a:avLst/>
          </a:prstGeom>
          <a:noFill/>
          <a:ln/>
        </p:spPr>
        <p:txBody>
          <a:bodyPr wrap="square" lIns="0" tIns="0" rIns="0" bIns="0" rtlCol="0" anchor="ctr"/>
          <a:lstStyle/>
          <a:p>
            <a:pPr indent="0" marL="0">
              <a:buNone/>
            </a:pPr>
            <a:r>
              <a:rPr lang="en-US" sz="1400" dirty="0">
                <a:solidFill>
                  <a:schemeClr val="tx1"/>
                </a:solidFill>
              </a:rPr>
              <a:t>COD po ba?</a:t>
            </a:r>
            <a:endParaRPr lang="en-US" sz="1400" dirty="0"/>
          </a:p>
        </p:txBody>
      </p:sp>
      <p:sp>
        <p:nvSpPr>
          <p:cNvPr id="13" name="Text 11"/>
          <p:cNvSpPr txBox="1"/>
          <p:nvPr/>
        </p:nvSpPr>
        <p:spPr>
          <a:xfrm>
            <a:off x="4389120" y="3429000"/>
            <a:ext cx="777240" cy="420624"/>
          </a:xfrm>
          <a:prstGeom prst="rect">
            <a:avLst/>
          </a:prstGeom>
          <a:noFill/>
          <a:ln/>
        </p:spPr>
        <p:txBody>
          <a:bodyPr wrap="square" lIns="0" tIns="0" rIns="0" bIns="0" rtlCol="0" anchor="ctr"/>
          <a:lstStyle/>
          <a:p>
            <a:pPr algn="r" indent="0" marL="0">
              <a:buNone/>
            </a:pPr>
            <a:r>
              <a:rPr lang="en-US" sz="1000" b="1" dirty="0">
                <a:solidFill>
                  <a:schemeClr val="accent2"/>
                </a:solidFill>
              </a:rPr>
              <a:t>unread</a:t>
            </a:r>
            <a:endParaRPr lang="en-US" sz="1000" dirty="0"/>
          </a:p>
        </p:txBody>
      </p:sp>
      <p:sp>
        <p:nvSpPr>
          <p:cNvPr id="14" name="message 4"/>
          <p:cNvSpPr/>
          <p:nvPr/>
        </p:nvSpPr>
        <p:spPr>
          <a:xfrm>
            <a:off x="822960" y="4032504"/>
            <a:ext cx="4480560" cy="530352"/>
          </a:xfrm>
          <a:prstGeom prst="roundRect">
            <a:avLst>
              <a:gd name="adj" fmla="val 17241"/>
            </a:avLst>
          </a:prstGeom>
          <a:solidFill>
            <a:srgbClr val="FFFFFF"/>
          </a:solidFill>
          <a:ln w="12700">
            <a:solidFill>
              <a:srgbClr val="D5DED9"/>
            </a:solidFill>
            <a:prstDash val="solid"/>
          </a:ln>
        </p:spPr>
      </p:sp>
      <p:sp>
        <p:nvSpPr>
          <p:cNvPr id="15" name="Text 13"/>
          <p:cNvSpPr txBox="1"/>
          <p:nvPr/>
        </p:nvSpPr>
        <p:spPr>
          <a:xfrm>
            <a:off x="1005840" y="4087368"/>
            <a:ext cx="3291840" cy="420624"/>
          </a:xfrm>
          <a:prstGeom prst="rect">
            <a:avLst/>
          </a:prstGeom>
          <a:noFill/>
          <a:ln/>
        </p:spPr>
        <p:txBody>
          <a:bodyPr wrap="square" lIns="0" tIns="0" rIns="0" bIns="0" rtlCol="0" anchor="ctr"/>
          <a:lstStyle/>
          <a:p>
            <a:pPr indent="0" marL="0">
              <a:buNone/>
            </a:pPr>
            <a:r>
              <a:rPr lang="en-US" sz="1400" dirty="0">
                <a:solidFill>
                  <a:schemeClr val="tx1"/>
                </a:solidFill>
              </a:rPr>
              <a:t>Ilang days delivery sa La Trinidad?</a:t>
            </a:r>
            <a:endParaRPr lang="en-US" sz="1400" dirty="0"/>
          </a:p>
        </p:txBody>
      </p:sp>
      <p:sp>
        <p:nvSpPr>
          <p:cNvPr id="16" name="Text 14"/>
          <p:cNvSpPr txBox="1"/>
          <p:nvPr/>
        </p:nvSpPr>
        <p:spPr>
          <a:xfrm>
            <a:off x="4389120" y="4087368"/>
            <a:ext cx="777240" cy="420624"/>
          </a:xfrm>
          <a:prstGeom prst="rect">
            <a:avLst/>
          </a:prstGeom>
          <a:noFill/>
          <a:ln/>
        </p:spPr>
        <p:txBody>
          <a:bodyPr wrap="square" lIns="0" tIns="0" rIns="0" bIns="0" rtlCol="0" anchor="ctr"/>
          <a:lstStyle/>
          <a:p>
            <a:pPr algn="r" indent="0" marL="0">
              <a:buNone/>
            </a:pPr>
            <a:r>
              <a:rPr lang="en-US" sz="1000" b="1" dirty="0">
                <a:solidFill>
                  <a:schemeClr val="accent2"/>
                </a:solidFill>
              </a:rPr>
              <a:t>unread</a:t>
            </a:r>
            <a:endParaRPr lang="en-US" sz="1000" dirty="0"/>
          </a:p>
        </p:txBody>
      </p:sp>
      <p:sp>
        <p:nvSpPr>
          <p:cNvPr id="17" name="message 5"/>
          <p:cNvSpPr/>
          <p:nvPr/>
        </p:nvSpPr>
        <p:spPr>
          <a:xfrm>
            <a:off x="822960" y="4690872"/>
            <a:ext cx="4480560" cy="530352"/>
          </a:xfrm>
          <a:prstGeom prst="roundRect">
            <a:avLst>
              <a:gd name="adj" fmla="val 17241"/>
            </a:avLst>
          </a:prstGeom>
          <a:solidFill>
            <a:srgbClr val="FFFFFF"/>
          </a:solidFill>
          <a:ln w="12700">
            <a:solidFill>
              <a:srgbClr val="D5DED9"/>
            </a:solidFill>
            <a:prstDash val="solid"/>
          </a:ln>
        </p:spPr>
      </p:sp>
      <p:sp>
        <p:nvSpPr>
          <p:cNvPr id="18" name="Text 16"/>
          <p:cNvSpPr txBox="1"/>
          <p:nvPr/>
        </p:nvSpPr>
        <p:spPr>
          <a:xfrm>
            <a:off x="1005840" y="4745736"/>
            <a:ext cx="3291840" cy="420624"/>
          </a:xfrm>
          <a:prstGeom prst="rect">
            <a:avLst/>
          </a:prstGeom>
          <a:noFill/>
          <a:ln/>
        </p:spPr>
        <p:txBody>
          <a:bodyPr wrap="square" lIns="0" tIns="0" rIns="0" bIns="0" rtlCol="0" anchor="ctr"/>
          <a:lstStyle/>
          <a:p>
            <a:pPr indent="0" marL="0">
              <a:buNone/>
            </a:pPr>
            <a:r>
              <a:rPr lang="en-US" sz="1400" dirty="0">
                <a:solidFill>
                  <a:schemeClr val="tx1"/>
                </a:solidFill>
              </a:rPr>
              <a:t>Pwede po ba i-return?</a:t>
            </a:r>
            <a:endParaRPr lang="en-US" sz="1400" dirty="0"/>
          </a:p>
        </p:txBody>
      </p:sp>
      <p:sp>
        <p:nvSpPr>
          <p:cNvPr id="19" name="Text 17"/>
          <p:cNvSpPr txBox="1"/>
          <p:nvPr/>
        </p:nvSpPr>
        <p:spPr>
          <a:xfrm>
            <a:off x="4389120" y="4745736"/>
            <a:ext cx="777240" cy="420624"/>
          </a:xfrm>
          <a:prstGeom prst="rect">
            <a:avLst/>
          </a:prstGeom>
          <a:noFill/>
          <a:ln/>
        </p:spPr>
        <p:txBody>
          <a:bodyPr wrap="square" lIns="0" tIns="0" rIns="0" bIns="0" rtlCol="0" anchor="ctr"/>
          <a:lstStyle/>
          <a:p>
            <a:pPr algn="r" indent="0" marL="0">
              <a:buNone/>
            </a:pPr>
            <a:r>
              <a:rPr lang="en-US" sz="1000" b="1" dirty="0">
                <a:solidFill>
                  <a:schemeClr val="accent2"/>
                </a:solidFill>
              </a:rPr>
              <a:t>unread</a:t>
            </a:r>
            <a:endParaRPr lang="en-US" sz="1000" dirty="0"/>
          </a:p>
        </p:txBody>
      </p:sp>
      <p:sp>
        <p:nvSpPr>
          <p:cNvPr id="20" name="message 6"/>
          <p:cNvSpPr/>
          <p:nvPr/>
        </p:nvSpPr>
        <p:spPr>
          <a:xfrm>
            <a:off x="822960" y="5349240"/>
            <a:ext cx="4480560" cy="530352"/>
          </a:xfrm>
          <a:prstGeom prst="roundRect">
            <a:avLst>
              <a:gd name="adj" fmla="val 17241"/>
            </a:avLst>
          </a:prstGeom>
          <a:solidFill>
            <a:srgbClr val="FFFFFF"/>
          </a:solidFill>
          <a:ln w="12700">
            <a:solidFill>
              <a:srgbClr val="D5DED9"/>
            </a:solidFill>
            <a:prstDash val="solid"/>
          </a:ln>
        </p:spPr>
      </p:sp>
      <p:sp>
        <p:nvSpPr>
          <p:cNvPr id="21" name="Text 19"/>
          <p:cNvSpPr txBox="1"/>
          <p:nvPr/>
        </p:nvSpPr>
        <p:spPr>
          <a:xfrm>
            <a:off x="1005840" y="5404104"/>
            <a:ext cx="3291840" cy="420624"/>
          </a:xfrm>
          <a:prstGeom prst="rect">
            <a:avLst/>
          </a:prstGeom>
          <a:noFill/>
          <a:ln/>
        </p:spPr>
        <p:txBody>
          <a:bodyPr wrap="square" lIns="0" tIns="0" rIns="0" bIns="0" rtlCol="0" anchor="ctr"/>
          <a:lstStyle/>
          <a:p>
            <a:pPr indent="0" marL="0">
              <a:buNone/>
            </a:pPr>
            <a:r>
              <a:rPr lang="en-US" sz="1400" dirty="0">
                <a:solidFill>
                  <a:schemeClr val="tx1"/>
                </a:solidFill>
              </a:rPr>
              <a:t>avail pa po medium?</a:t>
            </a:r>
            <a:endParaRPr lang="en-US" sz="1400" dirty="0"/>
          </a:p>
        </p:txBody>
      </p:sp>
      <p:sp>
        <p:nvSpPr>
          <p:cNvPr id="22" name="Text 20"/>
          <p:cNvSpPr txBox="1"/>
          <p:nvPr/>
        </p:nvSpPr>
        <p:spPr>
          <a:xfrm>
            <a:off x="4389120" y="5404104"/>
            <a:ext cx="777240" cy="420624"/>
          </a:xfrm>
          <a:prstGeom prst="rect">
            <a:avLst/>
          </a:prstGeom>
          <a:noFill/>
          <a:ln/>
        </p:spPr>
        <p:txBody>
          <a:bodyPr wrap="square" lIns="0" tIns="0" rIns="0" bIns="0" rtlCol="0" anchor="ctr"/>
          <a:lstStyle/>
          <a:p>
            <a:pPr algn="r" indent="0" marL="0">
              <a:buNone/>
            </a:pPr>
            <a:r>
              <a:rPr lang="en-US" sz="1000" b="1" dirty="0">
                <a:solidFill>
                  <a:schemeClr val="accent2"/>
                </a:solidFill>
              </a:rPr>
              <a:t>unread</a:t>
            </a:r>
            <a:endParaRPr lang="en-US" sz="1000" dirty="0"/>
          </a:p>
        </p:txBody>
      </p:sp>
      <p:sp>
        <p:nvSpPr>
          <p:cNvPr id="23" name="Time icon circle"/>
          <p:cNvSpPr/>
          <p:nvPr/>
        </p:nvSpPr>
        <p:spPr>
          <a:xfrm>
            <a:off x="6217920" y="1463040"/>
            <a:ext cx="685800" cy="685800"/>
          </a:xfrm>
          <a:prstGeom prst="ellipse">
            <a:avLst/>
          </a:prstGeom>
          <a:solidFill>
            <a:schemeClr val="accent2"/>
          </a:solidFill>
          <a:ln w="12700">
            <a:solidFill>
              <a:schemeClr val="accent2"/>
            </a:solidFill>
            <a:prstDash val="solid"/>
          </a:ln>
        </p:spPr>
      </p:sp>
      <p:pic>
        <p:nvPicPr>
          <p:cNvPr id="24" name="Time icon" descr="preencoded.png">    </p:cNvPr>
          <p:cNvPicPr>
            <a:picLocks noChangeAspect="1"/>
          </p:cNvPicPr>
          <p:nvPr/>
        </p:nvPicPr>
        <p:blipFill>
          <a:blip r:embed="rId1"/>
          <a:stretch>
            <a:fillRect/>
          </a:stretch>
        </p:blipFill>
        <p:spPr>
          <a:xfrm>
            <a:off x="6382512" y="1627632"/>
            <a:ext cx="356616" cy="356616"/>
          </a:xfrm>
          <a:prstGeom prst="rect">
            <a:avLst/>
          </a:prstGeom>
        </p:spPr>
      </p:pic>
      <p:sp>
        <p:nvSpPr>
          <p:cNvPr id="25" name="Text 22"/>
          <p:cNvSpPr txBox="1"/>
          <p:nvPr/>
        </p:nvSpPr>
        <p:spPr>
          <a:xfrm>
            <a:off x="7132320" y="1463040"/>
            <a:ext cx="4480560" cy="365760"/>
          </a:xfrm>
          <a:prstGeom prst="rect">
            <a:avLst/>
          </a:prstGeom>
          <a:noFill/>
          <a:ln/>
        </p:spPr>
        <p:txBody>
          <a:bodyPr wrap="square" lIns="0" tIns="0" rIns="0" bIns="0" rtlCol="0" anchor="t"/>
          <a:lstStyle/>
          <a:p>
            <a:pPr indent="0" marL="0">
              <a:buNone/>
            </a:pPr>
            <a:r>
              <a:rPr lang="en-US" sz="1800" b="1" dirty="0">
                <a:solidFill>
                  <a:schemeClr val="accent1"/>
                </a:solidFill>
              </a:rPr>
              <a:t>Time</a:t>
            </a:r>
            <a:endParaRPr lang="en-US" sz="1800" dirty="0"/>
          </a:p>
        </p:txBody>
      </p:sp>
      <p:sp>
        <p:nvSpPr>
          <p:cNvPr id="26" name="Text 23"/>
          <p:cNvSpPr txBox="1"/>
          <p:nvPr/>
        </p:nvSpPr>
        <p:spPr>
          <a:xfrm>
            <a:off x="7132320" y="1874520"/>
            <a:ext cx="4480560" cy="822960"/>
          </a:xfrm>
          <a:prstGeom prst="rect">
            <a:avLst/>
          </a:prstGeom>
          <a:noFill/>
          <a:ln/>
        </p:spPr>
        <p:txBody>
          <a:bodyPr wrap="square" lIns="0" tIns="0" rIns="0" bIns="0" rtlCol="0" anchor="t"/>
          <a:lstStyle/>
          <a:p>
            <a:pPr indent="0" marL="0">
              <a:buNone/>
            </a:pPr>
            <a:r>
              <a:rPr lang="en-US" sz="1500" dirty="0">
                <a:solidFill>
                  <a:schemeClr val="tx1"/>
                </a:solidFill>
              </a:rPr>
              <a:t>The owner who packs, restocks and books couriers also types the same answers all day.</a:t>
            </a:r>
            <a:endParaRPr lang="en-US" sz="1500" dirty="0"/>
          </a:p>
        </p:txBody>
      </p:sp>
      <p:sp>
        <p:nvSpPr>
          <p:cNvPr id="27" name="Consistency icon circle"/>
          <p:cNvSpPr/>
          <p:nvPr/>
        </p:nvSpPr>
        <p:spPr>
          <a:xfrm>
            <a:off x="6217920" y="2880360"/>
            <a:ext cx="685800" cy="685800"/>
          </a:xfrm>
          <a:prstGeom prst="ellipse">
            <a:avLst/>
          </a:prstGeom>
          <a:solidFill>
            <a:schemeClr val="accent2"/>
          </a:solidFill>
          <a:ln w="12700">
            <a:solidFill>
              <a:schemeClr val="accent2"/>
            </a:solidFill>
            <a:prstDash val="solid"/>
          </a:ln>
        </p:spPr>
      </p:sp>
      <p:pic>
        <p:nvPicPr>
          <p:cNvPr id="28" name="Consistency icon" descr="preencoded.png">    </p:cNvPr>
          <p:cNvPicPr>
            <a:picLocks noChangeAspect="1"/>
          </p:cNvPicPr>
          <p:nvPr/>
        </p:nvPicPr>
        <p:blipFill>
          <a:blip r:embed="rId2"/>
          <a:stretch>
            <a:fillRect/>
          </a:stretch>
        </p:blipFill>
        <p:spPr>
          <a:xfrm>
            <a:off x="6382512" y="3044952"/>
            <a:ext cx="356616" cy="356616"/>
          </a:xfrm>
          <a:prstGeom prst="rect">
            <a:avLst/>
          </a:prstGeom>
        </p:spPr>
      </p:pic>
      <p:sp>
        <p:nvSpPr>
          <p:cNvPr id="29" name="Text 25"/>
          <p:cNvSpPr txBox="1"/>
          <p:nvPr/>
        </p:nvSpPr>
        <p:spPr>
          <a:xfrm>
            <a:off x="7132320" y="2880360"/>
            <a:ext cx="4480560" cy="365760"/>
          </a:xfrm>
          <a:prstGeom prst="rect">
            <a:avLst/>
          </a:prstGeom>
          <a:noFill/>
          <a:ln/>
        </p:spPr>
        <p:txBody>
          <a:bodyPr wrap="square" lIns="0" tIns="0" rIns="0" bIns="0" rtlCol="0" anchor="t"/>
          <a:lstStyle/>
          <a:p>
            <a:pPr indent="0" marL="0">
              <a:buNone/>
            </a:pPr>
            <a:r>
              <a:rPr lang="en-US" sz="1800" b="1" dirty="0">
                <a:solidFill>
                  <a:schemeClr val="accent1"/>
                </a:solidFill>
              </a:rPr>
              <a:t>Consistency</a:t>
            </a:r>
            <a:endParaRPr lang="en-US" sz="1800" dirty="0"/>
          </a:p>
        </p:txBody>
      </p:sp>
      <p:sp>
        <p:nvSpPr>
          <p:cNvPr id="30" name="Text 26"/>
          <p:cNvSpPr txBox="1"/>
          <p:nvPr/>
        </p:nvSpPr>
        <p:spPr>
          <a:xfrm>
            <a:off x="7132320" y="3291840"/>
            <a:ext cx="4480560" cy="822960"/>
          </a:xfrm>
          <a:prstGeom prst="rect">
            <a:avLst/>
          </a:prstGeom>
          <a:noFill/>
          <a:ln/>
        </p:spPr>
        <p:txBody>
          <a:bodyPr wrap="square" lIns="0" tIns="0" rIns="0" bIns="0" rtlCol="0" anchor="t"/>
          <a:lstStyle/>
          <a:p>
            <a:pPr indent="0" marL="0">
              <a:buNone/>
            </a:pPr>
            <a:r>
              <a:rPr lang="en-US" sz="1500" dirty="0">
                <a:solidFill>
                  <a:schemeClr val="tx1"/>
                </a:solidFill>
              </a:rPr>
              <a:t>Prices, stock and rules change. Replies typed from memory go out of date.</a:t>
            </a:r>
            <a:endParaRPr lang="en-US" sz="1500" dirty="0"/>
          </a:p>
        </p:txBody>
      </p:sp>
      <p:sp>
        <p:nvSpPr>
          <p:cNvPr id="31" name="After hours icon circle"/>
          <p:cNvSpPr/>
          <p:nvPr/>
        </p:nvSpPr>
        <p:spPr>
          <a:xfrm>
            <a:off x="6217920" y="4297680"/>
            <a:ext cx="685800" cy="685800"/>
          </a:xfrm>
          <a:prstGeom prst="ellipse">
            <a:avLst/>
          </a:prstGeom>
          <a:solidFill>
            <a:schemeClr val="accent2"/>
          </a:solidFill>
          <a:ln w="12700">
            <a:solidFill>
              <a:schemeClr val="accent2"/>
            </a:solidFill>
            <a:prstDash val="solid"/>
          </a:ln>
        </p:spPr>
      </p:sp>
      <p:pic>
        <p:nvPicPr>
          <p:cNvPr id="32" name="After hours icon" descr="preencoded.png">    </p:cNvPr>
          <p:cNvPicPr>
            <a:picLocks noChangeAspect="1"/>
          </p:cNvPicPr>
          <p:nvPr/>
        </p:nvPicPr>
        <p:blipFill>
          <a:blip r:embed="rId3"/>
          <a:stretch>
            <a:fillRect/>
          </a:stretch>
        </p:blipFill>
        <p:spPr>
          <a:xfrm>
            <a:off x="6382512" y="4462272"/>
            <a:ext cx="356616" cy="356616"/>
          </a:xfrm>
          <a:prstGeom prst="rect">
            <a:avLst/>
          </a:prstGeom>
        </p:spPr>
      </p:pic>
      <p:sp>
        <p:nvSpPr>
          <p:cNvPr id="33" name="Text 28"/>
          <p:cNvSpPr txBox="1"/>
          <p:nvPr/>
        </p:nvSpPr>
        <p:spPr>
          <a:xfrm>
            <a:off x="7132320" y="4297680"/>
            <a:ext cx="4480560" cy="365760"/>
          </a:xfrm>
          <a:prstGeom prst="rect">
            <a:avLst/>
          </a:prstGeom>
          <a:noFill/>
          <a:ln/>
        </p:spPr>
        <p:txBody>
          <a:bodyPr wrap="square" lIns="0" tIns="0" rIns="0" bIns="0" rtlCol="0" anchor="t"/>
          <a:lstStyle/>
          <a:p>
            <a:pPr indent="0" marL="0">
              <a:buNone/>
            </a:pPr>
            <a:r>
              <a:rPr lang="en-US" sz="1800" b="1" dirty="0">
                <a:solidFill>
                  <a:schemeClr val="accent1"/>
                </a:solidFill>
              </a:rPr>
              <a:t>After hours</a:t>
            </a:r>
            <a:endParaRPr lang="en-US" sz="1800" dirty="0"/>
          </a:p>
        </p:txBody>
      </p:sp>
      <p:sp>
        <p:nvSpPr>
          <p:cNvPr id="34" name="Text 29"/>
          <p:cNvSpPr txBox="1"/>
          <p:nvPr/>
        </p:nvSpPr>
        <p:spPr>
          <a:xfrm>
            <a:off x="7132320" y="4709160"/>
            <a:ext cx="4480560" cy="822960"/>
          </a:xfrm>
          <a:prstGeom prst="rect">
            <a:avLst/>
          </a:prstGeom>
          <a:noFill/>
          <a:ln/>
        </p:spPr>
        <p:txBody>
          <a:bodyPr wrap="square" lIns="0" tIns="0" rIns="0" bIns="0" rtlCol="0" anchor="t"/>
          <a:lstStyle/>
          <a:p>
            <a:pPr indent="0" marL="0">
              <a:buNone/>
            </a:pPr>
            <a:r>
              <a:rPr lang="en-US" sz="1500" dirty="0">
                <a:solidFill>
                  <a:schemeClr val="tx1"/>
                </a:solidFill>
              </a:rPr>
              <a:t>Customers message at night. Late replies can mean lost sales.</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A8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accent1"/>
                </a:solidFill>
                <a:latin typeface="Cambria" pitchFamily="34" charset="0"/>
                <a:ea typeface="Cambria" pitchFamily="34" charset="-122"/>
                <a:cs typeface="Cambria" pitchFamily="34" charset="-120"/>
              </a:rPr>
              <a:t>Online selling is now ordinary in the Philippines</a:t>
            </a:r>
            <a:endParaRPr lang="en-US" sz="3200" dirty="0"/>
          </a:p>
        </p:txBody>
      </p:sp>
      <p:sp>
        <p:nvSpPr>
          <p:cNvPr id="3" name="stat card 1"/>
          <p:cNvSpPr/>
          <p:nvPr/>
        </p:nvSpPr>
        <p:spPr>
          <a:xfrm>
            <a:off x="548640" y="1417320"/>
            <a:ext cx="5440680" cy="2194560"/>
          </a:xfrm>
          <a:prstGeom prst="roundRect">
            <a:avLst>
              <a:gd name="adj" fmla="val 5000"/>
            </a:avLst>
          </a:prstGeom>
          <a:solidFill>
            <a:schemeClr val="bg2"/>
          </a:solidFill>
          <a:ln w="12700">
            <a:solidFill>
              <a:schemeClr val="bg2"/>
            </a:solidFill>
            <a:prstDash val="solid"/>
          </a:ln>
        </p:spPr>
      </p:sp>
      <p:sp>
        <p:nvSpPr>
          <p:cNvPr id="4" name="Text 2"/>
          <p:cNvSpPr txBox="1"/>
          <p:nvPr/>
        </p:nvSpPr>
        <p:spPr>
          <a:xfrm>
            <a:off x="868680" y="1645920"/>
            <a:ext cx="4846320" cy="914400"/>
          </a:xfrm>
          <a:prstGeom prst="rect">
            <a:avLst/>
          </a:prstGeom>
          <a:noFill/>
          <a:ln/>
        </p:spPr>
        <p:txBody>
          <a:bodyPr wrap="square" lIns="0" tIns="0" rIns="0" bIns="0" rtlCol="0" anchor="t"/>
          <a:lstStyle/>
          <a:p>
            <a:pPr indent="0" marL="0">
              <a:buNone/>
            </a:pPr>
            <a:r>
              <a:rPr lang="en-US" sz="5400" b="1" dirty="0">
                <a:solidFill>
                  <a:schemeClr val="accent1"/>
                </a:solidFill>
                <a:latin typeface="Cambria" pitchFamily="34" charset="0"/>
                <a:ea typeface="Cambria" pitchFamily="34" charset="-122"/>
                <a:cs typeface="Cambria" pitchFamily="34" charset="-120"/>
              </a:rPr>
              <a:t>99.63%</a:t>
            </a:r>
            <a:endParaRPr lang="en-US" sz="5400" dirty="0"/>
          </a:p>
        </p:txBody>
      </p:sp>
      <p:sp>
        <p:nvSpPr>
          <p:cNvPr id="5" name="Text 3"/>
          <p:cNvSpPr txBox="1"/>
          <p:nvPr/>
        </p:nvSpPr>
        <p:spPr>
          <a:xfrm>
            <a:off x="868680" y="2560320"/>
            <a:ext cx="4846320" cy="640080"/>
          </a:xfrm>
          <a:prstGeom prst="rect">
            <a:avLst/>
          </a:prstGeom>
          <a:noFill/>
          <a:ln/>
        </p:spPr>
        <p:txBody>
          <a:bodyPr wrap="square" lIns="0" tIns="0" rIns="0" bIns="0" rtlCol="0" anchor="t"/>
          <a:lstStyle/>
          <a:p>
            <a:pPr indent="0" marL="0">
              <a:buNone/>
            </a:pPr>
            <a:r>
              <a:rPr lang="en-US" sz="1600" dirty="0">
                <a:solidFill>
                  <a:schemeClr val="tx1"/>
                </a:solidFill>
              </a:rPr>
              <a:t>of business establishments are MSMEs</a:t>
            </a:r>
            <a:endParaRPr lang="en-US" sz="1600" dirty="0"/>
          </a:p>
        </p:txBody>
      </p:sp>
      <p:sp>
        <p:nvSpPr>
          <p:cNvPr id="6" name="Text 4"/>
          <p:cNvSpPr txBox="1"/>
          <p:nvPr/>
        </p:nvSpPr>
        <p:spPr>
          <a:xfrm>
            <a:off x="868680" y="3200400"/>
            <a:ext cx="4846320" cy="274320"/>
          </a:xfrm>
          <a:prstGeom prst="rect">
            <a:avLst/>
          </a:prstGeom>
          <a:noFill/>
          <a:ln/>
        </p:spPr>
        <p:txBody>
          <a:bodyPr wrap="square" lIns="0" tIns="0" rIns="0" bIns="0" rtlCol="0" anchor="t"/>
          <a:lstStyle/>
          <a:p>
            <a:pPr indent="0" marL="0">
              <a:buNone/>
            </a:pPr>
            <a:r>
              <a:rPr lang="en-US" sz="1100" i="1" dirty="0">
                <a:solidFill>
                  <a:srgbClr val="5E6E66"/>
                </a:solidFill>
              </a:rPr>
              <a:t>DTI, 2023 MSME Statistics</a:t>
            </a:r>
            <a:endParaRPr lang="en-US" sz="1100" dirty="0"/>
          </a:p>
        </p:txBody>
      </p:sp>
      <p:sp>
        <p:nvSpPr>
          <p:cNvPr id="7" name="stat card 2"/>
          <p:cNvSpPr/>
          <p:nvPr/>
        </p:nvSpPr>
        <p:spPr>
          <a:xfrm>
            <a:off x="6172200" y="1417320"/>
            <a:ext cx="5440680" cy="2194560"/>
          </a:xfrm>
          <a:prstGeom prst="roundRect">
            <a:avLst>
              <a:gd name="adj" fmla="val 5000"/>
            </a:avLst>
          </a:prstGeom>
          <a:solidFill>
            <a:schemeClr val="bg2"/>
          </a:solidFill>
          <a:ln w="12700">
            <a:solidFill>
              <a:schemeClr val="bg2"/>
            </a:solidFill>
            <a:prstDash val="solid"/>
          </a:ln>
        </p:spPr>
      </p:sp>
      <p:sp>
        <p:nvSpPr>
          <p:cNvPr id="8" name="Text 6"/>
          <p:cNvSpPr txBox="1"/>
          <p:nvPr/>
        </p:nvSpPr>
        <p:spPr>
          <a:xfrm>
            <a:off x="6492240" y="1645920"/>
            <a:ext cx="4846320" cy="914400"/>
          </a:xfrm>
          <a:prstGeom prst="rect">
            <a:avLst/>
          </a:prstGeom>
          <a:noFill/>
          <a:ln/>
        </p:spPr>
        <p:txBody>
          <a:bodyPr wrap="square" lIns="0" tIns="0" rIns="0" bIns="0" rtlCol="0" anchor="t"/>
          <a:lstStyle/>
          <a:p>
            <a:pPr indent="0" marL="0">
              <a:buNone/>
            </a:pPr>
            <a:r>
              <a:rPr lang="en-US" sz="5400" b="1" dirty="0">
                <a:solidFill>
                  <a:schemeClr val="accent2"/>
                </a:solidFill>
                <a:latin typeface="Cambria" pitchFamily="34" charset="0"/>
                <a:ea typeface="Cambria" pitchFamily="34" charset="-122"/>
                <a:cs typeface="Cambria" pitchFamily="34" charset="-120"/>
              </a:rPr>
              <a:t>9.8%</a:t>
            </a:r>
            <a:endParaRPr lang="en-US" sz="5400" dirty="0"/>
          </a:p>
        </p:txBody>
      </p:sp>
      <p:sp>
        <p:nvSpPr>
          <p:cNvPr id="9" name="Text 7"/>
          <p:cNvSpPr txBox="1"/>
          <p:nvPr/>
        </p:nvSpPr>
        <p:spPr>
          <a:xfrm>
            <a:off x="6492240" y="2560320"/>
            <a:ext cx="4846320" cy="640080"/>
          </a:xfrm>
          <a:prstGeom prst="rect">
            <a:avLst/>
          </a:prstGeom>
          <a:noFill/>
          <a:ln/>
        </p:spPr>
        <p:txBody>
          <a:bodyPr wrap="square" lIns="0" tIns="0" rIns="0" bIns="0" rtlCol="0" anchor="t"/>
          <a:lstStyle/>
          <a:p>
            <a:pPr indent="0" marL="0">
              <a:buNone/>
            </a:pPr>
            <a:r>
              <a:rPr lang="en-US" sz="1600" dirty="0">
                <a:solidFill>
                  <a:schemeClr val="tx1"/>
                </a:solidFill>
              </a:rPr>
              <a:t>of GDP from the digital economy; 32.2% of it is e-commerce</a:t>
            </a:r>
            <a:endParaRPr lang="en-US" sz="1600" dirty="0"/>
          </a:p>
        </p:txBody>
      </p:sp>
      <p:sp>
        <p:nvSpPr>
          <p:cNvPr id="10" name="Text 8"/>
          <p:cNvSpPr txBox="1"/>
          <p:nvPr/>
        </p:nvSpPr>
        <p:spPr>
          <a:xfrm>
            <a:off x="6492240" y="3200400"/>
            <a:ext cx="4846320" cy="274320"/>
          </a:xfrm>
          <a:prstGeom prst="rect">
            <a:avLst/>
          </a:prstGeom>
          <a:noFill/>
          <a:ln/>
        </p:spPr>
        <p:txBody>
          <a:bodyPr wrap="square" lIns="0" tIns="0" rIns="0" bIns="0" rtlCol="0" anchor="t"/>
          <a:lstStyle/>
          <a:p>
            <a:pPr indent="0" marL="0">
              <a:buNone/>
            </a:pPr>
            <a:r>
              <a:rPr lang="en-US" sz="1100" i="1" dirty="0">
                <a:solidFill>
                  <a:srgbClr val="5E6E66"/>
                </a:solidFill>
              </a:rPr>
              <a:t>PSA, 2025 estimates</a:t>
            </a:r>
            <a:endParaRPr lang="en-US" sz="1100" dirty="0"/>
          </a:p>
        </p:txBody>
      </p:sp>
      <p:sp>
        <p:nvSpPr>
          <p:cNvPr id="11" name="stat card 3"/>
          <p:cNvSpPr/>
          <p:nvPr/>
        </p:nvSpPr>
        <p:spPr>
          <a:xfrm>
            <a:off x="548640" y="3840480"/>
            <a:ext cx="5440680" cy="2194560"/>
          </a:xfrm>
          <a:prstGeom prst="roundRect">
            <a:avLst>
              <a:gd name="adj" fmla="val 5000"/>
            </a:avLst>
          </a:prstGeom>
          <a:solidFill>
            <a:schemeClr val="bg2"/>
          </a:solidFill>
          <a:ln w="12700">
            <a:solidFill>
              <a:schemeClr val="bg2"/>
            </a:solidFill>
            <a:prstDash val="solid"/>
          </a:ln>
        </p:spPr>
      </p:sp>
      <p:sp>
        <p:nvSpPr>
          <p:cNvPr id="12" name="Text 10"/>
          <p:cNvSpPr txBox="1"/>
          <p:nvPr/>
        </p:nvSpPr>
        <p:spPr>
          <a:xfrm>
            <a:off x="868680" y="4069080"/>
            <a:ext cx="4846320" cy="914400"/>
          </a:xfrm>
          <a:prstGeom prst="rect">
            <a:avLst/>
          </a:prstGeom>
          <a:noFill/>
          <a:ln/>
        </p:spPr>
        <p:txBody>
          <a:bodyPr wrap="square" lIns="0" tIns="0" rIns="0" bIns="0" rtlCol="0" anchor="t"/>
          <a:lstStyle/>
          <a:p>
            <a:pPr indent="0" marL="0">
              <a:buNone/>
            </a:pPr>
            <a:r>
              <a:rPr lang="en-US" sz="5400" b="1" dirty="0">
                <a:solidFill>
                  <a:schemeClr val="accent1"/>
                </a:solidFill>
                <a:latin typeface="Cambria" pitchFamily="34" charset="0"/>
                <a:ea typeface="Cambria" pitchFamily="34" charset="-122"/>
                <a:cs typeface="Cambria" pitchFamily="34" charset="-120"/>
              </a:rPr>
              <a:t>94.4%</a:t>
            </a:r>
            <a:endParaRPr lang="en-US" sz="5400" dirty="0"/>
          </a:p>
        </p:txBody>
      </p:sp>
      <p:sp>
        <p:nvSpPr>
          <p:cNvPr id="13" name="Text 11"/>
          <p:cNvSpPr txBox="1"/>
          <p:nvPr/>
        </p:nvSpPr>
        <p:spPr>
          <a:xfrm>
            <a:off x="868680" y="4983480"/>
            <a:ext cx="4846320" cy="640080"/>
          </a:xfrm>
          <a:prstGeom prst="rect">
            <a:avLst/>
          </a:prstGeom>
          <a:noFill/>
          <a:ln/>
        </p:spPr>
        <p:txBody>
          <a:bodyPr wrap="square" lIns="0" tIns="0" rIns="0" bIns="0" rtlCol="0" anchor="t"/>
          <a:lstStyle/>
          <a:p>
            <a:pPr indent="0" marL="0">
              <a:buNone/>
            </a:pPr>
            <a:r>
              <a:rPr lang="en-US" sz="1600" dirty="0">
                <a:solidFill>
                  <a:schemeClr val="tx1"/>
                </a:solidFill>
              </a:rPr>
              <a:t>of online goods sellers sell through social media</a:t>
            </a:r>
            <a:endParaRPr lang="en-US" sz="1600" dirty="0"/>
          </a:p>
        </p:txBody>
      </p:sp>
      <p:sp>
        <p:nvSpPr>
          <p:cNvPr id="14" name="Text 12"/>
          <p:cNvSpPr txBox="1"/>
          <p:nvPr/>
        </p:nvSpPr>
        <p:spPr>
          <a:xfrm>
            <a:off x="868680" y="5623560"/>
            <a:ext cx="4846320" cy="274320"/>
          </a:xfrm>
          <a:prstGeom prst="rect">
            <a:avLst/>
          </a:prstGeom>
          <a:noFill/>
          <a:ln/>
        </p:spPr>
        <p:txBody>
          <a:bodyPr wrap="square" lIns="0" tIns="0" rIns="0" bIns="0" rtlCol="0" anchor="t"/>
          <a:lstStyle/>
          <a:p>
            <a:pPr indent="0" marL="0">
              <a:buNone/>
            </a:pPr>
            <a:r>
              <a:rPr lang="en-US" sz="1100" i="1" dirty="0">
                <a:solidFill>
                  <a:srgbClr val="5E6E66"/>
                </a:solidFill>
              </a:rPr>
              <a:t>PSA, 2024 NICTHS</a:t>
            </a:r>
            <a:endParaRPr lang="en-US" sz="1100" dirty="0"/>
          </a:p>
        </p:txBody>
      </p:sp>
      <p:sp>
        <p:nvSpPr>
          <p:cNvPr id="15" name="stat card 4"/>
          <p:cNvSpPr/>
          <p:nvPr/>
        </p:nvSpPr>
        <p:spPr>
          <a:xfrm>
            <a:off x="6172200" y="3840480"/>
            <a:ext cx="5440680" cy="2194560"/>
          </a:xfrm>
          <a:prstGeom prst="roundRect">
            <a:avLst>
              <a:gd name="adj" fmla="val 5000"/>
            </a:avLst>
          </a:prstGeom>
          <a:solidFill>
            <a:schemeClr val="bg2"/>
          </a:solidFill>
          <a:ln w="12700">
            <a:solidFill>
              <a:schemeClr val="bg2"/>
            </a:solidFill>
            <a:prstDash val="solid"/>
          </a:ln>
        </p:spPr>
      </p:sp>
      <p:sp>
        <p:nvSpPr>
          <p:cNvPr id="16" name="Text 14"/>
          <p:cNvSpPr txBox="1"/>
          <p:nvPr/>
        </p:nvSpPr>
        <p:spPr>
          <a:xfrm>
            <a:off x="6492240" y="4069080"/>
            <a:ext cx="4846320" cy="914400"/>
          </a:xfrm>
          <a:prstGeom prst="rect">
            <a:avLst/>
          </a:prstGeom>
          <a:noFill/>
          <a:ln/>
        </p:spPr>
        <p:txBody>
          <a:bodyPr wrap="square" lIns="0" tIns="0" rIns="0" bIns="0" rtlCol="0" anchor="t"/>
          <a:lstStyle/>
          <a:p>
            <a:pPr indent="0" marL="0">
              <a:buNone/>
            </a:pPr>
            <a:r>
              <a:rPr lang="en-US" sz="5400" b="1" dirty="0">
                <a:solidFill>
                  <a:schemeClr val="accent2"/>
                </a:solidFill>
                <a:latin typeface="Cambria" pitchFamily="34" charset="0"/>
                <a:ea typeface="Cambria" pitchFamily="34" charset="-122"/>
                <a:cs typeface="Cambria" pitchFamily="34" charset="-120"/>
              </a:rPr>
              <a:t>87.9%</a:t>
            </a:r>
            <a:endParaRPr lang="en-US" sz="5400" dirty="0"/>
          </a:p>
        </p:txBody>
      </p:sp>
      <p:sp>
        <p:nvSpPr>
          <p:cNvPr id="17" name="Text 15"/>
          <p:cNvSpPr txBox="1"/>
          <p:nvPr/>
        </p:nvSpPr>
        <p:spPr>
          <a:xfrm>
            <a:off x="6492240" y="4983480"/>
            <a:ext cx="4846320" cy="640080"/>
          </a:xfrm>
          <a:prstGeom prst="rect">
            <a:avLst/>
          </a:prstGeom>
          <a:noFill/>
          <a:ln/>
        </p:spPr>
        <p:txBody>
          <a:bodyPr wrap="square" lIns="0" tIns="0" rIns="0" bIns="0" rtlCol="0" anchor="t"/>
          <a:lstStyle/>
          <a:p>
            <a:pPr indent="0" marL="0">
              <a:buNone/>
            </a:pPr>
            <a:r>
              <a:rPr lang="en-US" sz="1600" dirty="0">
                <a:solidFill>
                  <a:schemeClr val="tx1"/>
                </a:solidFill>
              </a:rPr>
              <a:t>of online sellers accept cash on delivery</a:t>
            </a:r>
            <a:endParaRPr lang="en-US" sz="1600" dirty="0"/>
          </a:p>
        </p:txBody>
      </p:sp>
      <p:sp>
        <p:nvSpPr>
          <p:cNvPr id="18" name="Text 16"/>
          <p:cNvSpPr txBox="1"/>
          <p:nvPr/>
        </p:nvSpPr>
        <p:spPr>
          <a:xfrm>
            <a:off x="6492240" y="5623560"/>
            <a:ext cx="4846320" cy="274320"/>
          </a:xfrm>
          <a:prstGeom prst="rect">
            <a:avLst/>
          </a:prstGeom>
          <a:noFill/>
          <a:ln/>
        </p:spPr>
        <p:txBody>
          <a:bodyPr wrap="square" lIns="0" tIns="0" rIns="0" bIns="0" rtlCol="0" anchor="t"/>
          <a:lstStyle/>
          <a:p>
            <a:pPr indent="0" marL="0">
              <a:buNone/>
            </a:pPr>
            <a:r>
              <a:rPr lang="en-US" sz="1100" i="1" dirty="0">
                <a:solidFill>
                  <a:srgbClr val="5E6E66"/>
                </a:solidFill>
              </a:rPr>
              <a:t>PSA, 2024 NICTHS</a:t>
            </a:r>
            <a:endParaRPr lang="en-US" sz="11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A8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accent1"/>
                </a:solidFill>
                <a:latin typeface="Cambria" pitchFamily="34" charset="0"/>
                <a:ea typeface="Cambria" pitchFamily="34" charset="-122"/>
                <a:cs typeface="Cambria" pitchFamily="34" charset="-120"/>
              </a:rPr>
              <a:t>Local programs are pushing sellers online</a:t>
            </a:r>
            <a:endParaRPr lang="en-US" sz="3200" dirty="0"/>
          </a:p>
        </p:txBody>
      </p:sp>
      <p:sp>
        <p:nvSpPr>
          <p:cNvPr id="3" name="timeline line"/>
          <p:cNvSpPr/>
          <p:nvPr/>
        </p:nvSpPr>
        <p:spPr>
          <a:xfrm>
            <a:off x="1097280" y="2103120"/>
            <a:ext cx="9966960" cy="0"/>
          </a:xfrm>
          <a:prstGeom prst="line">
            <a:avLst/>
          </a:prstGeom>
          <a:noFill/>
          <a:ln w="25400">
            <a:solidFill>
              <a:schemeClr val="accent3"/>
            </a:solidFill>
            <a:prstDash val="solid"/>
          </a:ln>
        </p:spPr>
      </p:sp>
      <p:sp>
        <p:nvSpPr>
          <p:cNvPr id="4" name="timeline dot 1"/>
          <p:cNvSpPr/>
          <p:nvPr/>
        </p:nvSpPr>
        <p:spPr>
          <a:xfrm>
            <a:off x="960120" y="1920240"/>
            <a:ext cx="365760" cy="365760"/>
          </a:xfrm>
          <a:prstGeom prst="ellipse">
            <a:avLst/>
          </a:prstGeom>
          <a:solidFill>
            <a:schemeClr val="accent1"/>
          </a:solidFill>
          <a:ln w="12700">
            <a:solidFill>
              <a:schemeClr val="accent1"/>
            </a:solidFill>
            <a:prstDash val="solid"/>
          </a:ln>
        </p:spPr>
      </p:sp>
      <p:sp>
        <p:nvSpPr>
          <p:cNvPr id="5" name="Text 3"/>
          <p:cNvSpPr txBox="1"/>
          <p:nvPr/>
        </p:nvSpPr>
        <p:spPr>
          <a:xfrm>
            <a:off x="548640" y="1371600"/>
            <a:ext cx="2560320" cy="411480"/>
          </a:xfrm>
          <a:prstGeom prst="rect">
            <a:avLst/>
          </a:prstGeom>
          <a:noFill/>
          <a:ln/>
        </p:spPr>
        <p:txBody>
          <a:bodyPr wrap="square" lIns="0" tIns="0" rIns="0" bIns="0" rtlCol="0" anchor="t"/>
          <a:lstStyle/>
          <a:p>
            <a:pPr indent="0" marL="0">
              <a:buNone/>
            </a:pPr>
            <a:r>
              <a:rPr lang="en-US" sz="1800" b="1" dirty="0">
                <a:solidFill>
                  <a:schemeClr val="accent1"/>
                </a:solidFill>
              </a:rPr>
              <a:t>Feb 2026</a:t>
            </a:r>
            <a:endParaRPr lang="en-US" sz="1800" dirty="0"/>
          </a:p>
        </p:txBody>
      </p:sp>
      <p:sp>
        <p:nvSpPr>
          <p:cNvPr id="6" name="Text 4"/>
          <p:cNvSpPr txBox="1"/>
          <p:nvPr/>
        </p:nvSpPr>
        <p:spPr>
          <a:xfrm>
            <a:off x="548640" y="2514600"/>
            <a:ext cx="2560320" cy="1463040"/>
          </a:xfrm>
          <a:prstGeom prst="rect">
            <a:avLst/>
          </a:prstGeom>
          <a:noFill/>
          <a:ln/>
        </p:spPr>
        <p:txBody>
          <a:bodyPr wrap="square" lIns="0" tIns="0" rIns="0" bIns="0" rtlCol="0" anchor="t"/>
          <a:lstStyle/>
          <a:p>
            <a:pPr indent="0" marL="0">
              <a:buNone/>
            </a:pPr>
            <a:r>
              <a:rPr lang="en-US" sz="1400" dirty="0">
                <a:solidFill>
                  <a:schemeClr val="tx1"/>
                </a:solidFill>
              </a:rPr>
              <a:t>DICT-CAR and DTI-CAR align digital-skills and e-commerce programs for Cordillera MSMEs</a:t>
            </a:r>
            <a:endParaRPr lang="en-US" sz="1400" dirty="0"/>
          </a:p>
        </p:txBody>
      </p:sp>
      <p:sp>
        <p:nvSpPr>
          <p:cNvPr id="7" name="timeline dot 2"/>
          <p:cNvSpPr/>
          <p:nvPr/>
        </p:nvSpPr>
        <p:spPr>
          <a:xfrm>
            <a:off x="3794760" y="1920240"/>
            <a:ext cx="365760" cy="365760"/>
          </a:xfrm>
          <a:prstGeom prst="ellipse">
            <a:avLst/>
          </a:prstGeom>
          <a:solidFill>
            <a:schemeClr val="accent1"/>
          </a:solidFill>
          <a:ln w="12700">
            <a:solidFill>
              <a:schemeClr val="accent1"/>
            </a:solidFill>
            <a:prstDash val="solid"/>
          </a:ln>
        </p:spPr>
      </p:sp>
      <p:sp>
        <p:nvSpPr>
          <p:cNvPr id="8" name="Text 6"/>
          <p:cNvSpPr txBox="1"/>
          <p:nvPr/>
        </p:nvSpPr>
        <p:spPr>
          <a:xfrm>
            <a:off x="3383280" y="1371600"/>
            <a:ext cx="2560320" cy="411480"/>
          </a:xfrm>
          <a:prstGeom prst="rect">
            <a:avLst/>
          </a:prstGeom>
          <a:noFill/>
          <a:ln/>
        </p:spPr>
        <p:txBody>
          <a:bodyPr wrap="square" lIns="0" tIns="0" rIns="0" bIns="0" rtlCol="0" anchor="t"/>
          <a:lstStyle/>
          <a:p>
            <a:pPr indent="0" marL="0">
              <a:buNone/>
            </a:pPr>
            <a:r>
              <a:rPr lang="en-US" sz="1800" b="1" dirty="0">
                <a:solidFill>
                  <a:schemeClr val="accent1"/>
                </a:solidFill>
              </a:rPr>
              <a:t>Apr 2026</a:t>
            </a:r>
            <a:endParaRPr lang="en-US" sz="1800" dirty="0"/>
          </a:p>
        </p:txBody>
      </p:sp>
      <p:sp>
        <p:nvSpPr>
          <p:cNvPr id="9" name="Text 7"/>
          <p:cNvSpPr txBox="1"/>
          <p:nvPr/>
        </p:nvSpPr>
        <p:spPr>
          <a:xfrm>
            <a:off x="3383280" y="2514600"/>
            <a:ext cx="2560320" cy="1463040"/>
          </a:xfrm>
          <a:prstGeom prst="rect">
            <a:avLst/>
          </a:prstGeom>
          <a:noFill/>
          <a:ln/>
        </p:spPr>
        <p:txBody>
          <a:bodyPr wrap="square" lIns="0" tIns="0" rIns="0" bIns="0" rtlCol="0" anchor="t"/>
          <a:lstStyle/>
          <a:p>
            <a:pPr indent="0" marL="0">
              <a:buNone/>
            </a:pPr>
            <a:r>
              <a:rPr lang="en-US" sz="1400" dirty="0">
                <a:solidFill>
                  <a:schemeClr val="tx1"/>
                </a:solidFill>
              </a:rPr>
              <a:t>DTI-CAR sets a five-point agenda and development plan for regional MSMEs</a:t>
            </a:r>
            <a:endParaRPr lang="en-US" sz="1400" dirty="0"/>
          </a:p>
        </p:txBody>
      </p:sp>
      <p:sp>
        <p:nvSpPr>
          <p:cNvPr id="10" name="timeline dot 3"/>
          <p:cNvSpPr/>
          <p:nvPr/>
        </p:nvSpPr>
        <p:spPr>
          <a:xfrm>
            <a:off x="6629400" y="1920240"/>
            <a:ext cx="365760" cy="365760"/>
          </a:xfrm>
          <a:prstGeom prst="ellipse">
            <a:avLst/>
          </a:prstGeom>
          <a:solidFill>
            <a:schemeClr val="accent1"/>
          </a:solidFill>
          <a:ln w="12700">
            <a:solidFill>
              <a:schemeClr val="accent1"/>
            </a:solidFill>
            <a:prstDash val="solid"/>
          </a:ln>
        </p:spPr>
      </p:sp>
      <p:sp>
        <p:nvSpPr>
          <p:cNvPr id="11" name="Text 9"/>
          <p:cNvSpPr txBox="1"/>
          <p:nvPr/>
        </p:nvSpPr>
        <p:spPr>
          <a:xfrm>
            <a:off x="6217920" y="1371600"/>
            <a:ext cx="2560320" cy="411480"/>
          </a:xfrm>
          <a:prstGeom prst="rect">
            <a:avLst/>
          </a:prstGeom>
          <a:noFill/>
          <a:ln/>
        </p:spPr>
        <p:txBody>
          <a:bodyPr wrap="square" lIns="0" tIns="0" rIns="0" bIns="0" rtlCol="0" anchor="t"/>
          <a:lstStyle/>
          <a:p>
            <a:pPr indent="0" marL="0">
              <a:buNone/>
            </a:pPr>
            <a:r>
              <a:rPr lang="en-US" sz="1800" b="1" dirty="0">
                <a:solidFill>
                  <a:schemeClr val="accent1"/>
                </a:solidFill>
              </a:rPr>
              <a:t>Jul 2026</a:t>
            </a:r>
            <a:endParaRPr lang="en-US" sz="1800" dirty="0"/>
          </a:p>
        </p:txBody>
      </p:sp>
      <p:sp>
        <p:nvSpPr>
          <p:cNvPr id="12" name="Text 10"/>
          <p:cNvSpPr txBox="1"/>
          <p:nvPr/>
        </p:nvSpPr>
        <p:spPr>
          <a:xfrm>
            <a:off x="6217920" y="2514600"/>
            <a:ext cx="2560320" cy="1463040"/>
          </a:xfrm>
          <a:prstGeom prst="rect">
            <a:avLst/>
          </a:prstGeom>
          <a:noFill/>
          <a:ln/>
        </p:spPr>
        <p:txBody>
          <a:bodyPr wrap="square" lIns="0" tIns="0" rIns="0" bIns="0" rtlCol="0" anchor="t"/>
          <a:lstStyle/>
          <a:p>
            <a:pPr indent="0" marL="0">
              <a:buNone/>
            </a:pPr>
            <a:r>
              <a:rPr lang="en-US" sz="1400" dirty="0">
                <a:solidFill>
                  <a:schemeClr val="tx1"/>
                </a:solidFill>
              </a:rPr>
              <a:t>50 Baguio City MSMEs join the Tatak Pinoy workshop with Shopee Philippines</a:t>
            </a:r>
            <a:endParaRPr lang="en-US" sz="1400" dirty="0"/>
          </a:p>
        </p:txBody>
      </p:sp>
      <p:sp>
        <p:nvSpPr>
          <p:cNvPr id="13" name="timeline dot 4"/>
          <p:cNvSpPr/>
          <p:nvPr/>
        </p:nvSpPr>
        <p:spPr>
          <a:xfrm>
            <a:off x="9464040" y="1920240"/>
            <a:ext cx="365760" cy="365760"/>
          </a:xfrm>
          <a:prstGeom prst="ellipse">
            <a:avLst/>
          </a:prstGeom>
          <a:solidFill>
            <a:schemeClr val="accent1"/>
          </a:solidFill>
          <a:ln w="12700">
            <a:solidFill>
              <a:schemeClr val="accent1"/>
            </a:solidFill>
            <a:prstDash val="solid"/>
          </a:ln>
        </p:spPr>
      </p:sp>
      <p:sp>
        <p:nvSpPr>
          <p:cNvPr id="14" name="Text 12"/>
          <p:cNvSpPr txBox="1"/>
          <p:nvPr/>
        </p:nvSpPr>
        <p:spPr>
          <a:xfrm>
            <a:off x="9052560" y="1371600"/>
            <a:ext cx="2560320" cy="411480"/>
          </a:xfrm>
          <a:prstGeom prst="rect">
            <a:avLst/>
          </a:prstGeom>
          <a:noFill/>
          <a:ln/>
        </p:spPr>
        <p:txBody>
          <a:bodyPr wrap="square" lIns="0" tIns="0" rIns="0" bIns="0" rtlCol="0" anchor="t"/>
          <a:lstStyle/>
          <a:p>
            <a:pPr indent="0" marL="0">
              <a:buNone/>
            </a:pPr>
            <a:r>
              <a:rPr lang="en-US" sz="1800" b="1" dirty="0">
                <a:solidFill>
                  <a:schemeClr val="accent1"/>
                </a:solidFill>
              </a:rPr>
              <a:t>Sep 2026</a:t>
            </a:r>
            <a:endParaRPr lang="en-US" sz="1800" dirty="0"/>
          </a:p>
        </p:txBody>
      </p:sp>
      <p:sp>
        <p:nvSpPr>
          <p:cNvPr id="15" name="Text 13"/>
          <p:cNvSpPr txBox="1"/>
          <p:nvPr/>
        </p:nvSpPr>
        <p:spPr>
          <a:xfrm>
            <a:off x="9052560" y="2514600"/>
            <a:ext cx="2560320" cy="1463040"/>
          </a:xfrm>
          <a:prstGeom prst="rect">
            <a:avLst/>
          </a:prstGeom>
          <a:noFill/>
          <a:ln/>
        </p:spPr>
        <p:txBody>
          <a:bodyPr wrap="square" lIns="0" tIns="0" rIns="0" bIns="0" rtlCol="0" anchor="t"/>
          <a:lstStyle/>
          <a:p>
            <a:pPr indent="0" marL="0">
              <a:buNone/>
            </a:pPr>
            <a:r>
              <a:rPr lang="en-US" sz="1400" dirty="0">
                <a:solidFill>
                  <a:schemeClr val="tx1"/>
                </a:solidFill>
              </a:rPr>
              <a:t>25 Baguio-Benguet MSMEs finish DICT SPARK social media marketing training, including AI use</a:t>
            </a:r>
            <a:endParaRPr lang="en-US" sz="1400" dirty="0"/>
          </a:p>
        </p:txBody>
      </p:sp>
      <p:sp>
        <p:nvSpPr>
          <p:cNvPr id="16" name="gap callout"/>
          <p:cNvSpPr/>
          <p:nvPr/>
        </p:nvSpPr>
        <p:spPr>
          <a:xfrm>
            <a:off x="548640" y="4343400"/>
            <a:ext cx="11064240" cy="1600200"/>
          </a:xfrm>
          <a:prstGeom prst="roundRect">
            <a:avLst>
              <a:gd name="adj" fmla="val 6857"/>
            </a:avLst>
          </a:prstGeom>
          <a:solidFill>
            <a:schemeClr val="accent1"/>
          </a:solidFill>
          <a:ln w="12700">
            <a:solidFill>
              <a:schemeClr val="accent1"/>
            </a:solidFill>
            <a:prstDash val="solid"/>
          </a:ln>
        </p:spPr>
      </p:sp>
      <p:sp>
        <p:nvSpPr>
          <p:cNvPr id="17" name="gap icon circle"/>
          <p:cNvSpPr/>
          <p:nvPr/>
        </p:nvSpPr>
        <p:spPr>
          <a:xfrm>
            <a:off x="868680" y="4681728"/>
            <a:ext cx="914400" cy="914400"/>
          </a:xfrm>
          <a:prstGeom prst="ellipse">
            <a:avLst/>
          </a:prstGeom>
          <a:solidFill>
            <a:schemeClr val="accent2"/>
          </a:solidFill>
          <a:ln w="12700">
            <a:solidFill>
              <a:schemeClr val="accent2"/>
            </a:solidFill>
            <a:prstDash val="solid"/>
          </a:ln>
        </p:spPr>
      </p:sp>
      <p:pic>
        <p:nvPicPr>
          <p:cNvPr id="18" name="gap icon" descr="preencoded.png">    </p:cNvPr>
          <p:cNvPicPr>
            <a:picLocks noChangeAspect="1"/>
          </p:cNvPicPr>
          <p:nvPr/>
        </p:nvPicPr>
        <p:blipFill>
          <a:blip r:embed="rId1"/>
          <a:stretch>
            <a:fillRect/>
          </a:stretch>
        </p:blipFill>
        <p:spPr>
          <a:xfrm>
            <a:off x="1088136" y="4901184"/>
            <a:ext cx="475488" cy="475488"/>
          </a:xfrm>
          <a:prstGeom prst="rect">
            <a:avLst/>
          </a:prstGeom>
        </p:spPr>
      </p:pic>
      <p:sp>
        <p:nvSpPr>
          <p:cNvPr id="19" name="Text 16"/>
          <p:cNvSpPr txBox="1"/>
          <p:nvPr/>
        </p:nvSpPr>
        <p:spPr>
          <a:xfrm>
            <a:off x="2057400" y="4572000"/>
            <a:ext cx="9144000" cy="411480"/>
          </a:xfrm>
          <a:prstGeom prst="rect">
            <a:avLst/>
          </a:prstGeom>
          <a:noFill/>
          <a:ln/>
        </p:spPr>
        <p:txBody>
          <a:bodyPr wrap="square" lIns="0" tIns="0" rIns="0" bIns="0" rtlCol="0" anchor="t"/>
          <a:lstStyle/>
          <a:p>
            <a:pPr indent="0" marL="0">
              <a:buNone/>
            </a:pPr>
            <a:r>
              <a:rPr lang="en-US" sz="2000" b="1" dirty="0">
                <a:solidFill>
                  <a:schemeClr val="bg1"/>
                </a:solidFill>
              </a:rPr>
              <a:t>The gap</a:t>
            </a:r>
            <a:endParaRPr lang="en-US" sz="2000" dirty="0"/>
          </a:p>
        </p:txBody>
      </p:sp>
      <p:sp>
        <p:nvSpPr>
          <p:cNvPr id="20" name="Text 17"/>
          <p:cNvSpPr txBox="1"/>
          <p:nvPr/>
        </p:nvSpPr>
        <p:spPr>
          <a:xfrm>
            <a:off x="2057400" y="4983480"/>
            <a:ext cx="9235440" cy="822960"/>
          </a:xfrm>
          <a:prstGeom prst="rect">
            <a:avLst/>
          </a:prstGeom>
          <a:noFill/>
          <a:ln/>
        </p:spPr>
        <p:txBody>
          <a:bodyPr wrap="square" lIns="0" tIns="0" rIns="0" bIns="0" rtlCol="0" anchor="t"/>
          <a:lstStyle/>
          <a:p>
            <a:pPr indent="0" marL="0">
              <a:buNone/>
            </a:pPr>
            <a:r>
              <a:rPr lang="en-US" sz="1600" dirty="0">
                <a:solidFill>
                  <a:schemeClr val="bg1"/>
                </a:solidFill>
              </a:rPr>
              <a:t>These programs teach sellers to open and promote online stores. Little attention goes to what happens next, when the messages start coming in.</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A8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accent1"/>
                </a:solidFill>
                <a:latin typeface="Cambria" pitchFamily="34" charset="0"/>
                <a:ea typeface="Cambria" pitchFamily="34" charset="-122"/>
                <a:cs typeface="Cambria" pitchFamily="34" charset="-120"/>
              </a:rPr>
              <a:t>Problem statement and objective</a:t>
            </a:r>
            <a:endParaRPr lang="en-US" sz="3200" dirty="0"/>
          </a:p>
        </p:txBody>
      </p:sp>
      <p:sp>
        <p:nvSpPr>
          <p:cNvPr id="3" name="Text 1"/>
          <p:cNvSpPr txBox="1"/>
          <p:nvPr/>
        </p:nvSpPr>
        <p:spPr>
          <a:xfrm>
            <a:off x="548640" y="1371600"/>
            <a:ext cx="5852160" cy="411480"/>
          </a:xfrm>
          <a:prstGeom prst="rect">
            <a:avLst/>
          </a:prstGeom>
          <a:noFill/>
          <a:ln/>
        </p:spPr>
        <p:txBody>
          <a:bodyPr wrap="square" lIns="0" tIns="0" rIns="0" bIns="0" rtlCol="0" anchor="t"/>
          <a:lstStyle/>
          <a:p>
            <a:pPr indent="0" marL="0">
              <a:buNone/>
            </a:pPr>
            <a:r>
              <a:rPr lang="en-US" sz="1800" b="1" dirty="0">
                <a:solidFill>
                  <a:schemeClr val="accent1"/>
                </a:solidFill>
              </a:rPr>
              <a:t>The problem has five parts</a:t>
            </a:r>
            <a:endParaRPr lang="en-US" sz="1800" dirty="0"/>
          </a:p>
        </p:txBody>
      </p:sp>
      <p:sp>
        <p:nvSpPr>
          <p:cNvPr id="4" name="problem number 1"/>
          <p:cNvSpPr/>
          <p:nvPr/>
        </p:nvSpPr>
        <p:spPr>
          <a:xfrm>
            <a:off x="548640" y="1920240"/>
            <a:ext cx="548640" cy="548640"/>
          </a:xfrm>
          <a:prstGeom prst="ellipse">
            <a:avLst/>
          </a:prstGeom>
          <a:solidFill>
            <a:schemeClr val="accent2"/>
          </a:solidFill>
          <a:ln w="12700">
            <a:solidFill>
              <a:schemeClr val="accent2"/>
            </a:solidFill>
            <a:prstDash val="solid"/>
          </a:ln>
        </p:spPr>
      </p:sp>
      <p:sp>
        <p:nvSpPr>
          <p:cNvPr id="5" name="Text 3"/>
          <p:cNvSpPr txBox="1"/>
          <p:nvPr/>
        </p:nvSpPr>
        <p:spPr>
          <a:xfrm>
            <a:off x="548640" y="19202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325880" y="1938528"/>
            <a:ext cx="5120640" cy="548640"/>
          </a:xfrm>
          <a:prstGeom prst="rect">
            <a:avLst/>
          </a:prstGeom>
          <a:noFill/>
          <a:ln/>
        </p:spPr>
        <p:txBody>
          <a:bodyPr wrap="square" lIns="0" tIns="0" rIns="0" bIns="0" rtlCol="0" anchor="ctr"/>
          <a:lstStyle/>
          <a:p>
            <a:pPr indent="0" marL="0">
              <a:buNone/>
            </a:pPr>
            <a:r>
              <a:rPr lang="en-US" sz="1500" dirty="0">
                <a:solidFill>
                  <a:schemeClr val="tx1"/>
                </a:solidFill>
              </a:rPr>
              <a:t>Repeated questions take up the owner's time</a:t>
            </a:r>
            <a:endParaRPr lang="en-US" sz="1500" dirty="0"/>
          </a:p>
        </p:txBody>
      </p:sp>
      <p:sp>
        <p:nvSpPr>
          <p:cNvPr id="7" name="problem number 2"/>
          <p:cNvSpPr/>
          <p:nvPr/>
        </p:nvSpPr>
        <p:spPr>
          <a:xfrm>
            <a:off x="548640" y="2724912"/>
            <a:ext cx="548640" cy="548640"/>
          </a:xfrm>
          <a:prstGeom prst="ellipse">
            <a:avLst/>
          </a:prstGeom>
          <a:solidFill>
            <a:schemeClr val="accent2"/>
          </a:solidFill>
          <a:ln w="12700">
            <a:solidFill>
              <a:schemeClr val="accent2"/>
            </a:solidFill>
            <a:prstDash val="solid"/>
          </a:ln>
        </p:spPr>
      </p:sp>
      <p:sp>
        <p:nvSpPr>
          <p:cNvPr id="8" name="Text 6"/>
          <p:cNvSpPr txBox="1"/>
          <p:nvPr/>
        </p:nvSpPr>
        <p:spPr>
          <a:xfrm>
            <a:off x="548640" y="2724912"/>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Text 7"/>
          <p:cNvSpPr txBox="1"/>
          <p:nvPr/>
        </p:nvSpPr>
        <p:spPr>
          <a:xfrm>
            <a:off x="1325880" y="2743200"/>
            <a:ext cx="5120640" cy="548640"/>
          </a:xfrm>
          <a:prstGeom prst="rect">
            <a:avLst/>
          </a:prstGeom>
          <a:noFill/>
          <a:ln/>
        </p:spPr>
        <p:txBody>
          <a:bodyPr wrap="square" lIns="0" tIns="0" rIns="0" bIns="0" rtlCol="0" anchor="ctr"/>
          <a:lstStyle/>
          <a:p>
            <a:pPr indent="0" marL="0">
              <a:buNone/>
            </a:pPr>
            <a:r>
              <a:rPr lang="en-US" sz="1500" dirty="0">
                <a:solidFill>
                  <a:schemeClr val="tx1"/>
                </a:solidFill>
              </a:rPr>
              <a:t>Replies typed by hand are not always consistent</a:t>
            </a:r>
            <a:endParaRPr lang="en-US" sz="1500" dirty="0"/>
          </a:p>
        </p:txBody>
      </p:sp>
      <p:sp>
        <p:nvSpPr>
          <p:cNvPr id="10" name="problem number 3"/>
          <p:cNvSpPr/>
          <p:nvPr/>
        </p:nvSpPr>
        <p:spPr>
          <a:xfrm>
            <a:off x="548640" y="3529584"/>
            <a:ext cx="548640" cy="548640"/>
          </a:xfrm>
          <a:prstGeom prst="ellipse">
            <a:avLst/>
          </a:prstGeom>
          <a:solidFill>
            <a:schemeClr val="accent2"/>
          </a:solidFill>
          <a:ln w="12700">
            <a:solidFill>
              <a:schemeClr val="accent2"/>
            </a:solidFill>
            <a:prstDash val="solid"/>
          </a:ln>
        </p:spPr>
      </p:sp>
      <p:sp>
        <p:nvSpPr>
          <p:cNvPr id="11" name="Text 9"/>
          <p:cNvSpPr txBox="1"/>
          <p:nvPr/>
        </p:nvSpPr>
        <p:spPr>
          <a:xfrm>
            <a:off x="548640" y="3529584"/>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2" name="Text 10"/>
          <p:cNvSpPr txBox="1"/>
          <p:nvPr/>
        </p:nvSpPr>
        <p:spPr>
          <a:xfrm>
            <a:off x="1325880" y="3547872"/>
            <a:ext cx="5120640" cy="548640"/>
          </a:xfrm>
          <a:prstGeom prst="rect">
            <a:avLst/>
          </a:prstGeom>
          <a:noFill/>
          <a:ln/>
        </p:spPr>
        <p:txBody>
          <a:bodyPr wrap="square" lIns="0" tIns="0" rIns="0" bIns="0" rtlCol="0" anchor="ctr"/>
          <a:lstStyle/>
          <a:p>
            <a:pPr indent="0" marL="0">
              <a:buNone/>
            </a:pPr>
            <a:r>
              <a:rPr lang="en-US" sz="1500" dirty="0">
                <a:solidFill>
                  <a:schemeClr val="tx1"/>
                </a:solidFill>
              </a:rPr>
              <a:t>Prices, stock and policies change; answers must change too</a:t>
            </a:r>
            <a:endParaRPr lang="en-US" sz="1500" dirty="0"/>
          </a:p>
        </p:txBody>
      </p:sp>
      <p:sp>
        <p:nvSpPr>
          <p:cNvPr id="13" name="problem number 4"/>
          <p:cNvSpPr/>
          <p:nvPr/>
        </p:nvSpPr>
        <p:spPr>
          <a:xfrm>
            <a:off x="548640" y="4334256"/>
            <a:ext cx="548640" cy="548640"/>
          </a:xfrm>
          <a:prstGeom prst="ellipse">
            <a:avLst/>
          </a:prstGeom>
          <a:solidFill>
            <a:schemeClr val="accent2"/>
          </a:solidFill>
          <a:ln w="12700">
            <a:solidFill>
              <a:schemeClr val="accent2"/>
            </a:solidFill>
            <a:prstDash val="solid"/>
          </a:ln>
        </p:spPr>
      </p:sp>
      <p:sp>
        <p:nvSpPr>
          <p:cNvPr id="14" name="Text 12"/>
          <p:cNvSpPr txBox="1"/>
          <p:nvPr/>
        </p:nvSpPr>
        <p:spPr>
          <a:xfrm>
            <a:off x="548640" y="4334256"/>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5" name="Text 13"/>
          <p:cNvSpPr txBox="1"/>
          <p:nvPr/>
        </p:nvSpPr>
        <p:spPr>
          <a:xfrm>
            <a:off x="1325880" y="4352544"/>
            <a:ext cx="5120640" cy="548640"/>
          </a:xfrm>
          <a:prstGeom prst="rect">
            <a:avLst/>
          </a:prstGeom>
          <a:noFill/>
          <a:ln/>
        </p:spPr>
        <p:txBody>
          <a:bodyPr wrap="square" lIns="0" tIns="0" rIns="0" bIns="0" rtlCol="0" anchor="ctr"/>
          <a:lstStyle/>
          <a:p>
            <a:pPr indent="0" marL="0">
              <a:buNone/>
            </a:pPr>
            <a:r>
              <a:rPr lang="en-US" sz="1500" dirty="0">
                <a:solidFill>
                  <a:schemeClr val="tx1"/>
                </a:solidFill>
              </a:rPr>
              <a:t>Customers write in English, Filipino or Taglish</a:t>
            </a:r>
            <a:endParaRPr lang="en-US" sz="1500" dirty="0"/>
          </a:p>
        </p:txBody>
      </p:sp>
      <p:sp>
        <p:nvSpPr>
          <p:cNvPr id="16" name="problem number 5"/>
          <p:cNvSpPr/>
          <p:nvPr/>
        </p:nvSpPr>
        <p:spPr>
          <a:xfrm>
            <a:off x="548640" y="5138928"/>
            <a:ext cx="548640" cy="548640"/>
          </a:xfrm>
          <a:prstGeom prst="ellipse">
            <a:avLst/>
          </a:prstGeom>
          <a:solidFill>
            <a:schemeClr val="accent2"/>
          </a:solidFill>
          <a:ln w="12700">
            <a:solidFill>
              <a:schemeClr val="accent2"/>
            </a:solidFill>
            <a:prstDash val="solid"/>
          </a:ln>
        </p:spPr>
      </p:sp>
      <p:sp>
        <p:nvSpPr>
          <p:cNvPr id="17" name="Text 15"/>
          <p:cNvSpPr txBox="1"/>
          <p:nvPr/>
        </p:nvSpPr>
        <p:spPr>
          <a:xfrm>
            <a:off x="548640" y="5138928"/>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18" name="Text 16"/>
          <p:cNvSpPr txBox="1"/>
          <p:nvPr/>
        </p:nvSpPr>
        <p:spPr>
          <a:xfrm>
            <a:off x="1325880" y="5157216"/>
            <a:ext cx="5120640" cy="548640"/>
          </a:xfrm>
          <a:prstGeom prst="rect">
            <a:avLst/>
          </a:prstGeom>
          <a:noFill/>
          <a:ln/>
        </p:spPr>
        <p:txBody>
          <a:bodyPr wrap="square" lIns="0" tIns="0" rIns="0" bIns="0" rtlCol="0" anchor="ctr"/>
          <a:lstStyle/>
          <a:p>
            <a:pPr indent="0" marL="0">
              <a:buNone/>
            </a:pPr>
            <a:r>
              <a:rPr lang="en-US" sz="1500" dirty="0">
                <a:solidFill>
                  <a:schemeClr val="tx1"/>
                </a:solidFill>
              </a:rPr>
              <a:t>Complaints, refunds and unclear cases need a person</a:t>
            </a:r>
            <a:endParaRPr lang="en-US" sz="1500" dirty="0"/>
          </a:p>
        </p:txBody>
      </p:sp>
      <p:sp>
        <p:nvSpPr>
          <p:cNvPr id="19" name="objective card"/>
          <p:cNvSpPr/>
          <p:nvPr/>
        </p:nvSpPr>
        <p:spPr>
          <a:xfrm>
            <a:off x="6858000" y="1371600"/>
            <a:ext cx="4754880" cy="4572000"/>
          </a:xfrm>
          <a:prstGeom prst="roundRect">
            <a:avLst>
              <a:gd name="adj" fmla="val 2400"/>
            </a:avLst>
          </a:prstGeom>
          <a:solidFill>
            <a:schemeClr val="accent1"/>
          </a:solidFill>
          <a:ln w="12700">
            <a:solidFill>
              <a:schemeClr val="accent1"/>
            </a:solidFill>
            <a:prstDash val="solid"/>
          </a:ln>
        </p:spPr>
      </p:sp>
      <p:sp>
        <p:nvSpPr>
          <p:cNvPr id="20" name="objective icon circle"/>
          <p:cNvSpPr/>
          <p:nvPr/>
        </p:nvSpPr>
        <p:spPr>
          <a:xfrm>
            <a:off x="7178040" y="1691640"/>
            <a:ext cx="777240" cy="777240"/>
          </a:xfrm>
          <a:prstGeom prst="ellipse">
            <a:avLst/>
          </a:prstGeom>
          <a:solidFill>
            <a:schemeClr val="accent4"/>
          </a:solidFill>
          <a:ln w="12700">
            <a:solidFill>
              <a:schemeClr val="accent4"/>
            </a:solidFill>
            <a:prstDash val="solid"/>
          </a:ln>
        </p:spPr>
      </p:sp>
      <p:pic>
        <p:nvPicPr>
          <p:cNvPr id="21" name="objective icon" descr="preencoded.png">    </p:cNvPr>
          <p:cNvPicPr>
            <a:picLocks noChangeAspect="1"/>
          </p:cNvPicPr>
          <p:nvPr/>
        </p:nvPicPr>
        <p:blipFill>
          <a:blip r:embed="rId1"/>
          <a:stretch>
            <a:fillRect/>
          </a:stretch>
        </p:blipFill>
        <p:spPr>
          <a:xfrm>
            <a:off x="7364578" y="1878178"/>
            <a:ext cx="404165" cy="404165"/>
          </a:xfrm>
          <a:prstGeom prst="rect">
            <a:avLst/>
          </a:prstGeom>
        </p:spPr>
      </p:pic>
      <p:sp>
        <p:nvSpPr>
          <p:cNvPr id="22" name="Text 19"/>
          <p:cNvSpPr txBox="1"/>
          <p:nvPr/>
        </p:nvSpPr>
        <p:spPr>
          <a:xfrm>
            <a:off x="7178040" y="2651760"/>
            <a:ext cx="4114800" cy="411480"/>
          </a:xfrm>
          <a:prstGeom prst="rect">
            <a:avLst/>
          </a:prstGeom>
          <a:noFill/>
          <a:ln/>
        </p:spPr>
        <p:txBody>
          <a:bodyPr wrap="square" lIns="0" tIns="0" rIns="0" bIns="0" rtlCol="0" anchor="t"/>
          <a:lstStyle/>
          <a:p>
            <a:pPr indent="0" marL="0">
              <a:buNone/>
            </a:pPr>
            <a:r>
              <a:rPr lang="en-US" sz="2000" b="1" dirty="0">
                <a:solidFill>
                  <a:schemeClr val="bg1"/>
                </a:solidFill>
              </a:rPr>
              <a:t>General objective</a:t>
            </a:r>
            <a:endParaRPr lang="en-US" sz="2000" dirty="0"/>
          </a:p>
        </p:txBody>
      </p:sp>
      <p:sp>
        <p:nvSpPr>
          <p:cNvPr id="23" name="Text 20"/>
          <p:cNvSpPr txBox="1"/>
          <p:nvPr/>
        </p:nvSpPr>
        <p:spPr>
          <a:xfrm>
            <a:off x="7178040" y="3108960"/>
            <a:ext cx="4114800" cy="1280160"/>
          </a:xfrm>
          <a:prstGeom prst="rect">
            <a:avLst/>
          </a:prstGeom>
          <a:noFill/>
          <a:ln/>
        </p:spPr>
        <p:txBody>
          <a:bodyPr wrap="square" lIns="0" tIns="0" rIns="0" bIns="0" rtlCol="0" anchor="t"/>
          <a:lstStyle/>
          <a:p>
            <a:pPr indent="0" marL="0">
              <a:buNone/>
            </a:pPr>
            <a:r>
              <a:rPr lang="en-US" sz="1500" dirty="0">
                <a:solidFill>
                  <a:schemeClr val="bg1"/>
                </a:solidFill>
              </a:rPr>
              <a:t>Design and develop a prototype AI-assisted customer support system for micro and small e-commerce businesses in Baguio City and Benguet that:</a:t>
            </a:r>
            <a:endParaRPr lang="en-US" sz="1500" dirty="0"/>
          </a:p>
        </p:txBody>
      </p:sp>
      <p:sp>
        <p:nvSpPr>
          <p:cNvPr id="24" name="Text 21"/>
          <p:cNvSpPr txBox="1"/>
          <p:nvPr/>
        </p:nvSpPr>
        <p:spPr>
          <a:xfrm>
            <a:off x="7178040" y="4389120"/>
            <a:ext cx="4206240" cy="1371600"/>
          </a:xfrm>
          <a:prstGeom prst="rect">
            <a:avLst/>
          </a:prstGeom>
          <a:noFill/>
          <a:ln/>
        </p:spPr>
        <p:txBody>
          <a:bodyPr wrap="square" lIns="0" tIns="0" rIns="0" bIns="0" rtlCol="0" anchor="t"/>
          <a:lstStyle/>
          <a:p>
            <a:pPr marL="342900" indent="-342900">
              <a:spcAft>
                <a:spcPts val="400"/>
              </a:spcAft>
              <a:buSzPct val="100000"/>
              <a:buChar char="•"/>
            </a:pPr>
            <a:r>
              <a:rPr lang="en-US" sz="1500" dirty="0">
                <a:solidFill>
                  <a:srgbClr val="DDEBE3"/>
                </a:solidFill>
              </a:rPr>
              <a:t>answers routine questions quickly and correctly</a:t>
            </a:r>
            <a:endParaRPr lang="en-US" sz="1500" dirty="0"/>
          </a:p>
          <a:p>
            <a:pPr marL="342900" indent="-342900">
              <a:spcAft>
                <a:spcPts val="400"/>
              </a:spcAft>
              <a:buSzPct val="100000"/>
              <a:buChar char="•"/>
            </a:pPr>
            <a:r>
              <a:rPr lang="en-US" sz="1500" dirty="0">
                <a:solidFill>
                  <a:srgbClr val="DDEBE3"/>
                </a:solidFill>
              </a:rPr>
              <a:t>never states a fact the owner has not approved</a:t>
            </a:r>
            <a:endParaRPr lang="en-US" sz="1500" dirty="0"/>
          </a:p>
          <a:p>
            <a:pPr marL="342900" indent="-342900">
              <a:spcAft>
                <a:spcPts val="400"/>
              </a:spcAft>
              <a:buSzPct val="100000"/>
              <a:buChar char="•"/>
            </a:pPr>
            <a:r>
              <a:rPr lang="en-US" sz="1500" dirty="0">
                <a:solidFill>
                  <a:srgbClr val="DDEBE3"/>
                </a:solidFill>
              </a:rPr>
              <a:t>hands difficult cases to a person</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A8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accent1"/>
                </a:solidFill>
                <a:latin typeface="Cambria" pitchFamily="34" charset="0"/>
                <a:ea typeface="Cambria" pitchFamily="34" charset="-122"/>
                <a:cs typeface="Cambria" pitchFamily="34" charset="-120"/>
              </a:rPr>
              <a:t>Research questions</a:t>
            </a:r>
            <a:endParaRPr lang="en-US" sz="3200" dirty="0"/>
          </a:p>
        </p:txBody>
      </p:sp>
      <p:sp>
        <p:nvSpPr>
          <p:cNvPr id="3" name="RQ card 1"/>
          <p:cNvSpPr/>
          <p:nvPr/>
        </p:nvSpPr>
        <p:spPr>
          <a:xfrm>
            <a:off x="548640" y="1371600"/>
            <a:ext cx="11064240" cy="822960"/>
          </a:xfrm>
          <a:prstGeom prst="roundRect">
            <a:avLst>
              <a:gd name="adj" fmla="val 13333"/>
            </a:avLst>
          </a:prstGeom>
          <a:solidFill>
            <a:schemeClr val="bg2"/>
          </a:solidFill>
          <a:ln w="12700">
            <a:solidFill>
              <a:schemeClr val="bg2"/>
            </a:solidFill>
            <a:prstDash val="solid"/>
          </a:ln>
        </p:spPr>
      </p:sp>
      <p:sp>
        <p:nvSpPr>
          <p:cNvPr id="4" name="RQ icon 1 circle"/>
          <p:cNvSpPr/>
          <p:nvPr/>
        </p:nvSpPr>
        <p:spPr>
          <a:xfrm>
            <a:off x="731520" y="1490472"/>
            <a:ext cx="585216" cy="585216"/>
          </a:xfrm>
          <a:prstGeom prst="ellipse">
            <a:avLst/>
          </a:prstGeom>
          <a:solidFill>
            <a:schemeClr val="accent1"/>
          </a:solidFill>
          <a:ln w="12700">
            <a:solidFill>
              <a:schemeClr val="accent1"/>
            </a:solidFill>
            <a:prstDash val="solid"/>
          </a:ln>
        </p:spPr>
      </p:sp>
      <p:pic>
        <p:nvPicPr>
          <p:cNvPr id="5" name="RQ icon 1" descr="preencoded.png">    </p:cNvPr>
          <p:cNvPicPr>
            <a:picLocks noChangeAspect="1"/>
          </p:cNvPicPr>
          <p:nvPr/>
        </p:nvPicPr>
        <p:blipFill>
          <a:blip r:embed="rId1"/>
          <a:stretch>
            <a:fillRect/>
          </a:stretch>
        </p:blipFill>
        <p:spPr>
          <a:xfrm>
            <a:off x="871972" y="1630924"/>
            <a:ext cx="304312" cy="304312"/>
          </a:xfrm>
          <a:prstGeom prst="rect">
            <a:avLst/>
          </a:prstGeom>
        </p:spPr>
      </p:pic>
      <p:sp>
        <p:nvSpPr>
          <p:cNvPr id="6" name="Text 3"/>
          <p:cNvSpPr txBox="1"/>
          <p:nvPr/>
        </p:nvSpPr>
        <p:spPr>
          <a:xfrm>
            <a:off x="1508760" y="1463040"/>
            <a:ext cx="2743200" cy="640080"/>
          </a:xfrm>
          <a:prstGeom prst="rect">
            <a:avLst/>
          </a:prstGeom>
          <a:noFill/>
          <a:ln/>
        </p:spPr>
        <p:txBody>
          <a:bodyPr wrap="square" lIns="0" tIns="0" rIns="0" bIns="0" rtlCol="0" anchor="ctr"/>
          <a:lstStyle/>
          <a:p>
            <a:pPr indent="0" marL="0">
              <a:buNone/>
            </a:pPr>
            <a:r>
              <a:rPr lang="en-US" sz="1600" b="1" dirty="0">
                <a:solidFill>
                  <a:schemeClr val="accent1"/>
                </a:solidFill>
              </a:rPr>
              <a:t>RQ1  Seller needs</a:t>
            </a:r>
            <a:endParaRPr lang="en-US" sz="1600" dirty="0"/>
          </a:p>
        </p:txBody>
      </p:sp>
      <p:sp>
        <p:nvSpPr>
          <p:cNvPr id="7" name="Text 4"/>
          <p:cNvSpPr txBox="1"/>
          <p:nvPr/>
        </p:nvSpPr>
        <p:spPr>
          <a:xfrm>
            <a:off x="4297680" y="1463040"/>
            <a:ext cx="7132320" cy="640080"/>
          </a:xfrm>
          <a:prstGeom prst="rect">
            <a:avLst/>
          </a:prstGeom>
          <a:noFill/>
          <a:ln/>
        </p:spPr>
        <p:txBody>
          <a:bodyPr wrap="square" lIns="0" tIns="0" rIns="0" bIns="0" rtlCol="0" anchor="ctr"/>
          <a:lstStyle/>
          <a:p>
            <a:pPr indent="0" marL="0">
              <a:buNone/>
            </a:pPr>
            <a:r>
              <a:rPr lang="en-US" sz="1500" dirty="0">
                <a:solidFill>
                  <a:schemeClr val="tx1"/>
                </a:solidFill>
              </a:rPr>
              <a:t>What do local online sellers need from a support assistant, based on the questions they receive?</a:t>
            </a:r>
            <a:endParaRPr lang="en-US" sz="1500" dirty="0"/>
          </a:p>
        </p:txBody>
      </p:sp>
      <p:sp>
        <p:nvSpPr>
          <p:cNvPr id="8" name="RQ card 2"/>
          <p:cNvSpPr/>
          <p:nvPr/>
        </p:nvSpPr>
        <p:spPr>
          <a:xfrm>
            <a:off x="548640" y="2350008"/>
            <a:ext cx="11064240" cy="822960"/>
          </a:xfrm>
          <a:prstGeom prst="roundRect">
            <a:avLst>
              <a:gd name="adj" fmla="val 13333"/>
            </a:avLst>
          </a:prstGeom>
          <a:solidFill>
            <a:schemeClr val="bg2"/>
          </a:solidFill>
          <a:ln w="12700">
            <a:solidFill>
              <a:schemeClr val="bg2"/>
            </a:solidFill>
            <a:prstDash val="solid"/>
          </a:ln>
        </p:spPr>
      </p:sp>
      <p:sp>
        <p:nvSpPr>
          <p:cNvPr id="9" name="RQ icon 2 circle"/>
          <p:cNvSpPr/>
          <p:nvPr/>
        </p:nvSpPr>
        <p:spPr>
          <a:xfrm>
            <a:off x="731520" y="2468880"/>
            <a:ext cx="585216" cy="585216"/>
          </a:xfrm>
          <a:prstGeom prst="ellipse">
            <a:avLst/>
          </a:prstGeom>
          <a:solidFill>
            <a:schemeClr val="accent1"/>
          </a:solidFill>
          <a:ln w="12700">
            <a:solidFill>
              <a:schemeClr val="accent1"/>
            </a:solidFill>
            <a:prstDash val="solid"/>
          </a:ln>
        </p:spPr>
      </p:sp>
      <p:pic>
        <p:nvPicPr>
          <p:cNvPr id="10" name="RQ icon 2" descr="preencoded.png">    </p:cNvPr>
          <p:cNvPicPr>
            <a:picLocks noChangeAspect="1"/>
          </p:cNvPicPr>
          <p:nvPr/>
        </p:nvPicPr>
        <p:blipFill>
          <a:blip r:embed="rId2"/>
          <a:stretch>
            <a:fillRect/>
          </a:stretch>
        </p:blipFill>
        <p:spPr>
          <a:xfrm>
            <a:off x="871972" y="2609332"/>
            <a:ext cx="304312" cy="304312"/>
          </a:xfrm>
          <a:prstGeom prst="rect">
            <a:avLst/>
          </a:prstGeom>
        </p:spPr>
      </p:pic>
      <p:sp>
        <p:nvSpPr>
          <p:cNvPr id="11" name="Text 7"/>
          <p:cNvSpPr txBox="1"/>
          <p:nvPr/>
        </p:nvSpPr>
        <p:spPr>
          <a:xfrm>
            <a:off x="1508760" y="2441448"/>
            <a:ext cx="2743200" cy="640080"/>
          </a:xfrm>
          <a:prstGeom prst="rect">
            <a:avLst/>
          </a:prstGeom>
          <a:noFill/>
          <a:ln/>
        </p:spPr>
        <p:txBody>
          <a:bodyPr wrap="square" lIns="0" tIns="0" rIns="0" bIns="0" rtlCol="0" anchor="ctr"/>
          <a:lstStyle/>
          <a:p>
            <a:pPr indent="0" marL="0">
              <a:buNone/>
            </a:pPr>
            <a:r>
              <a:rPr lang="en-US" sz="1600" b="1" dirty="0">
                <a:solidFill>
                  <a:schemeClr val="accent1"/>
                </a:solidFill>
              </a:rPr>
              <a:t>RQ2  Grounded answers</a:t>
            </a:r>
            <a:endParaRPr lang="en-US" sz="1600" dirty="0"/>
          </a:p>
        </p:txBody>
      </p:sp>
      <p:sp>
        <p:nvSpPr>
          <p:cNvPr id="12" name="Text 8"/>
          <p:cNvSpPr txBox="1"/>
          <p:nvPr/>
        </p:nvSpPr>
        <p:spPr>
          <a:xfrm>
            <a:off x="4297680" y="2441448"/>
            <a:ext cx="7132320" cy="640080"/>
          </a:xfrm>
          <a:prstGeom prst="rect">
            <a:avLst/>
          </a:prstGeom>
          <a:noFill/>
          <a:ln/>
        </p:spPr>
        <p:txBody>
          <a:bodyPr wrap="square" lIns="0" tIns="0" rIns="0" bIns="0" rtlCol="0" anchor="ctr"/>
          <a:lstStyle/>
          <a:p>
            <a:pPr indent="0" marL="0">
              <a:buNone/>
            </a:pPr>
            <a:r>
              <a:rPr lang="en-US" sz="1500" dirty="0">
                <a:solidFill>
                  <a:schemeClr val="tx1"/>
                </a:solidFill>
              </a:rPr>
              <a:t>How should products, FAQs and policies be stored so every answer traces to approved data?</a:t>
            </a:r>
            <a:endParaRPr lang="en-US" sz="1500" dirty="0"/>
          </a:p>
        </p:txBody>
      </p:sp>
      <p:sp>
        <p:nvSpPr>
          <p:cNvPr id="13" name="RQ card 3"/>
          <p:cNvSpPr/>
          <p:nvPr/>
        </p:nvSpPr>
        <p:spPr>
          <a:xfrm>
            <a:off x="548640" y="3328416"/>
            <a:ext cx="11064240" cy="822960"/>
          </a:xfrm>
          <a:prstGeom prst="roundRect">
            <a:avLst>
              <a:gd name="adj" fmla="val 13333"/>
            </a:avLst>
          </a:prstGeom>
          <a:solidFill>
            <a:schemeClr val="bg2"/>
          </a:solidFill>
          <a:ln w="12700">
            <a:solidFill>
              <a:schemeClr val="bg2"/>
            </a:solidFill>
            <a:prstDash val="solid"/>
          </a:ln>
        </p:spPr>
      </p:sp>
      <p:sp>
        <p:nvSpPr>
          <p:cNvPr id="14" name="RQ icon 3 circle"/>
          <p:cNvSpPr/>
          <p:nvPr/>
        </p:nvSpPr>
        <p:spPr>
          <a:xfrm>
            <a:off x="731520" y="3447288"/>
            <a:ext cx="585216" cy="585216"/>
          </a:xfrm>
          <a:prstGeom prst="ellipse">
            <a:avLst/>
          </a:prstGeom>
          <a:solidFill>
            <a:schemeClr val="accent1"/>
          </a:solidFill>
          <a:ln w="12700">
            <a:solidFill>
              <a:schemeClr val="accent1"/>
            </a:solidFill>
            <a:prstDash val="solid"/>
          </a:ln>
        </p:spPr>
      </p:sp>
      <p:pic>
        <p:nvPicPr>
          <p:cNvPr id="15" name="RQ icon 3" descr="preencoded.png">    </p:cNvPr>
          <p:cNvPicPr>
            <a:picLocks noChangeAspect="1"/>
          </p:cNvPicPr>
          <p:nvPr/>
        </p:nvPicPr>
        <p:blipFill>
          <a:blip r:embed="rId3"/>
          <a:stretch>
            <a:fillRect/>
          </a:stretch>
        </p:blipFill>
        <p:spPr>
          <a:xfrm>
            <a:off x="871972" y="3587740"/>
            <a:ext cx="304312" cy="304312"/>
          </a:xfrm>
          <a:prstGeom prst="rect">
            <a:avLst/>
          </a:prstGeom>
        </p:spPr>
      </p:pic>
      <p:sp>
        <p:nvSpPr>
          <p:cNvPr id="16" name="Text 11"/>
          <p:cNvSpPr txBox="1"/>
          <p:nvPr/>
        </p:nvSpPr>
        <p:spPr>
          <a:xfrm>
            <a:off x="1508760" y="3419856"/>
            <a:ext cx="2743200" cy="640080"/>
          </a:xfrm>
          <a:prstGeom prst="rect">
            <a:avLst/>
          </a:prstGeom>
          <a:noFill/>
          <a:ln/>
        </p:spPr>
        <p:txBody>
          <a:bodyPr wrap="square" lIns="0" tIns="0" rIns="0" bIns="0" rtlCol="0" anchor="ctr"/>
          <a:lstStyle/>
          <a:p>
            <a:pPr indent="0" marL="0">
              <a:buNone/>
            </a:pPr>
            <a:r>
              <a:rPr lang="en-US" sz="1600" b="1" dirty="0">
                <a:solidFill>
                  <a:schemeClr val="accent1"/>
                </a:solidFill>
              </a:rPr>
              <a:t>RQ3  Language</a:t>
            </a:r>
            <a:endParaRPr lang="en-US" sz="1600" dirty="0"/>
          </a:p>
        </p:txBody>
      </p:sp>
      <p:sp>
        <p:nvSpPr>
          <p:cNvPr id="17" name="Text 12"/>
          <p:cNvSpPr txBox="1"/>
          <p:nvPr/>
        </p:nvSpPr>
        <p:spPr>
          <a:xfrm>
            <a:off x="4297680" y="3419856"/>
            <a:ext cx="7132320" cy="640080"/>
          </a:xfrm>
          <a:prstGeom prst="rect">
            <a:avLst/>
          </a:prstGeom>
          <a:noFill/>
          <a:ln/>
        </p:spPr>
        <p:txBody>
          <a:bodyPr wrap="square" lIns="0" tIns="0" rIns="0" bIns="0" rtlCol="0" anchor="ctr"/>
          <a:lstStyle/>
          <a:p>
            <a:pPr indent="0" marL="0">
              <a:buNone/>
            </a:pPr>
            <a:r>
              <a:rPr lang="en-US" sz="1500" dirty="0">
                <a:solidFill>
                  <a:schemeClr val="tx1"/>
                </a:solidFill>
              </a:rPr>
              <a:t>How can English, Filipino and Taglish be handled in one workflow?</a:t>
            </a:r>
            <a:endParaRPr lang="en-US" sz="1500" dirty="0"/>
          </a:p>
        </p:txBody>
      </p:sp>
      <p:sp>
        <p:nvSpPr>
          <p:cNvPr id="18" name="RQ card 4"/>
          <p:cNvSpPr/>
          <p:nvPr/>
        </p:nvSpPr>
        <p:spPr>
          <a:xfrm>
            <a:off x="548640" y="4306824"/>
            <a:ext cx="11064240" cy="822960"/>
          </a:xfrm>
          <a:prstGeom prst="roundRect">
            <a:avLst>
              <a:gd name="adj" fmla="val 13333"/>
            </a:avLst>
          </a:prstGeom>
          <a:solidFill>
            <a:schemeClr val="bg2"/>
          </a:solidFill>
          <a:ln w="12700">
            <a:solidFill>
              <a:schemeClr val="bg2"/>
            </a:solidFill>
            <a:prstDash val="solid"/>
          </a:ln>
        </p:spPr>
      </p:sp>
      <p:sp>
        <p:nvSpPr>
          <p:cNvPr id="19" name="RQ icon 4 circle"/>
          <p:cNvSpPr/>
          <p:nvPr/>
        </p:nvSpPr>
        <p:spPr>
          <a:xfrm>
            <a:off x="731520" y="4425696"/>
            <a:ext cx="585216" cy="585216"/>
          </a:xfrm>
          <a:prstGeom prst="ellipse">
            <a:avLst/>
          </a:prstGeom>
          <a:solidFill>
            <a:schemeClr val="accent1"/>
          </a:solidFill>
          <a:ln w="12700">
            <a:solidFill>
              <a:schemeClr val="accent1"/>
            </a:solidFill>
            <a:prstDash val="solid"/>
          </a:ln>
        </p:spPr>
      </p:sp>
      <p:pic>
        <p:nvPicPr>
          <p:cNvPr id="20" name="RQ icon 4" descr="preencoded.png">    </p:cNvPr>
          <p:cNvPicPr>
            <a:picLocks noChangeAspect="1"/>
          </p:cNvPicPr>
          <p:nvPr/>
        </p:nvPicPr>
        <p:blipFill>
          <a:blip r:embed="rId4"/>
          <a:stretch>
            <a:fillRect/>
          </a:stretch>
        </p:blipFill>
        <p:spPr>
          <a:xfrm>
            <a:off x="871972" y="4566148"/>
            <a:ext cx="304312" cy="304312"/>
          </a:xfrm>
          <a:prstGeom prst="rect">
            <a:avLst/>
          </a:prstGeom>
        </p:spPr>
      </p:pic>
      <p:sp>
        <p:nvSpPr>
          <p:cNvPr id="21" name="Text 15"/>
          <p:cNvSpPr txBox="1"/>
          <p:nvPr/>
        </p:nvSpPr>
        <p:spPr>
          <a:xfrm>
            <a:off x="1508760" y="4398264"/>
            <a:ext cx="2743200" cy="640080"/>
          </a:xfrm>
          <a:prstGeom prst="rect">
            <a:avLst/>
          </a:prstGeom>
          <a:noFill/>
          <a:ln/>
        </p:spPr>
        <p:txBody>
          <a:bodyPr wrap="square" lIns="0" tIns="0" rIns="0" bIns="0" rtlCol="0" anchor="ctr"/>
          <a:lstStyle/>
          <a:p>
            <a:pPr indent="0" marL="0">
              <a:buNone/>
            </a:pPr>
            <a:r>
              <a:rPr lang="en-US" sz="1600" b="1" dirty="0">
                <a:solidFill>
                  <a:schemeClr val="accent1"/>
                </a:solidFill>
              </a:rPr>
              <a:t>RQ4  Escalation</a:t>
            </a:r>
            <a:endParaRPr lang="en-US" sz="1600" dirty="0"/>
          </a:p>
        </p:txBody>
      </p:sp>
      <p:sp>
        <p:nvSpPr>
          <p:cNvPr id="22" name="Text 16"/>
          <p:cNvSpPr txBox="1"/>
          <p:nvPr/>
        </p:nvSpPr>
        <p:spPr>
          <a:xfrm>
            <a:off x="4297680" y="4398264"/>
            <a:ext cx="7132320" cy="640080"/>
          </a:xfrm>
          <a:prstGeom prst="rect">
            <a:avLst/>
          </a:prstGeom>
          <a:noFill/>
          <a:ln/>
        </p:spPr>
        <p:txBody>
          <a:bodyPr wrap="square" lIns="0" tIns="0" rIns="0" bIns="0" rtlCol="0" anchor="ctr"/>
          <a:lstStyle/>
          <a:p>
            <a:pPr indent="0" marL="0">
              <a:buNone/>
            </a:pPr>
            <a:r>
              <a:rPr lang="en-US" sz="1500" dirty="0">
                <a:solidFill>
                  <a:schemeClr val="tx1"/>
                </a:solidFill>
              </a:rPr>
              <a:t>How can the system spot uncertain or sensitive messages and pass them to staff?</a:t>
            </a:r>
            <a:endParaRPr lang="en-US" sz="1500" dirty="0"/>
          </a:p>
        </p:txBody>
      </p:sp>
      <p:sp>
        <p:nvSpPr>
          <p:cNvPr id="23" name="RQ card 5"/>
          <p:cNvSpPr/>
          <p:nvPr/>
        </p:nvSpPr>
        <p:spPr>
          <a:xfrm>
            <a:off x="548640" y="5285232"/>
            <a:ext cx="11064240" cy="822960"/>
          </a:xfrm>
          <a:prstGeom prst="roundRect">
            <a:avLst>
              <a:gd name="adj" fmla="val 13333"/>
            </a:avLst>
          </a:prstGeom>
          <a:solidFill>
            <a:schemeClr val="bg2"/>
          </a:solidFill>
          <a:ln w="12700">
            <a:solidFill>
              <a:schemeClr val="bg2"/>
            </a:solidFill>
            <a:prstDash val="solid"/>
          </a:ln>
        </p:spPr>
      </p:sp>
      <p:sp>
        <p:nvSpPr>
          <p:cNvPr id="24" name="RQ icon 5 circle"/>
          <p:cNvSpPr/>
          <p:nvPr/>
        </p:nvSpPr>
        <p:spPr>
          <a:xfrm>
            <a:off x="731520" y="5404104"/>
            <a:ext cx="585216" cy="585216"/>
          </a:xfrm>
          <a:prstGeom prst="ellipse">
            <a:avLst/>
          </a:prstGeom>
          <a:solidFill>
            <a:schemeClr val="accent1"/>
          </a:solidFill>
          <a:ln w="12700">
            <a:solidFill>
              <a:schemeClr val="accent1"/>
            </a:solidFill>
            <a:prstDash val="solid"/>
          </a:ln>
        </p:spPr>
      </p:sp>
      <p:pic>
        <p:nvPicPr>
          <p:cNvPr id="25" name="RQ icon 5" descr="preencoded.png">    </p:cNvPr>
          <p:cNvPicPr>
            <a:picLocks noChangeAspect="1"/>
          </p:cNvPicPr>
          <p:nvPr/>
        </p:nvPicPr>
        <p:blipFill>
          <a:blip r:embed="rId5"/>
          <a:stretch>
            <a:fillRect/>
          </a:stretch>
        </p:blipFill>
        <p:spPr>
          <a:xfrm>
            <a:off x="871972" y="5544556"/>
            <a:ext cx="304312" cy="304312"/>
          </a:xfrm>
          <a:prstGeom prst="rect">
            <a:avLst/>
          </a:prstGeom>
        </p:spPr>
      </p:pic>
      <p:sp>
        <p:nvSpPr>
          <p:cNvPr id="26" name="Text 19"/>
          <p:cNvSpPr txBox="1"/>
          <p:nvPr/>
        </p:nvSpPr>
        <p:spPr>
          <a:xfrm>
            <a:off x="1508760" y="5376672"/>
            <a:ext cx="2743200" cy="640080"/>
          </a:xfrm>
          <a:prstGeom prst="rect">
            <a:avLst/>
          </a:prstGeom>
          <a:noFill/>
          <a:ln/>
        </p:spPr>
        <p:txBody>
          <a:bodyPr wrap="square" lIns="0" tIns="0" rIns="0" bIns="0" rtlCol="0" anchor="ctr"/>
          <a:lstStyle/>
          <a:p>
            <a:pPr indent="0" marL="0">
              <a:buNone/>
            </a:pPr>
            <a:r>
              <a:rPr lang="en-US" sz="1600" b="1" dirty="0">
                <a:solidFill>
                  <a:schemeClr val="accent1"/>
                </a:solidFill>
              </a:rPr>
              <a:t>RQ5  Evaluation</a:t>
            </a:r>
            <a:endParaRPr lang="en-US" sz="1600" dirty="0"/>
          </a:p>
        </p:txBody>
      </p:sp>
      <p:sp>
        <p:nvSpPr>
          <p:cNvPr id="27" name="Text 20"/>
          <p:cNvSpPr txBox="1"/>
          <p:nvPr/>
        </p:nvSpPr>
        <p:spPr>
          <a:xfrm>
            <a:off x="4297680" y="5376672"/>
            <a:ext cx="7132320" cy="640080"/>
          </a:xfrm>
          <a:prstGeom prst="rect">
            <a:avLst/>
          </a:prstGeom>
          <a:noFill/>
          <a:ln/>
        </p:spPr>
        <p:txBody>
          <a:bodyPr wrap="square" lIns="0" tIns="0" rIns="0" bIns="0" rtlCol="0" anchor="ctr"/>
          <a:lstStyle/>
          <a:p>
            <a:pPr indent="0" marL="0">
              <a:buNone/>
            </a:pPr>
            <a:r>
              <a:rPr lang="en-US" sz="1500" dirty="0">
                <a:solidFill>
                  <a:schemeClr val="tx1"/>
                </a:solidFill>
              </a:rPr>
              <a:t>How can accuracy, relevance, response time, usability and satisfaction be measured?</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A8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accent1"/>
                </a:solidFill>
                <a:latin typeface="Cambria" pitchFamily="34" charset="0"/>
                <a:ea typeface="Cambria" pitchFamily="34" charset="-122"/>
                <a:cs typeface="Cambria" pitchFamily="34" charset="-120"/>
              </a:rPr>
              <a:t>What the literature tells us</a:t>
            </a:r>
            <a:endParaRPr lang="en-US" sz="3200" dirty="0"/>
          </a:p>
        </p:txBody>
      </p:sp>
      <p:sp>
        <p:nvSpPr>
          <p:cNvPr id="3" name="literature card 1"/>
          <p:cNvSpPr/>
          <p:nvPr/>
        </p:nvSpPr>
        <p:spPr>
          <a:xfrm>
            <a:off x="548640" y="1371600"/>
            <a:ext cx="5440680" cy="2240280"/>
          </a:xfrm>
          <a:prstGeom prst="roundRect">
            <a:avLst>
              <a:gd name="adj" fmla="val 4898"/>
            </a:avLst>
          </a:prstGeom>
          <a:solidFill>
            <a:schemeClr val="bg2"/>
          </a:solidFill>
          <a:ln w="12700">
            <a:solidFill>
              <a:schemeClr val="bg2"/>
            </a:solidFill>
            <a:prstDash val="solid"/>
          </a:ln>
        </p:spPr>
      </p:sp>
      <p:sp>
        <p:nvSpPr>
          <p:cNvPr id="4" name="lit icon 1 circle"/>
          <p:cNvSpPr/>
          <p:nvPr/>
        </p:nvSpPr>
        <p:spPr>
          <a:xfrm>
            <a:off x="822960" y="1645920"/>
            <a:ext cx="685800" cy="685800"/>
          </a:xfrm>
          <a:prstGeom prst="ellipse">
            <a:avLst/>
          </a:prstGeom>
          <a:solidFill>
            <a:schemeClr val="accent1"/>
          </a:solidFill>
          <a:ln w="12700">
            <a:solidFill>
              <a:schemeClr val="accent1"/>
            </a:solidFill>
            <a:prstDash val="solid"/>
          </a:ln>
        </p:spPr>
      </p:sp>
      <p:pic>
        <p:nvPicPr>
          <p:cNvPr id="5" name="lit icon 1" descr="preencoded.png">    </p:cNvPr>
          <p:cNvPicPr>
            <a:picLocks noChangeAspect="1"/>
          </p:cNvPicPr>
          <p:nvPr/>
        </p:nvPicPr>
        <p:blipFill>
          <a:blip r:embed="rId1"/>
          <a:stretch>
            <a:fillRect/>
          </a:stretch>
        </p:blipFill>
        <p:spPr>
          <a:xfrm>
            <a:off x="987552" y="1810512"/>
            <a:ext cx="356616" cy="356616"/>
          </a:xfrm>
          <a:prstGeom prst="rect">
            <a:avLst/>
          </a:prstGeom>
        </p:spPr>
      </p:pic>
      <p:sp>
        <p:nvSpPr>
          <p:cNvPr id="6" name="Text 3"/>
          <p:cNvSpPr txBox="1"/>
          <p:nvPr/>
        </p:nvSpPr>
        <p:spPr>
          <a:xfrm>
            <a:off x="1691640" y="1645920"/>
            <a:ext cx="4114800" cy="685800"/>
          </a:xfrm>
          <a:prstGeom prst="rect">
            <a:avLst/>
          </a:prstGeom>
          <a:noFill/>
          <a:ln/>
        </p:spPr>
        <p:txBody>
          <a:bodyPr wrap="square" lIns="0" tIns="0" rIns="0" bIns="0" rtlCol="0" anchor="ctr"/>
          <a:lstStyle/>
          <a:p>
            <a:pPr indent="0" marL="0">
              <a:buNone/>
            </a:pPr>
            <a:r>
              <a:rPr lang="en-US" sz="1800" b="1" dirty="0">
                <a:solidFill>
                  <a:schemeClr val="accent1"/>
                </a:solidFill>
              </a:rPr>
              <a:t>Accuracy matters more than speed</a:t>
            </a:r>
            <a:endParaRPr lang="en-US" sz="1800" dirty="0"/>
          </a:p>
        </p:txBody>
      </p:sp>
      <p:sp>
        <p:nvSpPr>
          <p:cNvPr id="7" name="Text 4"/>
          <p:cNvSpPr txBox="1"/>
          <p:nvPr/>
        </p:nvSpPr>
        <p:spPr>
          <a:xfrm>
            <a:off x="822960" y="2468880"/>
            <a:ext cx="4937760" cy="777240"/>
          </a:xfrm>
          <a:prstGeom prst="rect">
            <a:avLst/>
          </a:prstGeom>
          <a:noFill/>
          <a:ln/>
        </p:spPr>
        <p:txBody>
          <a:bodyPr wrap="square" lIns="0" tIns="0" rIns="0" bIns="0" rtlCol="0" anchor="t"/>
          <a:lstStyle/>
          <a:p>
            <a:pPr indent="0" marL="0">
              <a:buNone/>
            </a:pPr>
            <a:r>
              <a:rPr lang="en-US" sz="1500" dirty="0">
                <a:solidFill>
                  <a:schemeClr val="tx1"/>
                </a:solidFill>
              </a:rPr>
              <a:t>Speed, accuracy, convenience and access all shape service quality. Concrete answers raise satisfaction.</a:t>
            </a:r>
            <a:endParaRPr lang="en-US" sz="1500" dirty="0"/>
          </a:p>
        </p:txBody>
      </p:sp>
      <p:sp>
        <p:nvSpPr>
          <p:cNvPr id="8" name="Text 5"/>
          <p:cNvSpPr txBox="1"/>
          <p:nvPr/>
        </p:nvSpPr>
        <p:spPr>
          <a:xfrm>
            <a:off x="822960" y="3246120"/>
            <a:ext cx="4937760" cy="274320"/>
          </a:xfrm>
          <a:prstGeom prst="rect">
            <a:avLst/>
          </a:prstGeom>
          <a:noFill/>
          <a:ln/>
        </p:spPr>
        <p:txBody>
          <a:bodyPr wrap="square" lIns="0" tIns="0" rIns="0" bIns="0" rtlCol="0" anchor="t"/>
          <a:lstStyle/>
          <a:p>
            <a:pPr indent="0" marL="0">
              <a:buNone/>
            </a:pPr>
            <a:r>
              <a:rPr lang="en-US" sz="1100" i="1" dirty="0">
                <a:solidFill>
                  <a:srgbClr val="5E6E66"/>
                </a:solidFill>
              </a:rPr>
              <a:t>Zhang et al. 2024; Zhu et al. 2023</a:t>
            </a:r>
            <a:endParaRPr lang="en-US" sz="1100" dirty="0"/>
          </a:p>
        </p:txBody>
      </p:sp>
      <p:sp>
        <p:nvSpPr>
          <p:cNvPr id="9" name="literature card 2"/>
          <p:cNvSpPr/>
          <p:nvPr/>
        </p:nvSpPr>
        <p:spPr>
          <a:xfrm>
            <a:off x="6172200" y="1371600"/>
            <a:ext cx="5440680" cy="2240280"/>
          </a:xfrm>
          <a:prstGeom prst="roundRect">
            <a:avLst>
              <a:gd name="adj" fmla="val 4898"/>
            </a:avLst>
          </a:prstGeom>
          <a:solidFill>
            <a:schemeClr val="bg2"/>
          </a:solidFill>
          <a:ln w="12700">
            <a:solidFill>
              <a:schemeClr val="bg2"/>
            </a:solidFill>
            <a:prstDash val="solid"/>
          </a:ln>
        </p:spPr>
      </p:sp>
      <p:sp>
        <p:nvSpPr>
          <p:cNvPr id="10" name="lit icon 2 circle"/>
          <p:cNvSpPr/>
          <p:nvPr/>
        </p:nvSpPr>
        <p:spPr>
          <a:xfrm>
            <a:off x="6446520" y="1645920"/>
            <a:ext cx="685800" cy="685800"/>
          </a:xfrm>
          <a:prstGeom prst="ellipse">
            <a:avLst/>
          </a:prstGeom>
          <a:solidFill>
            <a:schemeClr val="accent1"/>
          </a:solidFill>
          <a:ln w="12700">
            <a:solidFill>
              <a:schemeClr val="accent1"/>
            </a:solidFill>
            <a:prstDash val="solid"/>
          </a:ln>
        </p:spPr>
      </p:sp>
      <p:pic>
        <p:nvPicPr>
          <p:cNvPr id="11" name="lit icon 2" descr="preencoded.png">    </p:cNvPr>
          <p:cNvPicPr>
            <a:picLocks noChangeAspect="1"/>
          </p:cNvPicPr>
          <p:nvPr/>
        </p:nvPicPr>
        <p:blipFill>
          <a:blip r:embed="rId2"/>
          <a:stretch>
            <a:fillRect/>
          </a:stretch>
        </p:blipFill>
        <p:spPr>
          <a:xfrm>
            <a:off x="6611112" y="1810512"/>
            <a:ext cx="356616" cy="356616"/>
          </a:xfrm>
          <a:prstGeom prst="rect">
            <a:avLst/>
          </a:prstGeom>
        </p:spPr>
      </p:pic>
      <p:sp>
        <p:nvSpPr>
          <p:cNvPr id="12" name="Text 8"/>
          <p:cNvSpPr txBox="1"/>
          <p:nvPr/>
        </p:nvSpPr>
        <p:spPr>
          <a:xfrm>
            <a:off x="7315200" y="1645920"/>
            <a:ext cx="4114800" cy="685800"/>
          </a:xfrm>
          <a:prstGeom prst="rect">
            <a:avLst/>
          </a:prstGeom>
          <a:noFill/>
          <a:ln/>
        </p:spPr>
        <p:txBody>
          <a:bodyPr wrap="square" lIns="0" tIns="0" rIns="0" bIns="0" rtlCol="0" anchor="ctr"/>
          <a:lstStyle/>
          <a:p>
            <a:pPr indent="0" marL="0">
              <a:buNone/>
            </a:pPr>
            <a:r>
              <a:rPr lang="en-US" sz="1800" b="1" dirty="0">
                <a:solidFill>
                  <a:schemeClr val="accent1"/>
                </a:solidFill>
              </a:rPr>
              <a:t>Bot + light human help works</a:t>
            </a:r>
            <a:endParaRPr lang="en-US" sz="1800" dirty="0"/>
          </a:p>
        </p:txBody>
      </p:sp>
      <p:sp>
        <p:nvSpPr>
          <p:cNvPr id="13" name="Text 9"/>
          <p:cNvSpPr txBox="1"/>
          <p:nvPr/>
        </p:nvSpPr>
        <p:spPr>
          <a:xfrm>
            <a:off x="6446520" y="2468880"/>
            <a:ext cx="4937760" cy="777240"/>
          </a:xfrm>
          <a:prstGeom prst="rect">
            <a:avLst/>
          </a:prstGeom>
          <a:noFill/>
          <a:ln/>
        </p:spPr>
        <p:txBody>
          <a:bodyPr wrap="square" lIns="0" tIns="0" rIns="0" bIns="0" rtlCol="0" anchor="t"/>
          <a:lstStyle/>
          <a:p>
            <a:pPr indent="0" marL="0">
              <a:buNone/>
            </a:pPr>
            <a:r>
              <a:rPr lang="en-US" sz="1500" dirty="0">
                <a:solidFill>
                  <a:schemeClr val="tx1"/>
                </a:solidFill>
              </a:rPr>
              <a:t>In 3 studies with 643 people, a chatbot with light human intervention matched human-only service.</a:t>
            </a:r>
            <a:endParaRPr lang="en-US" sz="1500" dirty="0"/>
          </a:p>
        </p:txBody>
      </p:sp>
      <p:sp>
        <p:nvSpPr>
          <p:cNvPr id="14" name="Text 10"/>
          <p:cNvSpPr txBox="1"/>
          <p:nvPr/>
        </p:nvSpPr>
        <p:spPr>
          <a:xfrm>
            <a:off x="6446520" y="3246120"/>
            <a:ext cx="4937760" cy="274320"/>
          </a:xfrm>
          <a:prstGeom prst="rect">
            <a:avLst/>
          </a:prstGeom>
          <a:noFill/>
          <a:ln/>
        </p:spPr>
        <p:txBody>
          <a:bodyPr wrap="square" lIns="0" tIns="0" rIns="0" bIns="0" rtlCol="0" anchor="t"/>
          <a:lstStyle/>
          <a:p>
            <a:pPr indent="0" marL="0">
              <a:buNone/>
            </a:pPr>
            <a:r>
              <a:rPr lang="en-US" sz="1100" i="1" dirty="0">
                <a:solidFill>
                  <a:srgbClr val="5E6E66"/>
                </a:solidFill>
              </a:rPr>
              <a:t>Huang et al. 2024</a:t>
            </a:r>
            <a:endParaRPr lang="en-US" sz="1100" dirty="0"/>
          </a:p>
        </p:txBody>
      </p:sp>
      <p:sp>
        <p:nvSpPr>
          <p:cNvPr id="15" name="literature card 3"/>
          <p:cNvSpPr/>
          <p:nvPr/>
        </p:nvSpPr>
        <p:spPr>
          <a:xfrm>
            <a:off x="548640" y="3794760"/>
            <a:ext cx="5440680" cy="2240280"/>
          </a:xfrm>
          <a:prstGeom prst="roundRect">
            <a:avLst>
              <a:gd name="adj" fmla="val 4898"/>
            </a:avLst>
          </a:prstGeom>
          <a:solidFill>
            <a:schemeClr val="bg2"/>
          </a:solidFill>
          <a:ln w="12700">
            <a:solidFill>
              <a:schemeClr val="bg2"/>
            </a:solidFill>
            <a:prstDash val="solid"/>
          </a:ln>
        </p:spPr>
      </p:sp>
      <p:sp>
        <p:nvSpPr>
          <p:cNvPr id="16" name="lit icon 3 circle"/>
          <p:cNvSpPr/>
          <p:nvPr/>
        </p:nvSpPr>
        <p:spPr>
          <a:xfrm>
            <a:off x="822960" y="4069080"/>
            <a:ext cx="685800" cy="685800"/>
          </a:xfrm>
          <a:prstGeom prst="ellipse">
            <a:avLst/>
          </a:prstGeom>
          <a:solidFill>
            <a:schemeClr val="accent2"/>
          </a:solidFill>
          <a:ln w="12700">
            <a:solidFill>
              <a:schemeClr val="accent2"/>
            </a:solidFill>
            <a:prstDash val="solid"/>
          </a:ln>
        </p:spPr>
      </p:sp>
      <p:pic>
        <p:nvPicPr>
          <p:cNvPr id="17" name="lit icon 3" descr="preencoded.png">    </p:cNvPr>
          <p:cNvPicPr>
            <a:picLocks noChangeAspect="1"/>
          </p:cNvPicPr>
          <p:nvPr/>
        </p:nvPicPr>
        <p:blipFill>
          <a:blip r:embed="rId3"/>
          <a:stretch>
            <a:fillRect/>
          </a:stretch>
        </p:blipFill>
        <p:spPr>
          <a:xfrm>
            <a:off x="987552" y="4233672"/>
            <a:ext cx="356616" cy="356616"/>
          </a:xfrm>
          <a:prstGeom prst="rect">
            <a:avLst/>
          </a:prstGeom>
        </p:spPr>
      </p:pic>
      <p:sp>
        <p:nvSpPr>
          <p:cNvPr id="18" name="Text 13"/>
          <p:cNvSpPr txBox="1"/>
          <p:nvPr/>
        </p:nvSpPr>
        <p:spPr>
          <a:xfrm>
            <a:off x="1691640" y="4069080"/>
            <a:ext cx="4114800" cy="685800"/>
          </a:xfrm>
          <a:prstGeom prst="rect">
            <a:avLst/>
          </a:prstGeom>
          <a:noFill/>
          <a:ln/>
        </p:spPr>
        <p:txBody>
          <a:bodyPr wrap="square" lIns="0" tIns="0" rIns="0" bIns="0" rtlCol="0" anchor="ctr"/>
          <a:lstStyle/>
          <a:p>
            <a:pPr indent="0" marL="0">
              <a:buNone/>
            </a:pPr>
            <a:r>
              <a:rPr lang="en-US" sz="1800" b="1" dirty="0">
                <a:solidFill>
                  <a:schemeClr val="accent1"/>
                </a:solidFill>
              </a:rPr>
              <a:t>Local chatbots still struggle</a:t>
            </a:r>
            <a:endParaRPr lang="en-US" sz="1800" dirty="0"/>
          </a:p>
        </p:txBody>
      </p:sp>
      <p:sp>
        <p:nvSpPr>
          <p:cNvPr id="19" name="Text 14"/>
          <p:cNvSpPr txBox="1"/>
          <p:nvPr/>
        </p:nvSpPr>
        <p:spPr>
          <a:xfrm>
            <a:off x="822960" y="4892040"/>
            <a:ext cx="4937760" cy="777240"/>
          </a:xfrm>
          <a:prstGeom prst="rect">
            <a:avLst/>
          </a:prstGeom>
          <a:noFill/>
          <a:ln/>
        </p:spPr>
        <p:txBody>
          <a:bodyPr wrap="square" lIns="0" tIns="0" rIns="0" bIns="0" rtlCol="0" anchor="t"/>
          <a:lstStyle/>
          <a:p>
            <a:pPr indent="0" marL="0">
              <a:buNone/>
            </a:pPr>
            <a:r>
              <a:rPr lang="en-US" sz="1500" dirty="0">
                <a:solidFill>
                  <a:schemeClr val="tx1"/>
                </a:solidFill>
              </a:rPr>
              <a:t>Filipino users of Shopee and Lazada bots reported problems with problem resolution and understanding.</a:t>
            </a:r>
            <a:endParaRPr lang="en-US" sz="1500" dirty="0"/>
          </a:p>
        </p:txBody>
      </p:sp>
      <p:sp>
        <p:nvSpPr>
          <p:cNvPr id="20" name="Text 15"/>
          <p:cNvSpPr txBox="1"/>
          <p:nvPr/>
        </p:nvSpPr>
        <p:spPr>
          <a:xfrm>
            <a:off x="822960" y="5669280"/>
            <a:ext cx="4937760" cy="274320"/>
          </a:xfrm>
          <a:prstGeom prst="rect">
            <a:avLst/>
          </a:prstGeom>
          <a:noFill/>
          <a:ln/>
        </p:spPr>
        <p:txBody>
          <a:bodyPr wrap="square" lIns="0" tIns="0" rIns="0" bIns="0" rtlCol="0" anchor="t"/>
          <a:lstStyle/>
          <a:p>
            <a:pPr indent="0" marL="0">
              <a:buNone/>
            </a:pPr>
            <a:r>
              <a:rPr lang="en-US" sz="1100" i="1" dirty="0">
                <a:solidFill>
                  <a:srgbClr val="5E6E66"/>
                </a:solidFill>
              </a:rPr>
              <a:t>DLSU SHS Research Congress 2024</a:t>
            </a:r>
            <a:endParaRPr lang="en-US" sz="1100" dirty="0"/>
          </a:p>
        </p:txBody>
      </p:sp>
      <p:sp>
        <p:nvSpPr>
          <p:cNvPr id="21" name="literature card 4"/>
          <p:cNvSpPr/>
          <p:nvPr/>
        </p:nvSpPr>
        <p:spPr>
          <a:xfrm>
            <a:off x="6172200" y="3794760"/>
            <a:ext cx="5440680" cy="2240280"/>
          </a:xfrm>
          <a:prstGeom prst="roundRect">
            <a:avLst>
              <a:gd name="adj" fmla="val 4898"/>
            </a:avLst>
          </a:prstGeom>
          <a:solidFill>
            <a:schemeClr val="bg2"/>
          </a:solidFill>
          <a:ln w="12700">
            <a:solidFill>
              <a:schemeClr val="bg2"/>
            </a:solidFill>
            <a:prstDash val="solid"/>
          </a:ln>
        </p:spPr>
      </p:sp>
      <p:sp>
        <p:nvSpPr>
          <p:cNvPr id="22" name="lit icon 4 circle"/>
          <p:cNvSpPr/>
          <p:nvPr/>
        </p:nvSpPr>
        <p:spPr>
          <a:xfrm>
            <a:off x="6446520" y="4069080"/>
            <a:ext cx="685800" cy="685800"/>
          </a:xfrm>
          <a:prstGeom prst="ellipse">
            <a:avLst/>
          </a:prstGeom>
          <a:solidFill>
            <a:schemeClr val="accent1"/>
          </a:solidFill>
          <a:ln w="12700">
            <a:solidFill>
              <a:schemeClr val="accent1"/>
            </a:solidFill>
            <a:prstDash val="solid"/>
          </a:ln>
        </p:spPr>
      </p:sp>
      <p:pic>
        <p:nvPicPr>
          <p:cNvPr id="23" name="lit icon 4" descr="preencoded.png">    </p:cNvPr>
          <p:cNvPicPr>
            <a:picLocks noChangeAspect="1"/>
          </p:cNvPicPr>
          <p:nvPr/>
        </p:nvPicPr>
        <p:blipFill>
          <a:blip r:embed="rId4"/>
          <a:stretch>
            <a:fillRect/>
          </a:stretch>
        </p:blipFill>
        <p:spPr>
          <a:xfrm>
            <a:off x="6611112" y="4233672"/>
            <a:ext cx="356616" cy="356616"/>
          </a:xfrm>
          <a:prstGeom prst="rect">
            <a:avLst/>
          </a:prstGeom>
        </p:spPr>
      </p:pic>
      <p:sp>
        <p:nvSpPr>
          <p:cNvPr id="24" name="Text 18"/>
          <p:cNvSpPr txBox="1"/>
          <p:nvPr/>
        </p:nvSpPr>
        <p:spPr>
          <a:xfrm>
            <a:off x="7315200" y="4069080"/>
            <a:ext cx="4114800" cy="685800"/>
          </a:xfrm>
          <a:prstGeom prst="rect">
            <a:avLst/>
          </a:prstGeom>
          <a:noFill/>
          <a:ln/>
        </p:spPr>
        <p:txBody>
          <a:bodyPr wrap="square" lIns="0" tIns="0" rIns="0" bIns="0" rtlCol="0" anchor="ctr"/>
          <a:lstStyle/>
          <a:p>
            <a:pPr indent="0" marL="0">
              <a:buNone/>
            </a:pPr>
            <a:r>
              <a:rPr lang="en-US" sz="1800" b="1" dirty="0">
                <a:solidFill>
                  <a:schemeClr val="accent1"/>
                </a:solidFill>
              </a:rPr>
              <a:t>Taglish is harder for AI</a:t>
            </a:r>
            <a:endParaRPr lang="en-US" sz="1800" dirty="0"/>
          </a:p>
        </p:txBody>
      </p:sp>
      <p:sp>
        <p:nvSpPr>
          <p:cNvPr id="25" name="Text 19"/>
          <p:cNvSpPr txBox="1"/>
          <p:nvPr/>
        </p:nvSpPr>
        <p:spPr>
          <a:xfrm>
            <a:off x="6446520" y="4892040"/>
            <a:ext cx="4937760" cy="777240"/>
          </a:xfrm>
          <a:prstGeom prst="rect">
            <a:avLst/>
          </a:prstGeom>
          <a:noFill/>
          <a:ln/>
        </p:spPr>
        <p:txBody>
          <a:bodyPr wrap="square" lIns="0" tIns="0" rIns="0" bIns="0" rtlCol="0" anchor="t"/>
          <a:lstStyle/>
          <a:p>
            <a:pPr indent="0" marL="0">
              <a:buNone/>
            </a:pPr>
            <a:r>
              <a:rPr lang="en-US" sz="1500" dirty="0">
                <a:solidFill>
                  <a:schemeClr val="tx1"/>
                </a:solidFill>
              </a:rPr>
              <a:t>Language models perform unevenly on Tagalog and code-switched Taglish text.</a:t>
            </a:r>
            <a:endParaRPr lang="en-US" sz="1500" dirty="0"/>
          </a:p>
        </p:txBody>
      </p:sp>
      <p:sp>
        <p:nvSpPr>
          <p:cNvPr id="26" name="Text 20"/>
          <p:cNvSpPr txBox="1"/>
          <p:nvPr/>
        </p:nvSpPr>
        <p:spPr>
          <a:xfrm>
            <a:off x="6446520" y="5669280"/>
            <a:ext cx="4937760" cy="274320"/>
          </a:xfrm>
          <a:prstGeom prst="rect">
            <a:avLst/>
          </a:prstGeom>
          <a:noFill/>
          <a:ln/>
        </p:spPr>
        <p:txBody>
          <a:bodyPr wrap="square" lIns="0" tIns="0" rIns="0" bIns="0" rtlCol="0" anchor="t"/>
          <a:lstStyle/>
          <a:p>
            <a:pPr indent="0" marL="0">
              <a:buNone/>
            </a:pPr>
            <a:r>
              <a:rPr lang="en-US" sz="1100" i="1" dirty="0">
                <a:solidFill>
                  <a:srgbClr val="5E6E66"/>
                </a:solidFill>
              </a:rPr>
              <a:t>Montalan et al. 2025; Layacan et al. 2024</a:t>
            </a:r>
            <a:endParaRPr lang="en-US" sz="11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A8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accent1"/>
                </a:solidFill>
                <a:latin typeface="Cambria" pitchFamily="34" charset="0"/>
                <a:ea typeface="Cambria" pitchFamily="34" charset="-122"/>
                <a:cs typeface="Cambria" pitchFamily="34" charset="-120"/>
              </a:rPr>
              <a:t>Similar studies and the research gap</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3291840"/>
                <a:gridCol w="1554480"/>
                <a:gridCol w="2103120"/>
                <a:gridCol w="4114800"/>
              </a:tblGrid>
              <a:tr h="457200">
                <a:tc>
                  <a:txBody>
                    <a:bodyPr/>
                    <a:lstStyle/>
                    <a:p>
                      <a:pPr indent="0" marL="0">
                        <a:buNone/>
                      </a:pPr>
                      <a:r>
                        <a:rPr lang="en-US" sz="1400" b="1" dirty="0">
                          <a:solidFill>
                            <a:schemeClr val="bg1"/>
                          </a:solidFill>
                        </a:rPr>
                        <a:t>Study / system</a:t>
                      </a:r>
                      <a:endParaRPr lang="en-US" sz="1400" dirty="0"/>
                    </a:p>
                  </a:txBody>
                  <a:tcPr marL="73152" marR="73152" marT="73152" marB="73152" anchor="ctr">
                    <a:lnL w="9525" cap="flat" cmpd="sng" algn="ctr">
                      <a:solidFill>
                        <a:srgbClr val="C9D6CF"/>
                      </a:solidFill>
                      <a:prstDash val="solid"/>
                      <a:round/>
                      <a:headEnd type="none" w="med" len="med"/>
                      <a:tailEnd type="none" w="med" len="med"/>
                    </a:lnL>
                    <a:lnR w="9525" cap="flat" cmpd="sng" algn="ctr">
                      <a:solidFill>
                        <a:srgbClr val="C9D6CF"/>
                      </a:solidFill>
                      <a:prstDash val="solid"/>
                      <a:round/>
                      <a:headEnd type="none" w="med" len="med"/>
                      <a:tailEnd type="none" w="med" len="med"/>
                    </a:lnR>
                    <a:lnT w="9525" cap="flat" cmpd="sng" algn="ctr">
                      <a:solidFill>
                        <a:srgbClr val="C9D6CF"/>
                      </a:solidFill>
                      <a:prstDash val="solid"/>
                      <a:round/>
                      <a:headEnd type="none" w="med" len="med"/>
                      <a:tailEnd type="none" w="med" len="med"/>
                    </a:lnT>
                    <a:lnB w="9525" cap="flat" cmpd="sng" algn="ctr">
                      <a:solidFill>
                        <a:srgbClr val="C9D6CF"/>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Where</a:t>
                      </a:r>
                      <a:endParaRPr lang="en-US" sz="1400" dirty="0"/>
                    </a:p>
                  </a:txBody>
                  <a:tcPr marL="73152" marR="73152" marT="73152" marB="73152" anchor="ctr">
                    <a:lnL w="9525" cap="flat" cmpd="sng" algn="ctr">
                      <a:solidFill>
                        <a:srgbClr val="C9D6CF"/>
                      </a:solidFill>
                      <a:prstDash val="solid"/>
                      <a:round/>
                      <a:headEnd type="none" w="med" len="med"/>
                      <a:tailEnd type="none" w="med" len="med"/>
                    </a:lnL>
                    <a:lnR w="9525" cap="flat" cmpd="sng" algn="ctr">
                      <a:solidFill>
                        <a:srgbClr val="C9D6CF"/>
                      </a:solidFill>
                      <a:prstDash val="solid"/>
                      <a:round/>
                      <a:headEnd type="none" w="med" len="med"/>
                      <a:tailEnd type="none" w="med" len="med"/>
                    </a:lnR>
                    <a:lnT w="9525" cap="flat" cmpd="sng" algn="ctr">
                      <a:solidFill>
                        <a:srgbClr val="C9D6CF"/>
                      </a:solidFill>
                      <a:prstDash val="solid"/>
                      <a:round/>
                      <a:headEnd type="none" w="med" len="med"/>
                      <a:tailEnd type="none" w="med" len="med"/>
                    </a:lnT>
                    <a:lnB w="9525" cap="flat" cmpd="sng" algn="ctr">
                      <a:solidFill>
                        <a:srgbClr val="C9D6CF"/>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Used in the PH?</a:t>
                      </a:r>
                      <a:endParaRPr lang="en-US" sz="1400" dirty="0"/>
                    </a:p>
                  </a:txBody>
                  <a:tcPr marL="73152" marR="73152" marT="73152" marB="73152" anchor="ctr">
                    <a:lnL w="9525" cap="flat" cmpd="sng" algn="ctr">
                      <a:solidFill>
                        <a:srgbClr val="C9D6CF"/>
                      </a:solidFill>
                      <a:prstDash val="solid"/>
                      <a:round/>
                      <a:headEnd type="none" w="med" len="med"/>
                      <a:tailEnd type="none" w="med" len="med"/>
                    </a:lnL>
                    <a:lnR w="9525" cap="flat" cmpd="sng" algn="ctr">
                      <a:solidFill>
                        <a:srgbClr val="C9D6CF"/>
                      </a:solidFill>
                      <a:prstDash val="solid"/>
                      <a:round/>
                      <a:headEnd type="none" w="med" len="med"/>
                      <a:tailEnd type="none" w="med" len="med"/>
                    </a:lnR>
                    <a:lnT w="9525" cap="flat" cmpd="sng" algn="ctr">
                      <a:solidFill>
                        <a:srgbClr val="C9D6CF"/>
                      </a:solidFill>
                      <a:prstDash val="solid"/>
                      <a:round/>
                      <a:headEnd type="none" w="med" len="med"/>
                      <a:tailEnd type="none" w="med" len="med"/>
                    </a:lnT>
                    <a:lnB w="9525" cap="flat" cmpd="sng" algn="ctr">
                      <a:solidFill>
                        <a:srgbClr val="C9D6CF"/>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What it shows</a:t>
                      </a:r>
                      <a:endParaRPr lang="en-US" sz="1400" dirty="0"/>
                    </a:p>
                  </a:txBody>
                  <a:tcPr marL="73152" marR="73152" marT="73152" marB="73152" anchor="ctr">
                    <a:lnL w="9525" cap="flat" cmpd="sng" algn="ctr">
                      <a:solidFill>
                        <a:srgbClr val="C9D6CF"/>
                      </a:solidFill>
                      <a:prstDash val="solid"/>
                      <a:round/>
                      <a:headEnd type="none" w="med" len="med"/>
                      <a:tailEnd type="none" w="med" len="med"/>
                    </a:lnL>
                    <a:lnR w="9525" cap="flat" cmpd="sng" algn="ctr">
                      <a:solidFill>
                        <a:srgbClr val="C9D6CF"/>
                      </a:solidFill>
                      <a:prstDash val="solid"/>
                      <a:round/>
                      <a:headEnd type="none" w="med" len="med"/>
                      <a:tailEnd type="none" w="med" len="med"/>
                    </a:lnR>
                    <a:lnT w="9525" cap="flat" cmpd="sng" algn="ctr">
                      <a:solidFill>
                        <a:srgbClr val="C9D6CF"/>
                      </a:solidFill>
                      <a:prstDash val="solid"/>
                      <a:round/>
                      <a:headEnd type="none" w="med" len="med"/>
                      <a:tailEnd type="none" w="med" len="med"/>
                    </a:lnT>
                    <a:lnB w="9525" cap="flat" cmpd="sng" algn="ctr">
                      <a:solidFill>
                        <a:srgbClr val="C9D6CF"/>
                      </a:solidFill>
                      <a:prstDash val="solid"/>
                      <a:round/>
                      <a:headEnd type="none" w="med" len="med"/>
                      <a:tailEnd type="none" w="med" len="med"/>
                    </a:lnB>
                    <a:solidFill>
                      <a:schemeClr val="accent1"/>
                    </a:solidFill>
                  </a:tcPr>
                </a:tc>
              </a:tr>
              <a:tr h="457200">
                <a:tc>
                  <a:txBody>
                    <a:bodyPr/>
                    <a:lstStyle/>
                    <a:p>
                      <a:pPr indent="0" marL="0">
                        <a:buNone/>
                      </a:pPr>
                      <a:r>
                        <a:rPr lang="en-US" sz="1300" dirty="0">
                          <a:solidFill>
                            <a:srgbClr val="1B2A24"/>
                          </a:solidFill>
                        </a:rPr>
                        <a:t>Chatbots in online shops (IJEAST 2025)</a:t>
                      </a:r>
                      <a:endParaRPr lang="en-US" sz="1300" dirty="0"/>
                    </a:p>
                  </a:txBody>
                  <a:tcPr marL="73152" marR="73152" marT="73152" marB="73152" anchor="ctr">
                    <a:lnL w="9525" cap="flat" cmpd="sng" algn="ctr">
                      <a:solidFill>
                        <a:srgbClr val="C9D6CF"/>
                      </a:solidFill>
                      <a:prstDash val="solid"/>
                      <a:round/>
                      <a:headEnd type="none" w="med" len="med"/>
                      <a:tailEnd type="none" w="med" len="med"/>
                    </a:lnL>
                    <a:lnR w="9525" cap="flat" cmpd="sng" algn="ctr">
                      <a:solidFill>
                        <a:srgbClr val="C9D6CF"/>
                      </a:solidFill>
                      <a:prstDash val="solid"/>
                      <a:round/>
                      <a:headEnd type="none" w="med" len="med"/>
                      <a:tailEnd type="none" w="med" len="med"/>
                    </a:lnR>
                    <a:lnT w="9525" cap="flat" cmpd="sng" algn="ctr">
                      <a:solidFill>
                        <a:srgbClr val="C9D6CF"/>
                      </a:solidFill>
                      <a:prstDash val="solid"/>
                      <a:round/>
                      <a:headEnd type="none" w="med" len="med"/>
                      <a:tailEnd type="none" w="med" len="med"/>
                    </a:lnT>
                    <a:lnB w="9525" cap="flat" cmpd="sng" algn="ctr">
                      <a:solidFill>
                        <a:srgbClr val="C9D6CF"/>
                      </a:solidFill>
                      <a:prstDash val="solid"/>
                      <a:round/>
                      <a:headEnd type="none" w="med" len="med"/>
                      <a:tailEnd type="none" w="med" len="med"/>
                    </a:lnB>
                    <a:solidFill>
                      <a:srgbClr val="FFFFFF"/>
                    </a:solidFill>
                  </a:tcPr>
                </a:tc>
                <a:tc>
                  <a:txBody>
                    <a:bodyPr/>
                    <a:lstStyle/>
                    <a:p>
                      <a:pPr indent="0" marL="0">
                        <a:buNone/>
                      </a:pPr>
                      <a:r>
                        <a:rPr lang="en-US" sz="1300" dirty="0">
                          <a:solidFill>
                            <a:srgbClr val="1B2A24"/>
                          </a:solidFill>
                        </a:rPr>
                        <a:t>Nueva Ecija</a:t>
                      </a:r>
                      <a:endParaRPr lang="en-US" sz="1300" dirty="0"/>
                    </a:p>
                  </a:txBody>
                  <a:tcPr marL="73152" marR="73152" marT="73152" marB="73152" anchor="ctr">
                    <a:lnL w="9525" cap="flat" cmpd="sng" algn="ctr">
                      <a:solidFill>
                        <a:srgbClr val="C9D6CF"/>
                      </a:solidFill>
                      <a:prstDash val="solid"/>
                      <a:round/>
                      <a:headEnd type="none" w="med" len="med"/>
                      <a:tailEnd type="none" w="med" len="med"/>
                    </a:lnL>
                    <a:lnR w="9525" cap="flat" cmpd="sng" algn="ctr">
                      <a:solidFill>
                        <a:srgbClr val="C9D6CF"/>
                      </a:solidFill>
                      <a:prstDash val="solid"/>
                      <a:round/>
                      <a:headEnd type="none" w="med" len="med"/>
                      <a:tailEnd type="none" w="med" len="med"/>
                    </a:lnR>
                    <a:lnT w="9525" cap="flat" cmpd="sng" algn="ctr">
                      <a:solidFill>
                        <a:srgbClr val="C9D6CF"/>
                      </a:solidFill>
                      <a:prstDash val="solid"/>
                      <a:round/>
                      <a:headEnd type="none" w="med" len="med"/>
                      <a:tailEnd type="none" w="med" len="med"/>
                    </a:lnT>
                    <a:lnB w="9525" cap="flat" cmpd="sng" algn="ctr">
                      <a:solidFill>
                        <a:srgbClr val="C9D6CF"/>
                      </a:solidFill>
                      <a:prstDash val="solid"/>
                      <a:round/>
                      <a:headEnd type="none" w="med" len="med"/>
                      <a:tailEnd type="none" w="med" len="med"/>
                    </a:lnB>
                    <a:solidFill>
                      <a:srgbClr val="FFFFFF"/>
                    </a:solidFill>
                  </a:tcPr>
                </a:tc>
                <a:tc>
                  <a:txBody>
                    <a:bodyPr/>
                    <a:lstStyle/>
                    <a:p>
                      <a:pPr indent="0" marL="0">
                        <a:buNone/>
                      </a:pPr>
                      <a:r>
                        <a:rPr lang="en-US" sz="1300" dirty="0">
                          <a:solidFill>
                            <a:srgbClr val="1B2A24"/>
                          </a:solidFill>
                        </a:rPr>
                        <a:t>Yes</a:t>
                      </a:r>
                      <a:endParaRPr lang="en-US" sz="1300" dirty="0"/>
                    </a:p>
                  </a:txBody>
                  <a:tcPr marL="73152" marR="73152" marT="73152" marB="73152" anchor="ctr">
                    <a:lnL w="9525" cap="flat" cmpd="sng" algn="ctr">
                      <a:solidFill>
                        <a:srgbClr val="C9D6CF"/>
                      </a:solidFill>
                      <a:prstDash val="solid"/>
                      <a:round/>
                      <a:headEnd type="none" w="med" len="med"/>
                      <a:tailEnd type="none" w="med" len="med"/>
                    </a:lnL>
                    <a:lnR w="9525" cap="flat" cmpd="sng" algn="ctr">
                      <a:solidFill>
                        <a:srgbClr val="C9D6CF"/>
                      </a:solidFill>
                      <a:prstDash val="solid"/>
                      <a:round/>
                      <a:headEnd type="none" w="med" len="med"/>
                      <a:tailEnd type="none" w="med" len="med"/>
                    </a:lnR>
                    <a:lnT w="9525" cap="flat" cmpd="sng" algn="ctr">
                      <a:solidFill>
                        <a:srgbClr val="C9D6CF"/>
                      </a:solidFill>
                      <a:prstDash val="solid"/>
                      <a:round/>
                      <a:headEnd type="none" w="med" len="med"/>
                      <a:tailEnd type="none" w="med" len="med"/>
                    </a:lnT>
                    <a:lnB w="9525" cap="flat" cmpd="sng" algn="ctr">
                      <a:solidFill>
                        <a:srgbClr val="C9D6CF"/>
                      </a:solidFill>
                      <a:prstDash val="solid"/>
                      <a:round/>
                      <a:headEnd type="none" w="med" len="med"/>
                      <a:tailEnd type="none" w="med" len="med"/>
                    </a:lnB>
                    <a:solidFill>
                      <a:srgbClr val="FFFFFF"/>
                    </a:solidFill>
                  </a:tcPr>
                </a:tc>
                <a:tc>
                  <a:txBody>
                    <a:bodyPr/>
                    <a:lstStyle/>
                    <a:p>
                      <a:pPr indent="0" marL="0">
                        <a:buNone/>
                      </a:pPr>
                      <a:r>
                        <a:rPr lang="en-US" sz="1300" dirty="0">
                          <a:solidFill>
                            <a:srgbClr val="1B2A24"/>
                          </a:solidFill>
                        </a:rPr>
                        <a:t>Shoppers rated live shop chatbots well (ISO/IEC 25010)</a:t>
                      </a:r>
                      <a:endParaRPr lang="en-US" sz="1300" dirty="0"/>
                    </a:p>
                  </a:txBody>
                  <a:tcPr marL="73152" marR="73152" marT="73152" marB="73152" anchor="ctr">
                    <a:lnL w="9525" cap="flat" cmpd="sng" algn="ctr">
                      <a:solidFill>
                        <a:srgbClr val="C9D6CF"/>
                      </a:solidFill>
                      <a:prstDash val="solid"/>
                      <a:round/>
                      <a:headEnd type="none" w="med" len="med"/>
                      <a:tailEnd type="none" w="med" len="med"/>
                    </a:lnL>
                    <a:lnR w="9525" cap="flat" cmpd="sng" algn="ctr">
                      <a:solidFill>
                        <a:srgbClr val="C9D6CF"/>
                      </a:solidFill>
                      <a:prstDash val="solid"/>
                      <a:round/>
                      <a:headEnd type="none" w="med" len="med"/>
                      <a:tailEnd type="none" w="med" len="med"/>
                    </a:lnR>
                    <a:lnT w="9525" cap="flat" cmpd="sng" algn="ctr">
                      <a:solidFill>
                        <a:srgbClr val="C9D6CF"/>
                      </a:solidFill>
                      <a:prstDash val="solid"/>
                      <a:round/>
                      <a:headEnd type="none" w="med" len="med"/>
                      <a:tailEnd type="none" w="med" len="med"/>
                    </a:lnT>
                    <a:lnB w="9525" cap="flat" cmpd="sng" algn="ctr">
                      <a:solidFill>
                        <a:srgbClr val="C9D6CF"/>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B2A24"/>
                          </a:solidFill>
                        </a:rPr>
                        <a:t>Shopee and Lazada chatbots (DLSU 2024)</a:t>
                      </a:r>
                      <a:endParaRPr lang="en-US" sz="1300" dirty="0"/>
                    </a:p>
                  </a:txBody>
                  <a:tcPr marL="73152" marR="73152" marT="73152" marB="73152" anchor="ctr">
                    <a:lnL w="9525" cap="flat" cmpd="sng" algn="ctr">
                      <a:solidFill>
                        <a:srgbClr val="C9D6CF"/>
                      </a:solidFill>
                      <a:prstDash val="solid"/>
                      <a:round/>
                      <a:headEnd type="none" w="med" len="med"/>
                      <a:tailEnd type="none" w="med" len="med"/>
                    </a:lnL>
                    <a:lnR w="9525" cap="flat" cmpd="sng" algn="ctr">
                      <a:solidFill>
                        <a:srgbClr val="C9D6CF"/>
                      </a:solidFill>
                      <a:prstDash val="solid"/>
                      <a:round/>
                      <a:headEnd type="none" w="med" len="med"/>
                      <a:tailEnd type="none" w="med" len="med"/>
                    </a:lnR>
                    <a:lnT w="9525" cap="flat" cmpd="sng" algn="ctr">
                      <a:solidFill>
                        <a:srgbClr val="C9D6CF"/>
                      </a:solidFill>
                      <a:prstDash val="solid"/>
                      <a:round/>
                      <a:headEnd type="none" w="med" len="med"/>
                      <a:tailEnd type="none" w="med" len="med"/>
                    </a:lnT>
                    <a:lnB w="9525" cap="flat" cmpd="sng" algn="ctr">
                      <a:solidFill>
                        <a:srgbClr val="C9D6CF"/>
                      </a:solidFill>
                      <a:prstDash val="solid"/>
                      <a:round/>
                      <a:headEnd type="none" w="med" len="med"/>
                      <a:tailEnd type="none" w="med" len="med"/>
                    </a:lnB>
                    <a:solidFill>
                      <a:srgbClr val="FFFFFF"/>
                    </a:solidFill>
                  </a:tcPr>
                </a:tc>
                <a:tc>
                  <a:txBody>
                    <a:bodyPr/>
                    <a:lstStyle/>
                    <a:p>
                      <a:pPr indent="0" marL="0">
                        <a:buNone/>
                      </a:pPr>
                      <a:r>
                        <a:rPr lang="en-US" sz="1300" dirty="0">
                          <a:solidFill>
                            <a:srgbClr val="1B2A24"/>
                          </a:solidFill>
                        </a:rPr>
                        <a:t>Philippines</a:t>
                      </a:r>
                      <a:endParaRPr lang="en-US" sz="1300" dirty="0"/>
                    </a:p>
                  </a:txBody>
                  <a:tcPr marL="73152" marR="73152" marT="73152" marB="73152" anchor="ctr">
                    <a:lnL w="9525" cap="flat" cmpd="sng" algn="ctr">
                      <a:solidFill>
                        <a:srgbClr val="C9D6CF"/>
                      </a:solidFill>
                      <a:prstDash val="solid"/>
                      <a:round/>
                      <a:headEnd type="none" w="med" len="med"/>
                      <a:tailEnd type="none" w="med" len="med"/>
                    </a:lnL>
                    <a:lnR w="9525" cap="flat" cmpd="sng" algn="ctr">
                      <a:solidFill>
                        <a:srgbClr val="C9D6CF"/>
                      </a:solidFill>
                      <a:prstDash val="solid"/>
                      <a:round/>
                      <a:headEnd type="none" w="med" len="med"/>
                      <a:tailEnd type="none" w="med" len="med"/>
                    </a:lnR>
                    <a:lnT w="9525" cap="flat" cmpd="sng" algn="ctr">
                      <a:solidFill>
                        <a:srgbClr val="C9D6CF"/>
                      </a:solidFill>
                      <a:prstDash val="solid"/>
                      <a:round/>
                      <a:headEnd type="none" w="med" len="med"/>
                      <a:tailEnd type="none" w="med" len="med"/>
                    </a:lnT>
                    <a:lnB w="9525" cap="flat" cmpd="sng" algn="ctr">
                      <a:solidFill>
                        <a:srgbClr val="C9D6CF"/>
                      </a:solidFill>
                      <a:prstDash val="solid"/>
                      <a:round/>
                      <a:headEnd type="none" w="med" len="med"/>
                      <a:tailEnd type="none" w="med" len="med"/>
                    </a:lnB>
                    <a:solidFill>
                      <a:srgbClr val="FFFFFF"/>
                    </a:solidFill>
                  </a:tcPr>
                </a:tc>
                <a:tc>
                  <a:txBody>
                    <a:bodyPr/>
                    <a:lstStyle/>
                    <a:p>
                      <a:pPr indent="0" marL="0">
                        <a:buNone/>
                      </a:pPr>
                      <a:r>
                        <a:rPr lang="en-US" sz="1300" dirty="0">
                          <a:solidFill>
                            <a:srgbClr val="1B2A24"/>
                          </a:solidFill>
                        </a:rPr>
                        <a:t>Yes, large platforms</a:t>
                      </a:r>
                      <a:endParaRPr lang="en-US" sz="1300" dirty="0"/>
                    </a:p>
                  </a:txBody>
                  <a:tcPr marL="73152" marR="73152" marT="73152" marB="73152" anchor="ctr">
                    <a:lnL w="9525" cap="flat" cmpd="sng" algn="ctr">
                      <a:solidFill>
                        <a:srgbClr val="C9D6CF"/>
                      </a:solidFill>
                      <a:prstDash val="solid"/>
                      <a:round/>
                      <a:headEnd type="none" w="med" len="med"/>
                      <a:tailEnd type="none" w="med" len="med"/>
                    </a:lnL>
                    <a:lnR w="9525" cap="flat" cmpd="sng" algn="ctr">
                      <a:solidFill>
                        <a:srgbClr val="C9D6CF"/>
                      </a:solidFill>
                      <a:prstDash val="solid"/>
                      <a:round/>
                      <a:headEnd type="none" w="med" len="med"/>
                      <a:tailEnd type="none" w="med" len="med"/>
                    </a:lnR>
                    <a:lnT w="9525" cap="flat" cmpd="sng" algn="ctr">
                      <a:solidFill>
                        <a:srgbClr val="C9D6CF"/>
                      </a:solidFill>
                      <a:prstDash val="solid"/>
                      <a:round/>
                      <a:headEnd type="none" w="med" len="med"/>
                      <a:tailEnd type="none" w="med" len="med"/>
                    </a:lnT>
                    <a:lnB w="9525" cap="flat" cmpd="sng" algn="ctr">
                      <a:solidFill>
                        <a:srgbClr val="C9D6CF"/>
                      </a:solidFill>
                      <a:prstDash val="solid"/>
                      <a:round/>
                      <a:headEnd type="none" w="med" len="med"/>
                      <a:tailEnd type="none" w="med" len="med"/>
                    </a:lnB>
                    <a:solidFill>
                      <a:srgbClr val="FFFFFF"/>
                    </a:solidFill>
                  </a:tcPr>
                </a:tc>
                <a:tc>
                  <a:txBody>
                    <a:bodyPr/>
                    <a:lstStyle/>
                    <a:p>
                      <a:pPr indent="0" marL="0">
                        <a:buNone/>
                      </a:pPr>
                      <a:r>
                        <a:rPr lang="en-US" sz="1300" dirty="0">
                          <a:solidFill>
                            <a:srgbClr val="1B2A24"/>
                          </a:solidFill>
                        </a:rPr>
                        <a:t>Users struggled with local dialogue</a:t>
                      </a:r>
                      <a:endParaRPr lang="en-US" sz="1300" dirty="0"/>
                    </a:p>
                  </a:txBody>
                  <a:tcPr marL="73152" marR="73152" marT="73152" marB="73152" anchor="ctr">
                    <a:lnL w="9525" cap="flat" cmpd="sng" algn="ctr">
                      <a:solidFill>
                        <a:srgbClr val="C9D6CF"/>
                      </a:solidFill>
                      <a:prstDash val="solid"/>
                      <a:round/>
                      <a:headEnd type="none" w="med" len="med"/>
                      <a:tailEnd type="none" w="med" len="med"/>
                    </a:lnL>
                    <a:lnR w="9525" cap="flat" cmpd="sng" algn="ctr">
                      <a:solidFill>
                        <a:srgbClr val="C9D6CF"/>
                      </a:solidFill>
                      <a:prstDash val="solid"/>
                      <a:round/>
                      <a:headEnd type="none" w="med" len="med"/>
                      <a:tailEnd type="none" w="med" len="med"/>
                    </a:lnR>
                    <a:lnT w="9525" cap="flat" cmpd="sng" algn="ctr">
                      <a:solidFill>
                        <a:srgbClr val="C9D6CF"/>
                      </a:solidFill>
                      <a:prstDash val="solid"/>
                      <a:round/>
                      <a:headEnd type="none" w="med" len="med"/>
                      <a:tailEnd type="none" w="med" len="med"/>
                    </a:lnT>
                    <a:lnB w="9525" cap="flat" cmpd="sng" algn="ctr">
                      <a:solidFill>
                        <a:srgbClr val="C9D6CF"/>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B2A24"/>
                          </a:solidFill>
                        </a:rPr>
                        <a:t>Taglish RAG benchmark (JAIT 2025)</a:t>
                      </a:r>
                      <a:endParaRPr lang="en-US" sz="1300" dirty="0"/>
                    </a:p>
                  </a:txBody>
                  <a:tcPr marL="73152" marR="73152" marT="73152" marB="73152" anchor="ctr">
                    <a:lnL w="9525" cap="flat" cmpd="sng" algn="ctr">
                      <a:solidFill>
                        <a:srgbClr val="C9D6CF"/>
                      </a:solidFill>
                      <a:prstDash val="solid"/>
                      <a:round/>
                      <a:headEnd type="none" w="med" len="med"/>
                      <a:tailEnd type="none" w="med" len="med"/>
                    </a:lnL>
                    <a:lnR w="9525" cap="flat" cmpd="sng" algn="ctr">
                      <a:solidFill>
                        <a:srgbClr val="C9D6CF"/>
                      </a:solidFill>
                      <a:prstDash val="solid"/>
                      <a:round/>
                      <a:headEnd type="none" w="med" len="med"/>
                      <a:tailEnd type="none" w="med" len="med"/>
                    </a:lnR>
                    <a:lnT w="9525" cap="flat" cmpd="sng" algn="ctr">
                      <a:solidFill>
                        <a:srgbClr val="C9D6CF"/>
                      </a:solidFill>
                      <a:prstDash val="solid"/>
                      <a:round/>
                      <a:headEnd type="none" w="med" len="med"/>
                      <a:tailEnd type="none" w="med" len="med"/>
                    </a:lnT>
                    <a:lnB w="9525" cap="flat" cmpd="sng" algn="ctr">
                      <a:solidFill>
                        <a:srgbClr val="C9D6CF"/>
                      </a:solidFill>
                      <a:prstDash val="solid"/>
                      <a:round/>
                      <a:headEnd type="none" w="med" len="med"/>
                      <a:tailEnd type="none" w="med" len="med"/>
                    </a:lnB>
                    <a:solidFill>
                      <a:srgbClr val="FFFFFF"/>
                    </a:solidFill>
                  </a:tcPr>
                </a:tc>
                <a:tc>
                  <a:txBody>
                    <a:bodyPr/>
                    <a:lstStyle/>
                    <a:p>
                      <a:pPr indent="0" marL="0">
                        <a:buNone/>
                      </a:pPr>
                      <a:r>
                        <a:rPr lang="en-US" sz="1300" dirty="0">
                          <a:solidFill>
                            <a:srgbClr val="1B2A24"/>
                          </a:solidFill>
                        </a:rPr>
                        <a:t>Philippines</a:t>
                      </a:r>
                      <a:endParaRPr lang="en-US" sz="1300" dirty="0"/>
                    </a:p>
                  </a:txBody>
                  <a:tcPr marL="73152" marR="73152" marT="73152" marB="73152" anchor="ctr">
                    <a:lnL w="9525" cap="flat" cmpd="sng" algn="ctr">
                      <a:solidFill>
                        <a:srgbClr val="C9D6CF"/>
                      </a:solidFill>
                      <a:prstDash val="solid"/>
                      <a:round/>
                      <a:headEnd type="none" w="med" len="med"/>
                      <a:tailEnd type="none" w="med" len="med"/>
                    </a:lnL>
                    <a:lnR w="9525" cap="flat" cmpd="sng" algn="ctr">
                      <a:solidFill>
                        <a:srgbClr val="C9D6CF"/>
                      </a:solidFill>
                      <a:prstDash val="solid"/>
                      <a:round/>
                      <a:headEnd type="none" w="med" len="med"/>
                      <a:tailEnd type="none" w="med" len="med"/>
                    </a:lnR>
                    <a:lnT w="9525" cap="flat" cmpd="sng" algn="ctr">
                      <a:solidFill>
                        <a:srgbClr val="C9D6CF"/>
                      </a:solidFill>
                      <a:prstDash val="solid"/>
                      <a:round/>
                      <a:headEnd type="none" w="med" len="med"/>
                      <a:tailEnd type="none" w="med" len="med"/>
                    </a:lnT>
                    <a:lnB w="9525" cap="flat" cmpd="sng" algn="ctr">
                      <a:solidFill>
                        <a:srgbClr val="C9D6CF"/>
                      </a:solidFill>
                      <a:prstDash val="solid"/>
                      <a:round/>
                      <a:headEnd type="none" w="med" len="med"/>
                      <a:tailEnd type="none" w="med" len="med"/>
                    </a:lnB>
                    <a:solidFill>
                      <a:srgbClr val="FFFFFF"/>
                    </a:solidFill>
                  </a:tcPr>
                </a:tc>
                <a:tc>
                  <a:txBody>
                    <a:bodyPr/>
                    <a:lstStyle/>
                    <a:p>
                      <a:pPr indent="0" marL="0">
                        <a:buNone/>
                      </a:pPr>
                      <a:r>
                        <a:rPr lang="en-US" sz="1300" dirty="0">
                          <a:solidFill>
                            <a:srgbClr val="1B2A24"/>
                          </a:solidFill>
                        </a:rPr>
                        <a:t>No, lab test</a:t>
                      </a:r>
                      <a:endParaRPr lang="en-US" sz="1300" dirty="0"/>
                    </a:p>
                  </a:txBody>
                  <a:tcPr marL="73152" marR="73152" marT="73152" marB="73152" anchor="ctr">
                    <a:lnL w="9525" cap="flat" cmpd="sng" algn="ctr">
                      <a:solidFill>
                        <a:srgbClr val="C9D6CF"/>
                      </a:solidFill>
                      <a:prstDash val="solid"/>
                      <a:round/>
                      <a:headEnd type="none" w="med" len="med"/>
                      <a:tailEnd type="none" w="med" len="med"/>
                    </a:lnL>
                    <a:lnR w="9525" cap="flat" cmpd="sng" algn="ctr">
                      <a:solidFill>
                        <a:srgbClr val="C9D6CF"/>
                      </a:solidFill>
                      <a:prstDash val="solid"/>
                      <a:round/>
                      <a:headEnd type="none" w="med" len="med"/>
                      <a:tailEnd type="none" w="med" len="med"/>
                    </a:lnR>
                    <a:lnT w="9525" cap="flat" cmpd="sng" algn="ctr">
                      <a:solidFill>
                        <a:srgbClr val="C9D6CF"/>
                      </a:solidFill>
                      <a:prstDash val="solid"/>
                      <a:round/>
                      <a:headEnd type="none" w="med" len="med"/>
                      <a:tailEnd type="none" w="med" len="med"/>
                    </a:lnT>
                    <a:lnB w="9525" cap="flat" cmpd="sng" algn="ctr">
                      <a:solidFill>
                        <a:srgbClr val="C9D6CF"/>
                      </a:solidFill>
                      <a:prstDash val="solid"/>
                      <a:round/>
                      <a:headEnd type="none" w="med" len="med"/>
                      <a:tailEnd type="none" w="med" len="med"/>
                    </a:lnB>
                    <a:solidFill>
                      <a:srgbClr val="FFFFFF"/>
                    </a:solidFill>
                  </a:tcPr>
                </a:tc>
                <a:tc>
                  <a:txBody>
                    <a:bodyPr/>
                    <a:lstStyle/>
                    <a:p>
                      <a:pPr indent="0" marL="0">
                        <a:buNone/>
                      </a:pPr>
                      <a:r>
                        <a:rPr lang="en-US" sz="1300" dirty="0">
                          <a:solidFill>
                            <a:srgbClr val="1B2A24"/>
                          </a:solidFill>
                        </a:rPr>
                        <a:t>English &gt; Taglish &gt; Tagalog accuracy</a:t>
                      </a:r>
                      <a:endParaRPr lang="en-US" sz="1300" dirty="0"/>
                    </a:p>
                  </a:txBody>
                  <a:tcPr marL="73152" marR="73152" marT="73152" marB="73152" anchor="ctr">
                    <a:lnL w="9525" cap="flat" cmpd="sng" algn="ctr">
                      <a:solidFill>
                        <a:srgbClr val="C9D6CF"/>
                      </a:solidFill>
                      <a:prstDash val="solid"/>
                      <a:round/>
                      <a:headEnd type="none" w="med" len="med"/>
                      <a:tailEnd type="none" w="med" len="med"/>
                    </a:lnL>
                    <a:lnR w="9525" cap="flat" cmpd="sng" algn="ctr">
                      <a:solidFill>
                        <a:srgbClr val="C9D6CF"/>
                      </a:solidFill>
                      <a:prstDash val="solid"/>
                      <a:round/>
                      <a:headEnd type="none" w="med" len="med"/>
                      <a:tailEnd type="none" w="med" len="med"/>
                    </a:lnR>
                    <a:lnT w="9525" cap="flat" cmpd="sng" algn="ctr">
                      <a:solidFill>
                        <a:srgbClr val="C9D6CF"/>
                      </a:solidFill>
                      <a:prstDash val="solid"/>
                      <a:round/>
                      <a:headEnd type="none" w="med" len="med"/>
                      <a:tailEnd type="none" w="med" len="med"/>
                    </a:lnT>
                    <a:lnB w="9525" cap="flat" cmpd="sng" algn="ctr">
                      <a:solidFill>
                        <a:srgbClr val="C9D6CF"/>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B2A24"/>
                          </a:solidFill>
                        </a:rPr>
                        <a:t>iTANONG (DOST-ASTI)</a:t>
                      </a:r>
                      <a:endParaRPr lang="en-US" sz="1300" dirty="0"/>
                    </a:p>
                  </a:txBody>
                  <a:tcPr marL="73152" marR="73152" marT="73152" marB="73152" anchor="ctr">
                    <a:lnL w="9525" cap="flat" cmpd="sng" algn="ctr">
                      <a:solidFill>
                        <a:srgbClr val="C9D6CF"/>
                      </a:solidFill>
                      <a:prstDash val="solid"/>
                      <a:round/>
                      <a:headEnd type="none" w="med" len="med"/>
                      <a:tailEnd type="none" w="med" len="med"/>
                    </a:lnL>
                    <a:lnR w="9525" cap="flat" cmpd="sng" algn="ctr">
                      <a:solidFill>
                        <a:srgbClr val="C9D6CF"/>
                      </a:solidFill>
                      <a:prstDash val="solid"/>
                      <a:round/>
                      <a:headEnd type="none" w="med" len="med"/>
                      <a:tailEnd type="none" w="med" len="med"/>
                    </a:lnR>
                    <a:lnT w="9525" cap="flat" cmpd="sng" algn="ctr">
                      <a:solidFill>
                        <a:srgbClr val="C9D6CF"/>
                      </a:solidFill>
                      <a:prstDash val="solid"/>
                      <a:round/>
                      <a:headEnd type="none" w="med" len="med"/>
                      <a:tailEnd type="none" w="med" len="med"/>
                    </a:lnT>
                    <a:lnB w="9525" cap="flat" cmpd="sng" algn="ctr">
                      <a:solidFill>
                        <a:srgbClr val="C9D6CF"/>
                      </a:solidFill>
                      <a:prstDash val="solid"/>
                      <a:round/>
                      <a:headEnd type="none" w="med" len="med"/>
                      <a:tailEnd type="none" w="med" len="med"/>
                    </a:lnB>
                    <a:solidFill>
                      <a:srgbClr val="FFFFFF"/>
                    </a:solidFill>
                  </a:tcPr>
                </a:tc>
                <a:tc>
                  <a:txBody>
                    <a:bodyPr/>
                    <a:lstStyle/>
                    <a:p>
                      <a:pPr indent="0" marL="0">
                        <a:buNone/>
                      </a:pPr>
                      <a:r>
                        <a:rPr lang="en-US" sz="1300" dirty="0">
                          <a:solidFill>
                            <a:srgbClr val="1B2A24"/>
                          </a:solidFill>
                        </a:rPr>
                        <a:t>Philippines</a:t>
                      </a:r>
                      <a:endParaRPr lang="en-US" sz="1300" dirty="0"/>
                    </a:p>
                  </a:txBody>
                  <a:tcPr marL="73152" marR="73152" marT="73152" marB="73152" anchor="ctr">
                    <a:lnL w="9525" cap="flat" cmpd="sng" algn="ctr">
                      <a:solidFill>
                        <a:srgbClr val="C9D6CF"/>
                      </a:solidFill>
                      <a:prstDash val="solid"/>
                      <a:round/>
                      <a:headEnd type="none" w="med" len="med"/>
                      <a:tailEnd type="none" w="med" len="med"/>
                    </a:lnL>
                    <a:lnR w="9525" cap="flat" cmpd="sng" algn="ctr">
                      <a:solidFill>
                        <a:srgbClr val="C9D6CF"/>
                      </a:solidFill>
                      <a:prstDash val="solid"/>
                      <a:round/>
                      <a:headEnd type="none" w="med" len="med"/>
                      <a:tailEnd type="none" w="med" len="med"/>
                    </a:lnR>
                    <a:lnT w="9525" cap="flat" cmpd="sng" algn="ctr">
                      <a:solidFill>
                        <a:srgbClr val="C9D6CF"/>
                      </a:solidFill>
                      <a:prstDash val="solid"/>
                      <a:round/>
                      <a:headEnd type="none" w="med" len="med"/>
                      <a:tailEnd type="none" w="med" len="med"/>
                    </a:lnT>
                    <a:lnB w="9525" cap="flat" cmpd="sng" algn="ctr">
                      <a:solidFill>
                        <a:srgbClr val="C9D6CF"/>
                      </a:solidFill>
                      <a:prstDash val="solid"/>
                      <a:round/>
                      <a:headEnd type="none" w="med" len="med"/>
                      <a:tailEnd type="none" w="med" len="med"/>
                    </a:lnB>
                    <a:solidFill>
                      <a:srgbClr val="FFFFFF"/>
                    </a:solidFill>
                  </a:tcPr>
                </a:tc>
                <a:tc>
                  <a:txBody>
                    <a:bodyPr/>
                    <a:lstStyle/>
                    <a:p>
                      <a:pPr indent="0" marL="0">
                        <a:buNone/>
                      </a:pPr>
                      <a:r>
                        <a:rPr lang="en-US" sz="1300" dirty="0">
                          <a:solidFill>
                            <a:srgbClr val="1B2A24"/>
                          </a:solidFill>
                        </a:rPr>
                        <a:t>Yes, government</a:t>
                      </a:r>
                      <a:endParaRPr lang="en-US" sz="1300" dirty="0"/>
                    </a:p>
                  </a:txBody>
                  <a:tcPr marL="73152" marR="73152" marT="73152" marB="73152" anchor="ctr">
                    <a:lnL w="9525" cap="flat" cmpd="sng" algn="ctr">
                      <a:solidFill>
                        <a:srgbClr val="C9D6CF"/>
                      </a:solidFill>
                      <a:prstDash val="solid"/>
                      <a:round/>
                      <a:headEnd type="none" w="med" len="med"/>
                      <a:tailEnd type="none" w="med" len="med"/>
                    </a:lnL>
                    <a:lnR w="9525" cap="flat" cmpd="sng" algn="ctr">
                      <a:solidFill>
                        <a:srgbClr val="C9D6CF"/>
                      </a:solidFill>
                      <a:prstDash val="solid"/>
                      <a:round/>
                      <a:headEnd type="none" w="med" len="med"/>
                      <a:tailEnd type="none" w="med" len="med"/>
                    </a:lnR>
                    <a:lnT w="9525" cap="flat" cmpd="sng" algn="ctr">
                      <a:solidFill>
                        <a:srgbClr val="C9D6CF"/>
                      </a:solidFill>
                      <a:prstDash val="solid"/>
                      <a:round/>
                      <a:headEnd type="none" w="med" len="med"/>
                      <a:tailEnd type="none" w="med" len="med"/>
                    </a:lnT>
                    <a:lnB w="9525" cap="flat" cmpd="sng" algn="ctr">
                      <a:solidFill>
                        <a:srgbClr val="C9D6CF"/>
                      </a:solidFill>
                      <a:prstDash val="solid"/>
                      <a:round/>
                      <a:headEnd type="none" w="med" len="med"/>
                      <a:tailEnd type="none" w="med" len="med"/>
                    </a:lnB>
                    <a:solidFill>
                      <a:srgbClr val="FFFFFF"/>
                    </a:solidFill>
                  </a:tcPr>
                </a:tc>
                <a:tc>
                  <a:txBody>
                    <a:bodyPr/>
                    <a:lstStyle/>
                    <a:p>
                      <a:pPr indent="0" marL="0">
                        <a:buNone/>
                      </a:pPr>
                      <a:r>
                        <a:rPr lang="en-US" sz="1300" dirty="0">
                          <a:solidFill>
                            <a:srgbClr val="1B2A24"/>
                          </a:solidFill>
                        </a:rPr>
                        <a:t>Taglish answers from approved data</a:t>
                      </a:r>
                      <a:endParaRPr lang="en-US" sz="1300" dirty="0"/>
                    </a:p>
                  </a:txBody>
                  <a:tcPr marL="73152" marR="73152" marT="73152" marB="73152" anchor="ctr">
                    <a:lnL w="9525" cap="flat" cmpd="sng" algn="ctr">
                      <a:solidFill>
                        <a:srgbClr val="C9D6CF"/>
                      </a:solidFill>
                      <a:prstDash val="solid"/>
                      <a:round/>
                      <a:headEnd type="none" w="med" len="med"/>
                      <a:tailEnd type="none" w="med" len="med"/>
                    </a:lnL>
                    <a:lnR w="9525" cap="flat" cmpd="sng" algn="ctr">
                      <a:solidFill>
                        <a:srgbClr val="C9D6CF"/>
                      </a:solidFill>
                      <a:prstDash val="solid"/>
                      <a:round/>
                      <a:headEnd type="none" w="med" len="med"/>
                      <a:tailEnd type="none" w="med" len="med"/>
                    </a:lnR>
                    <a:lnT w="9525" cap="flat" cmpd="sng" algn="ctr">
                      <a:solidFill>
                        <a:srgbClr val="C9D6CF"/>
                      </a:solidFill>
                      <a:prstDash val="solid"/>
                      <a:round/>
                      <a:headEnd type="none" w="med" len="med"/>
                      <a:tailEnd type="none" w="med" len="med"/>
                    </a:lnT>
                    <a:lnB w="9525" cap="flat" cmpd="sng" algn="ctr">
                      <a:solidFill>
                        <a:srgbClr val="C9D6CF"/>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B2A24"/>
                          </a:solidFill>
                        </a:rPr>
                        <a:t>ChatGenie</a:t>
                      </a:r>
                      <a:endParaRPr lang="en-US" sz="1300" dirty="0"/>
                    </a:p>
                  </a:txBody>
                  <a:tcPr marL="73152" marR="73152" marT="73152" marB="73152" anchor="ctr">
                    <a:lnL w="9525" cap="flat" cmpd="sng" algn="ctr">
                      <a:solidFill>
                        <a:srgbClr val="C9D6CF"/>
                      </a:solidFill>
                      <a:prstDash val="solid"/>
                      <a:round/>
                      <a:headEnd type="none" w="med" len="med"/>
                      <a:tailEnd type="none" w="med" len="med"/>
                    </a:lnL>
                    <a:lnR w="9525" cap="flat" cmpd="sng" algn="ctr">
                      <a:solidFill>
                        <a:srgbClr val="C9D6CF"/>
                      </a:solidFill>
                      <a:prstDash val="solid"/>
                      <a:round/>
                      <a:headEnd type="none" w="med" len="med"/>
                      <a:tailEnd type="none" w="med" len="med"/>
                    </a:lnR>
                    <a:lnT w="9525" cap="flat" cmpd="sng" algn="ctr">
                      <a:solidFill>
                        <a:srgbClr val="C9D6CF"/>
                      </a:solidFill>
                      <a:prstDash val="solid"/>
                      <a:round/>
                      <a:headEnd type="none" w="med" len="med"/>
                      <a:tailEnd type="none" w="med" len="med"/>
                    </a:lnT>
                    <a:lnB w="9525" cap="flat" cmpd="sng" algn="ctr">
                      <a:solidFill>
                        <a:srgbClr val="C9D6CF"/>
                      </a:solidFill>
                      <a:prstDash val="solid"/>
                      <a:round/>
                      <a:headEnd type="none" w="med" len="med"/>
                      <a:tailEnd type="none" w="med" len="med"/>
                    </a:lnB>
                    <a:solidFill>
                      <a:srgbClr val="FFFFFF"/>
                    </a:solidFill>
                  </a:tcPr>
                </a:tc>
                <a:tc>
                  <a:txBody>
                    <a:bodyPr/>
                    <a:lstStyle/>
                    <a:p>
                      <a:pPr indent="0" marL="0">
                        <a:buNone/>
                      </a:pPr>
                      <a:r>
                        <a:rPr lang="en-US" sz="1300" dirty="0">
                          <a:solidFill>
                            <a:srgbClr val="1B2A24"/>
                          </a:solidFill>
                        </a:rPr>
                        <a:t>Philippines</a:t>
                      </a:r>
                      <a:endParaRPr lang="en-US" sz="1300" dirty="0"/>
                    </a:p>
                  </a:txBody>
                  <a:tcPr marL="73152" marR="73152" marT="73152" marB="73152" anchor="ctr">
                    <a:lnL w="9525" cap="flat" cmpd="sng" algn="ctr">
                      <a:solidFill>
                        <a:srgbClr val="C9D6CF"/>
                      </a:solidFill>
                      <a:prstDash val="solid"/>
                      <a:round/>
                      <a:headEnd type="none" w="med" len="med"/>
                      <a:tailEnd type="none" w="med" len="med"/>
                    </a:lnL>
                    <a:lnR w="9525" cap="flat" cmpd="sng" algn="ctr">
                      <a:solidFill>
                        <a:srgbClr val="C9D6CF"/>
                      </a:solidFill>
                      <a:prstDash val="solid"/>
                      <a:round/>
                      <a:headEnd type="none" w="med" len="med"/>
                      <a:tailEnd type="none" w="med" len="med"/>
                    </a:lnR>
                    <a:lnT w="9525" cap="flat" cmpd="sng" algn="ctr">
                      <a:solidFill>
                        <a:srgbClr val="C9D6CF"/>
                      </a:solidFill>
                      <a:prstDash val="solid"/>
                      <a:round/>
                      <a:headEnd type="none" w="med" len="med"/>
                      <a:tailEnd type="none" w="med" len="med"/>
                    </a:lnT>
                    <a:lnB w="9525" cap="flat" cmpd="sng" algn="ctr">
                      <a:solidFill>
                        <a:srgbClr val="C9D6CF"/>
                      </a:solidFill>
                      <a:prstDash val="solid"/>
                      <a:round/>
                      <a:headEnd type="none" w="med" len="med"/>
                      <a:tailEnd type="none" w="med" len="med"/>
                    </a:lnB>
                    <a:solidFill>
                      <a:srgbClr val="FFFFFF"/>
                    </a:solidFill>
                  </a:tcPr>
                </a:tc>
                <a:tc>
                  <a:txBody>
                    <a:bodyPr/>
                    <a:lstStyle/>
                    <a:p>
                      <a:pPr indent="0" marL="0">
                        <a:buNone/>
                      </a:pPr>
                      <a:r>
                        <a:rPr lang="en-US" sz="1300" dirty="0">
                          <a:solidFill>
                            <a:srgbClr val="1B2A24"/>
                          </a:solidFill>
                        </a:rPr>
                        <a:t>Yes, MSMEs</a:t>
                      </a:r>
                      <a:endParaRPr lang="en-US" sz="1300" dirty="0"/>
                    </a:p>
                  </a:txBody>
                  <a:tcPr marL="73152" marR="73152" marT="73152" marB="73152" anchor="ctr">
                    <a:lnL w="9525" cap="flat" cmpd="sng" algn="ctr">
                      <a:solidFill>
                        <a:srgbClr val="C9D6CF"/>
                      </a:solidFill>
                      <a:prstDash val="solid"/>
                      <a:round/>
                      <a:headEnd type="none" w="med" len="med"/>
                      <a:tailEnd type="none" w="med" len="med"/>
                    </a:lnL>
                    <a:lnR w="9525" cap="flat" cmpd="sng" algn="ctr">
                      <a:solidFill>
                        <a:srgbClr val="C9D6CF"/>
                      </a:solidFill>
                      <a:prstDash val="solid"/>
                      <a:round/>
                      <a:headEnd type="none" w="med" len="med"/>
                      <a:tailEnd type="none" w="med" len="med"/>
                    </a:lnR>
                    <a:lnT w="9525" cap="flat" cmpd="sng" algn="ctr">
                      <a:solidFill>
                        <a:srgbClr val="C9D6CF"/>
                      </a:solidFill>
                      <a:prstDash val="solid"/>
                      <a:round/>
                      <a:headEnd type="none" w="med" len="med"/>
                      <a:tailEnd type="none" w="med" len="med"/>
                    </a:lnT>
                    <a:lnB w="9525" cap="flat" cmpd="sng" algn="ctr">
                      <a:solidFill>
                        <a:srgbClr val="C9D6CF"/>
                      </a:solidFill>
                      <a:prstDash val="solid"/>
                      <a:round/>
                      <a:headEnd type="none" w="med" len="med"/>
                      <a:tailEnd type="none" w="med" len="med"/>
                    </a:lnB>
                    <a:solidFill>
                      <a:srgbClr val="FFFFFF"/>
                    </a:solidFill>
                  </a:tcPr>
                </a:tc>
                <a:tc>
                  <a:txBody>
                    <a:bodyPr/>
                    <a:lstStyle/>
                    <a:p>
                      <a:pPr indent="0" marL="0">
                        <a:buNone/>
                      </a:pPr>
                      <a:r>
                        <a:rPr lang="en-US" sz="1300" dirty="0">
                          <a:solidFill>
                            <a:srgbClr val="1B2A24"/>
                          </a:solidFill>
                        </a:rPr>
                        <a:t>Chat commerce; ordering, not grounded support</a:t>
                      </a:r>
                      <a:endParaRPr lang="en-US" sz="1300" dirty="0"/>
                    </a:p>
                  </a:txBody>
                  <a:tcPr marL="73152" marR="73152" marT="73152" marB="73152" anchor="ctr">
                    <a:lnL w="9525" cap="flat" cmpd="sng" algn="ctr">
                      <a:solidFill>
                        <a:srgbClr val="C9D6CF"/>
                      </a:solidFill>
                      <a:prstDash val="solid"/>
                      <a:round/>
                      <a:headEnd type="none" w="med" len="med"/>
                      <a:tailEnd type="none" w="med" len="med"/>
                    </a:lnL>
                    <a:lnR w="9525" cap="flat" cmpd="sng" algn="ctr">
                      <a:solidFill>
                        <a:srgbClr val="C9D6CF"/>
                      </a:solidFill>
                      <a:prstDash val="solid"/>
                      <a:round/>
                      <a:headEnd type="none" w="med" len="med"/>
                      <a:tailEnd type="none" w="med" len="med"/>
                    </a:lnR>
                    <a:lnT w="9525" cap="flat" cmpd="sng" algn="ctr">
                      <a:solidFill>
                        <a:srgbClr val="C9D6CF"/>
                      </a:solidFill>
                      <a:prstDash val="solid"/>
                      <a:round/>
                      <a:headEnd type="none" w="med" len="med"/>
                      <a:tailEnd type="none" w="med" len="med"/>
                    </a:lnT>
                    <a:lnB w="9525" cap="flat" cmpd="sng" algn="ctr">
                      <a:solidFill>
                        <a:srgbClr val="C9D6CF"/>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B2A24"/>
                          </a:solidFill>
                        </a:rPr>
                        <a:t>Chatbots in MSMEs (Cordero et al.)</a:t>
                      </a:r>
                      <a:endParaRPr lang="en-US" sz="1300" dirty="0"/>
                    </a:p>
                  </a:txBody>
                  <a:tcPr marL="73152" marR="73152" marT="73152" marB="73152" anchor="ctr">
                    <a:lnL w="9525" cap="flat" cmpd="sng" algn="ctr">
                      <a:solidFill>
                        <a:srgbClr val="C9D6CF"/>
                      </a:solidFill>
                      <a:prstDash val="solid"/>
                      <a:round/>
                      <a:headEnd type="none" w="med" len="med"/>
                      <a:tailEnd type="none" w="med" len="med"/>
                    </a:lnL>
                    <a:lnR w="9525" cap="flat" cmpd="sng" algn="ctr">
                      <a:solidFill>
                        <a:srgbClr val="C9D6CF"/>
                      </a:solidFill>
                      <a:prstDash val="solid"/>
                      <a:round/>
                      <a:headEnd type="none" w="med" len="med"/>
                      <a:tailEnd type="none" w="med" len="med"/>
                    </a:lnR>
                    <a:lnT w="9525" cap="flat" cmpd="sng" algn="ctr">
                      <a:solidFill>
                        <a:srgbClr val="C9D6CF"/>
                      </a:solidFill>
                      <a:prstDash val="solid"/>
                      <a:round/>
                      <a:headEnd type="none" w="med" len="med"/>
                      <a:tailEnd type="none" w="med" len="med"/>
                    </a:lnT>
                    <a:lnB w="9525" cap="flat" cmpd="sng" algn="ctr">
                      <a:solidFill>
                        <a:srgbClr val="C9D6CF"/>
                      </a:solidFill>
                      <a:prstDash val="solid"/>
                      <a:round/>
                      <a:headEnd type="none" w="med" len="med"/>
                      <a:tailEnd type="none" w="med" len="med"/>
                    </a:lnB>
                    <a:solidFill>
                      <a:srgbClr val="FFFFFF"/>
                    </a:solidFill>
                  </a:tcPr>
                </a:tc>
                <a:tc>
                  <a:txBody>
                    <a:bodyPr/>
                    <a:lstStyle/>
                    <a:p>
                      <a:pPr indent="0" marL="0">
                        <a:buNone/>
                      </a:pPr>
                      <a:r>
                        <a:rPr lang="en-US" sz="1300" dirty="0">
                          <a:solidFill>
                            <a:srgbClr val="1B2A24"/>
                          </a:solidFill>
                        </a:rPr>
                        <a:t>Ecuador</a:t>
                      </a:r>
                      <a:endParaRPr lang="en-US" sz="1300" dirty="0"/>
                    </a:p>
                  </a:txBody>
                  <a:tcPr marL="73152" marR="73152" marT="73152" marB="73152" anchor="ctr">
                    <a:lnL w="9525" cap="flat" cmpd="sng" algn="ctr">
                      <a:solidFill>
                        <a:srgbClr val="C9D6CF"/>
                      </a:solidFill>
                      <a:prstDash val="solid"/>
                      <a:round/>
                      <a:headEnd type="none" w="med" len="med"/>
                      <a:tailEnd type="none" w="med" len="med"/>
                    </a:lnL>
                    <a:lnR w="9525" cap="flat" cmpd="sng" algn="ctr">
                      <a:solidFill>
                        <a:srgbClr val="C9D6CF"/>
                      </a:solidFill>
                      <a:prstDash val="solid"/>
                      <a:round/>
                      <a:headEnd type="none" w="med" len="med"/>
                      <a:tailEnd type="none" w="med" len="med"/>
                    </a:lnR>
                    <a:lnT w="9525" cap="flat" cmpd="sng" algn="ctr">
                      <a:solidFill>
                        <a:srgbClr val="C9D6CF"/>
                      </a:solidFill>
                      <a:prstDash val="solid"/>
                      <a:round/>
                      <a:headEnd type="none" w="med" len="med"/>
                      <a:tailEnd type="none" w="med" len="med"/>
                    </a:lnT>
                    <a:lnB w="9525" cap="flat" cmpd="sng" algn="ctr">
                      <a:solidFill>
                        <a:srgbClr val="C9D6CF"/>
                      </a:solidFill>
                      <a:prstDash val="solid"/>
                      <a:round/>
                      <a:headEnd type="none" w="med" len="med"/>
                      <a:tailEnd type="none" w="med" len="med"/>
                    </a:lnB>
                    <a:solidFill>
                      <a:srgbClr val="FFFFFF"/>
                    </a:solidFill>
                  </a:tcPr>
                </a:tc>
                <a:tc>
                  <a:txBody>
                    <a:bodyPr/>
                    <a:lstStyle/>
                    <a:p>
                      <a:pPr indent="0" marL="0">
                        <a:buNone/>
                      </a:pPr>
                      <a:r>
                        <a:rPr lang="en-US" sz="1300" dirty="0">
                          <a:solidFill>
                            <a:srgbClr val="1B2A24"/>
                          </a:solidFill>
                        </a:rPr>
                        <a:t>No</a:t>
                      </a:r>
                      <a:endParaRPr lang="en-US" sz="1300" dirty="0"/>
                    </a:p>
                  </a:txBody>
                  <a:tcPr marL="73152" marR="73152" marT="73152" marB="73152" anchor="ctr">
                    <a:lnL w="9525" cap="flat" cmpd="sng" algn="ctr">
                      <a:solidFill>
                        <a:srgbClr val="C9D6CF"/>
                      </a:solidFill>
                      <a:prstDash val="solid"/>
                      <a:round/>
                      <a:headEnd type="none" w="med" len="med"/>
                      <a:tailEnd type="none" w="med" len="med"/>
                    </a:lnL>
                    <a:lnR w="9525" cap="flat" cmpd="sng" algn="ctr">
                      <a:solidFill>
                        <a:srgbClr val="C9D6CF"/>
                      </a:solidFill>
                      <a:prstDash val="solid"/>
                      <a:round/>
                      <a:headEnd type="none" w="med" len="med"/>
                      <a:tailEnd type="none" w="med" len="med"/>
                    </a:lnR>
                    <a:lnT w="9525" cap="flat" cmpd="sng" algn="ctr">
                      <a:solidFill>
                        <a:srgbClr val="C9D6CF"/>
                      </a:solidFill>
                      <a:prstDash val="solid"/>
                      <a:round/>
                      <a:headEnd type="none" w="med" len="med"/>
                      <a:tailEnd type="none" w="med" len="med"/>
                    </a:lnT>
                    <a:lnB w="9525" cap="flat" cmpd="sng" algn="ctr">
                      <a:solidFill>
                        <a:srgbClr val="C9D6CF"/>
                      </a:solidFill>
                      <a:prstDash val="solid"/>
                      <a:round/>
                      <a:headEnd type="none" w="med" len="med"/>
                      <a:tailEnd type="none" w="med" len="med"/>
                    </a:lnB>
                    <a:solidFill>
                      <a:srgbClr val="FFFFFF"/>
                    </a:solidFill>
                  </a:tcPr>
                </a:tc>
                <a:tc>
                  <a:txBody>
                    <a:bodyPr/>
                    <a:lstStyle/>
                    <a:p>
                      <a:pPr indent="0" marL="0">
                        <a:buNone/>
                      </a:pPr>
                      <a:r>
                        <a:rPr lang="en-US" sz="1300" dirty="0">
                          <a:solidFill>
                            <a:srgbClr val="1B2A24"/>
                          </a:solidFill>
                        </a:rPr>
                        <a:t>High SUS and satisfaction for repetitive inquiries</a:t>
                      </a:r>
                      <a:endParaRPr lang="en-US" sz="1300" dirty="0"/>
                    </a:p>
                  </a:txBody>
                  <a:tcPr marL="73152" marR="73152" marT="73152" marB="73152" anchor="ctr">
                    <a:lnL w="9525" cap="flat" cmpd="sng" algn="ctr">
                      <a:solidFill>
                        <a:srgbClr val="C9D6CF"/>
                      </a:solidFill>
                      <a:prstDash val="solid"/>
                      <a:round/>
                      <a:headEnd type="none" w="med" len="med"/>
                      <a:tailEnd type="none" w="med" len="med"/>
                    </a:lnL>
                    <a:lnR w="9525" cap="flat" cmpd="sng" algn="ctr">
                      <a:solidFill>
                        <a:srgbClr val="C9D6CF"/>
                      </a:solidFill>
                      <a:prstDash val="solid"/>
                      <a:round/>
                      <a:headEnd type="none" w="med" len="med"/>
                      <a:tailEnd type="none" w="med" len="med"/>
                    </a:lnR>
                    <a:lnT w="9525" cap="flat" cmpd="sng" algn="ctr">
                      <a:solidFill>
                        <a:srgbClr val="C9D6CF"/>
                      </a:solidFill>
                      <a:prstDash val="solid"/>
                      <a:round/>
                      <a:headEnd type="none" w="med" len="med"/>
                      <a:tailEnd type="none" w="med" len="med"/>
                    </a:lnT>
                    <a:lnB w="9525" cap="flat" cmpd="sng" algn="ctr">
                      <a:solidFill>
                        <a:srgbClr val="C9D6CF"/>
                      </a:solidFill>
                      <a:prstDash val="solid"/>
                      <a:round/>
                      <a:headEnd type="none" w="med" len="med"/>
                      <a:tailEnd type="none" w="med" len="med"/>
                    </a:lnB>
                    <a:solidFill>
                      <a:srgbClr val="FFFFFF"/>
                    </a:solidFill>
                  </a:tcPr>
                </a:tc>
              </a:tr>
            </a:tbl>
          </a:graphicData>
        </a:graphic>
      </p:graphicFrame>
      <p:sp>
        <p:nvSpPr>
          <p:cNvPr id="4" name="gap statement"/>
          <p:cNvSpPr/>
          <p:nvPr/>
        </p:nvSpPr>
        <p:spPr>
          <a:xfrm>
            <a:off x="548640" y="4892040"/>
            <a:ext cx="11064240" cy="1143000"/>
          </a:xfrm>
          <a:prstGeom prst="roundRect">
            <a:avLst>
              <a:gd name="adj" fmla="val 9600"/>
            </a:avLst>
          </a:prstGeom>
          <a:solidFill>
            <a:schemeClr val="accent2"/>
          </a:solidFill>
          <a:ln w="12700">
            <a:solidFill>
              <a:schemeClr val="accent2"/>
            </a:solidFill>
            <a:prstDash val="solid"/>
          </a:ln>
        </p:spPr>
      </p:sp>
      <p:sp>
        <p:nvSpPr>
          <p:cNvPr id="5" name="Text 2"/>
          <p:cNvSpPr txBox="1"/>
          <p:nvPr/>
        </p:nvSpPr>
        <p:spPr>
          <a:xfrm>
            <a:off x="868680" y="5029200"/>
            <a:ext cx="10515600" cy="868680"/>
          </a:xfrm>
          <a:prstGeom prst="rect">
            <a:avLst/>
          </a:prstGeom>
          <a:noFill/>
          <a:ln/>
        </p:spPr>
        <p:txBody>
          <a:bodyPr wrap="square" lIns="0" tIns="0" rIns="0" bIns="0" rtlCol="0" anchor="ctr"/>
          <a:lstStyle/>
          <a:p>
            <a:pPr indent="0" marL="0">
              <a:buNone/>
            </a:pPr>
            <a:r>
              <a:rPr lang="en-US" sz="1700" b="1" dirty="0">
                <a:solidFill>
                  <a:schemeClr val="bg1"/>
                </a:solidFill>
              </a:rPr>
              <a:t>Gap: </a:t>
            </a:r>
            <a:pPr indent="0" marL="0">
              <a:buNone/>
            </a:pPr>
            <a:r>
              <a:rPr lang="en-US" sz="1700" dirty="0">
                <a:solidFill>
                  <a:schemeClr val="bg1"/>
                </a:solidFill>
              </a:rPr>
              <a:t>no published design yet combines owner-controlled answers, Taglish testing and human hand-off for micro sellers, and none in Baguio or Benguet.</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A8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accent1"/>
                </a:solidFill>
                <a:latin typeface="Cambria" pitchFamily="34" charset="0"/>
                <a:ea typeface="Cambria" pitchFamily="34" charset="-122"/>
                <a:cs typeface="Cambria" pitchFamily="34" charset="-120"/>
              </a:rPr>
              <a:t>Design-science approach with Agile sprints</a:t>
            </a:r>
            <a:endParaRPr lang="en-US" sz="3200" dirty="0"/>
          </a:p>
        </p:txBody>
      </p:sp>
      <p:sp>
        <p:nvSpPr>
          <p:cNvPr id="3" name="design science step 1"/>
          <p:cNvSpPr/>
          <p:nvPr/>
        </p:nvSpPr>
        <p:spPr>
          <a:xfrm>
            <a:off x="548640" y="1371600"/>
            <a:ext cx="3520440" cy="1828800"/>
          </a:xfrm>
          <a:prstGeom prst="roundRect">
            <a:avLst>
              <a:gd name="adj" fmla="val 6000"/>
            </a:avLst>
          </a:prstGeom>
          <a:solidFill>
            <a:schemeClr val="bg2"/>
          </a:solidFill>
          <a:ln w="12700">
            <a:solidFill>
              <a:schemeClr val="bg2"/>
            </a:solidFill>
            <a:prstDash val="solid"/>
          </a:ln>
        </p:spPr>
      </p:sp>
      <p:sp>
        <p:nvSpPr>
          <p:cNvPr id="4" name="step icon 1 circle"/>
          <p:cNvSpPr/>
          <p:nvPr/>
        </p:nvSpPr>
        <p:spPr>
          <a:xfrm>
            <a:off x="822960" y="1600200"/>
            <a:ext cx="640080" cy="640080"/>
          </a:xfrm>
          <a:prstGeom prst="ellipse">
            <a:avLst/>
          </a:prstGeom>
          <a:solidFill>
            <a:schemeClr val="accent1"/>
          </a:solidFill>
          <a:ln w="12700">
            <a:solidFill>
              <a:schemeClr val="accent1"/>
            </a:solidFill>
            <a:prstDash val="solid"/>
          </a:ln>
        </p:spPr>
      </p:sp>
      <p:pic>
        <p:nvPicPr>
          <p:cNvPr id="5" name="step icon 1" descr="preencoded.png">    </p:cNvPr>
          <p:cNvPicPr>
            <a:picLocks noChangeAspect="1"/>
          </p:cNvPicPr>
          <p:nvPr/>
        </p:nvPicPr>
        <p:blipFill>
          <a:blip r:embed="rId1"/>
          <a:stretch>
            <a:fillRect/>
          </a:stretch>
        </p:blipFill>
        <p:spPr>
          <a:xfrm>
            <a:off x="976579" y="1753819"/>
            <a:ext cx="332842" cy="332842"/>
          </a:xfrm>
          <a:prstGeom prst="rect">
            <a:avLst/>
          </a:prstGeom>
        </p:spPr>
      </p:pic>
      <p:sp>
        <p:nvSpPr>
          <p:cNvPr id="6" name="Text 3"/>
          <p:cNvSpPr txBox="1"/>
          <p:nvPr/>
        </p:nvSpPr>
        <p:spPr>
          <a:xfrm>
            <a:off x="1600200" y="1645920"/>
            <a:ext cx="2286000" cy="548640"/>
          </a:xfrm>
          <a:prstGeom prst="rect">
            <a:avLst/>
          </a:prstGeom>
          <a:noFill/>
          <a:ln/>
        </p:spPr>
        <p:txBody>
          <a:bodyPr wrap="square" lIns="0" tIns="0" rIns="0" bIns="0" rtlCol="0" anchor="ctr"/>
          <a:lstStyle/>
          <a:p>
            <a:pPr indent="0" marL="0">
              <a:buNone/>
            </a:pPr>
            <a:r>
              <a:rPr lang="en-US" sz="2000" b="1" dirty="0">
                <a:solidFill>
                  <a:schemeClr val="accent1"/>
                </a:solidFill>
              </a:rPr>
              <a:t>Identify</a:t>
            </a:r>
            <a:endParaRPr lang="en-US" sz="2000" dirty="0"/>
          </a:p>
        </p:txBody>
      </p:sp>
      <p:sp>
        <p:nvSpPr>
          <p:cNvPr id="7" name="Text 4"/>
          <p:cNvSpPr txBox="1"/>
          <p:nvPr/>
        </p:nvSpPr>
        <p:spPr>
          <a:xfrm>
            <a:off x="822960" y="2377440"/>
            <a:ext cx="3017520" cy="731520"/>
          </a:xfrm>
          <a:prstGeom prst="rect">
            <a:avLst/>
          </a:prstGeom>
          <a:noFill/>
          <a:ln/>
        </p:spPr>
        <p:txBody>
          <a:bodyPr wrap="square" lIns="0" tIns="0" rIns="0" bIns="0" rtlCol="0" anchor="t"/>
          <a:lstStyle/>
          <a:p>
            <a:pPr indent="0" marL="0">
              <a:buNone/>
            </a:pPr>
            <a:r>
              <a:rPr lang="en-US" sz="1400" dirty="0">
                <a:solidFill>
                  <a:schemeClr val="tx1"/>
                </a:solidFill>
              </a:rPr>
              <a:t>Seller interviews and Survey A confirm the real problem</a:t>
            </a:r>
            <a:endParaRPr lang="en-US" sz="1400" dirty="0"/>
          </a:p>
        </p:txBody>
      </p:sp>
      <p:sp>
        <p:nvSpPr>
          <p:cNvPr id="8" name="design science step 2"/>
          <p:cNvSpPr/>
          <p:nvPr/>
        </p:nvSpPr>
        <p:spPr>
          <a:xfrm>
            <a:off x="4343400" y="1371600"/>
            <a:ext cx="3520440" cy="1828800"/>
          </a:xfrm>
          <a:prstGeom prst="roundRect">
            <a:avLst>
              <a:gd name="adj" fmla="val 6000"/>
            </a:avLst>
          </a:prstGeom>
          <a:solidFill>
            <a:schemeClr val="bg2"/>
          </a:solidFill>
          <a:ln w="12700">
            <a:solidFill>
              <a:schemeClr val="bg2"/>
            </a:solidFill>
            <a:prstDash val="solid"/>
          </a:ln>
        </p:spPr>
      </p:sp>
      <p:sp>
        <p:nvSpPr>
          <p:cNvPr id="9" name="step icon 2 circle"/>
          <p:cNvSpPr/>
          <p:nvPr/>
        </p:nvSpPr>
        <p:spPr>
          <a:xfrm>
            <a:off x="4617720" y="1600200"/>
            <a:ext cx="640080" cy="640080"/>
          </a:xfrm>
          <a:prstGeom prst="ellipse">
            <a:avLst/>
          </a:prstGeom>
          <a:solidFill>
            <a:schemeClr val="accent1"/>
          </a:solidFill>
          <a:ln w="12700">
            <a:solidFill>
              <a:schemeClr val="accent1"/>
            </a:solidFill>
            <a:prstDash val="solid"/>
          </a:ln>
        </p:spPr>
      </p:sp>
      <p:pic>
        <p:nvPicPr>
          <p:cNvPr id="10" name="step icon 2" descr="preencoded.png">    </p:cNvPr>
          <p:cNvPicPr>
            <a:picLocks noChangeAspect="1"/>
          </p:cNvPicPr>
          <p:nvPr/>
        </p:nvPicPr>
        <p:blipFill>
          <a:blip r:embed="rId2"/>
          <a:stretch>
            <a:fillRect/>
          </a:stretch>
        </p:blipFill>
        <p:spPr>
          <a:xfrm>
            <a:off x="4771339" y="1753819"/>
            <a:ext cx="332842" cy="332842"/>
          </a:xfrm>
          <a:prstGeom prst="rect">
            <a:avLst/>
          </a:prstGeom>
        </p:spPr>
      </p:pic>
      <p:sp>
        <p:nvSpPr>
          <p:cNvPr id="11" name="Text 7"/>
          <p:cNvSpPr txBox="1"/>
          <p:nvPr/>
        </p:nvSpPr>
        <p:spPr>
          <a:xfrm>
            <a:off x="5394960" y="1645920"/>
            <a:ext cx="2286000" cy="548640"/>
          </a:xfrm>
          <a:prstGeom prst="rect">
            <a:avLst/>
          </a:prstGeom>
          <a:noFill/>
          <a:ln/>
        </p:spPr>
        <p:txBody>
          <a:bodyPr wrap="square" lIns="0" tIns="0" rIns="0" bIns="0" rtlCol="0" anchor="ctr"/>
          <a:lstStyle/>
          <a:p>
            <a:pPr indent="0" marL="0">
              <a:buNone/>
            </a:pPr>
            <a:r>
              <a:rPr lang="en-US" sz="2000" b="1" dirty="0">
                <a:solidFill>
                  <a:schemeClr val="accent1"/>
                </a:solidFill>
              </a:rPr>
              <a:t>Build</a:t>
            </a:r>
            <a:endParaRPr lang="en-US" sz="2000" dirty="0"/>
          </a:p>
        </p:txBody>
      </p:sp>
      <p:sp>
        <p:nvSpPr>
          <p:cNvPr id="12" name="Text 8"/>
          <p:cNvSpPr txBox="1"/>
          <p:nvPr/>
        </p:nvSpPr>
        <p:spPr>
          <a:xfrm>
            <a:off x="4617720" y="2377440"/>
            <a:ext cx="3017520" cy="731520"/>
          </a:xfrm>
          <a:prstGeom prst="rect">
            <a:avLst/>
          </a:prstGeom>
          <a:noFill/>
          <a:ln/>
        </p:spPr>
        <p:txBody>
          <a:bodyPr wrap="square" lIns="0" tIns="0" rIns="0" bIns="0" rtlCol="0" anchor="t"/>
          <a:lstStyle/>
          <a:p>
            <a:pPr indent="0" marL="0">
              <a:buNone/>
            </a:pPr>
            <a:r>
              <a:rPr lang="en-US" sz="1400" dirty="0">
                <a:solidFill>
                  <a:schemeClr val="tx1"/>
                </a:solidFill>
              </a:rPr>
              <a:t>Prototype developed in six two-week sprints</a:t>
            </a:r>
            <a:endParaRPr lang="en-US" sz="1400" dirty="0"/>
          </a:p>
        </p:txBody>
      </p:sp>
      <p:sp>
        <p:nvSpPr>
          <p:cNvPr id="13" name="design science step 3"/>
          <p:cNvSpPr/>
          <p:nvPr/>
        </p:nvSpPr>
        <p:spPr>
          <a:xfrm>
            <a:off x="8138160" y="1371600"/>
            <a:ext cx="3520440" cy="1828800"/>
          </a:xfrm>
          <a:prstGeom prst="roundRect">
            <a:avLst>
              <a:gd name="adj" fmla="val 6000"/>
            </a:avLst>
          </a:prstGeom>
          <a:solidFill>
            <a:schemeClr val="bg2"/>
          </a:solidFill>
          <a:ln w="12700">
            <a:solidFill>
              <a:schemeClr val="bg2"/>
            </a:solidFill>
            <a:prstDash val="solid"/>
          </a:ln>
        </p:spPr>
      </p:sp>
      <p:sp>
        <p:nvSpPr>
          <p:cNvPr id="14" name="step icon 3 circle"/>
          <p:cNvSpPr/>
          <p:nvPr/>
        </p:nvSpPr>
        <p:spPr>
          <a:xfrm>
            <a:off x="8412480" y="1600200"/>
            <a:ext cx="640080" cy="640080"/>
          </a:xfrm>
          <a:prstGeom prst="ellipse">
            <a:avLst/>
          </a:prstGeom>
          <a:solidFill>
            <a:schemeClr val="accent1"/>
          </a:solidFill>
          <a:ln w="12700">
            <a:solidFill>
              <a:schemeClr val="accent1"/>
            </a:solidFill>
            <a:prstDash val="solid"/>
          </a:ln>
        </p:spPr>
      </p:sp>
      <p:pic>
        <p:nvPicPr>
          <p:cNvPr id="15" name="step icon 3" descr="preencoded.png">    </p:cNvPr>
          <p:cNvPicPr>
            <a:picLocks noChangeAspect="1"/>
          </p:cNvPicPr>
          <p:nvPr/>
        </p:nvPicPr>
        <p:blipFill>
          <a:blip r:embed="rId3"/>
          <a:stretch>
            <a:fillRect/>
          </a:stretch>
        </p:blipFill>
        <p:spPr>
          <a:xfrm>
            <a:off x="8566099" y="1753819"/>
            <a:ext cx="332842" cy="332842"/>
          </a:xfrm>
          <a:prstGeom prst="rect">
            <a:avLst/>
          </a:prstGeom>
        </p:spPr>
      </p:pic>
      <p:sp>
        <p:nvSpPr>
          <p:cNvPr id="16" name="Text 11"/>
          <p:cNvSpPr txBox="1"/>
          <p:nvPr/>
        </p:nvSpPr>
        <p:spPr>
          <a:xfrm>
            <a:off x="9189720" y="1645920"/>
            <a:ext cx="2286000" cy="548640"/>
          </a:xfrm>
          <a:prstGeom prst="rect">
            <a:avLst/>
          </a:prstGeom>
          <a:noFill/>
          <a:ln/>
        </p:spPr>
        <p:txBody>
          <a:bodyPr wrap="square" lIns="0" tIns="0" rIns="0" bIns="0" rtlCol="0" anchor="ctr"/>
          <a:lstStyle/>
          <a:p>
            <a:pPr indent="0" marL="0">
              <a:buNone/>
            </a:pPr>
            <a:r>
              <a:rPr lang="en-US" sz="2000" b="1" dirty="0">
                <a:solidFill>
                  <a:schemeClr val="accent1"/>
                </a:solidFill>
              </a:rPr>
              <a:t>Evaluate</a:t>
            </a:r>
            <a:endParaRPr lang="en-US" sz="2000" dirty="0"/>
          </a:p>
        </p:txBody>
      </p:sp>
      <p:sp>
        <p:nvSpPr>
          <p:cNvPr id="17" name="Text 12"/>
          <p:cNvSpPr txBox="1"/>
          <p:nvPr/>
        </p:nvSpPr>
        <p:spPr>
          <a:xfrm>
            <a:off x="8412480" y="2377440"/>
            <a:ext cx="3017520" cy="731520"/>
          </a:xfrm>
          <a:prstGeom prst="rect">
            <a:avLst/>
          </a:prstGeom>
          <a:noFill/>
          <a:ln/>
        </p:spPr>
        <p:txBody>
          <a:bodyPr wrap="square" lIns="0" tIns="0" rIns="0" bIns="0" rtlCol="0" anchor="t"/>
          <a:lstStyle/>
          <a:p>
            <a:pPr indent="0" marL="0">
              <a:buNone/>
            </a:pPr>
            <a:r>
              <a:rPr lang="en-US" sz="1400" dirty="0">
                <a:solidFill>
                  <a:schemeClr val="tx1"/>
                </a:solidFill>
              </a:rPr>
              <a:t>120-item test set and a user pilot with Survey B</a:t>
            </a:r>
            <a:endParaRPr lang="en-US" sz="1400" dirty="0"/>
          </a:p>
        </p:txBody>
      </p:sp>
      <p:sp>
        <p:nvSpPr>
          <p:cNvPr id="18" name="Text 13"/>
          <p:cNvSpPr txBox="1"/>
          <p:nvPr/>
        </p:nvSpPr>
        <p:spPr>
          <a:xfrm>
            <a:off x="548640" y="3520440"/>
            <a:ext cx="5486400" cy="411480"/>
          </a:xfrm>
          <a:prstGeom prst="rect">
            <a:avLst/>
          </a:prstGeom>
          <a:noFill/>
          <a:ln/>
        </p:spPr>
        <p:txBody>
          <a:bodyPr wrap="square" lIns="0" tIns="0" rIns="0" bIns="0" rtlCol="0" anchor="t"/>
          <a:lstStyle/>
          <a:p>
            <a:pPr indent="0" marL="0">
              <a:buNone/>
            </a:pPr>
            <a:r>
              <a:rPr lang="en-US" sz="1800" b="1" dirty="0">
                <a:solidFill>
                  <a:schemeClr val="accent1"/>
                </a:solidFill>
              </a:rPr>
              <a:t>Sprint plan (12 weeks)</a:t>
            </a:r>
            <a:endParaRPr lang="en-US" sz="1800" dirty="0"/>
          </a:p>
        </p:txBody>
      </p:sp>
      <p:sp>
        <p:nvSpPr>
          <p:cNvPr id="19" name="sprint 0"/>
          <p:cNvSpPr/>
          <p:nvPr/>
        </p:nvSpPr>
        <p:spPr>
          <a:xfrm>
            <a:off x="548640" y="4069080"/>
            <a:ext cx="1719072" cy="1874520"/>
          </a:xfrm>
          <a:prstGeom prst="roundRect">
            <a:avLst>
              <a:gd name="adj" fmla="val 5319"/>
            </a:avLst>
          </a:prstGeom>
          <a:solidFill>
            <a:schemeClr val="accent2"/>
          </a:solidFill>
          <a:ln w="12700">
            <a:solidFill>
              <a:schemeClr val="accent2"/>
            </a:solidFill>
            <a:prstDash val="solid"/>
          </a:ln>
        </p:spPr>
      </p:sp>
      <p:sp>
        <p:nvSpPr>
          <p:cNvPr id="20" name="Text 15"/>
          <p:cNvSpPr txBox="1"/>
          <p:nvPr/>
        </p:nvSpPr>
        <p:spPr>
          <a:xfrm>
            <a:off x="685800" y="4206240"/>
            <a:ext cx="1463040" cy="365760"/>
          </a:xfrm>
          <a:prstGeom prst="rect">
            <a:avLst/>
          </a:prstGeom>
          <a:noFill/>
          <a:ln/>
        </p:spPr>
        <p:txBody>
          <a:bodyPr wrap="square" lIns="0" tIns="0" rIns="0" bIns="0" rtlCol="0" anchor="t"/>
          <a:lstStyle/>
          <a:p>
            <a:pPr indent="0" marL="0">
              <a:buNone/>
            </a:pPr>
            <a:r>
              <a:rPr lang="en-US" sz="1500" b="1" dirty="0">
                <a:solidFill>
                  <a:schemeClr val="bg1"/>
                </a:solidFill>
              </a:rPr>
              <a:t>Sprint 0</a:t>
            </a:r>
            <a:endParaRPr lang="en-US" sz="1500" dirty="0"/>
          </a:p>
        </p:txBody>
      </p:sp>
      <p:sp>
        <p:nvSpPr>
          <p:cNvPr id="21" name="Text 16"/>
          <p:cNvSpPr txBox="1"/>
          <p:nvPr/>
        </p:nvSpPr>
        <p:spPr>
          <a:xfrm>
            <a:off x="685800" y="4553712"/>
            <a:ext cx="1463040" cy="274320"/>
          </a:xfrm>
          <a:prstGeom prst="rect">
            <a:avLst/>
          </a:prstGeom>
          <a:noFill/>
          <a:ln/>
        </p:spPr>
        <p:txBody>
          <a:bodyPr wrap="square" lIns="0" tIns="0" rIns="0" bIns="0" rtlCol="0" anchor="t"/>
          <a:lstStyle/>
          <a:p>
            <a:pPr indent="0" marL="0">
              <a:buNone/>
            </a:pPr>
            <a:r>
              <a:rPr lang="en-US" sz="1100" dirty="0">
                <a:solidFill>
                  <a:schemeClr val="bg1"/>
                </a:solidFill>
              </a:rPr>
              <a:t>Weeks 1–2</a:t>
            </a:r>
            <a:endParaRPr lang="en-US" sz="1100" dirty="0"/>
          </a:p>
        </p:txBody>
      </p:sp>
      <p:sp>
        <p:nvSpPr>
          <p:cNvPr id="22" name="Text 17"/>
          <p:cNvSpPr txBox="1"/>
          <p:nvPr/>
        </p:nvSpPr>
        <p:spPr>
          <a:xfrm>
            <a:off x="685800" y="4892040"/>
            <a:ext cx="1463040" cy="1005840"/>
          </a:xfrm>
          <a:prstGeom prst="rect">
            <a:avLst/>
          </a:prstGeom>
          <a:noFill/>
          <a:ln/>
        </p:spPr>
        <p:txBody>
          <a:bodyPr wrap="square" lIns="0" tIns="0" rIns="0" bIns="0" rtlCol="0" anchor="t"/>
          <a:lstStyle/>
          <a:p>
            <a:pPr indent="0" marL="0">
              <a:buNone/>
            </a:pPr>
            <a:r>
              <a:rPr lang="en-US" sz="1300" dirty="0">
                <a:solidFill>
                  <a:schemeClr val="bg1"/>
                </a:solidFill>
              </a:rPr>
              <a:t>Interviews, requirements, test-set draft</a:t>
            </a:r>
            <a:endParaRPr lang="en-US" sz="1300" dirty="0"/>
          </a:p>
        </p:txBody>
      </p:sp>
      <p:sp>
        <p:nvSpPr>
          <p:cNvPr id="23" name="sprint 1"/>
          <p:cNvSpPr/>
          <p:nvPr/>
        </p:nvSpPr>
        <p:spPr>
          <a:xfrm>
            <a:off x="2414016" y="4069080"/>
            <a:ext cx="1719072" cy="1874520"/>
          </a:xfrm>
          <a:prstGeom prst="roundRect">
            <a:avLst>
              <a:gd name="adj" fmla="val 5319"/>
            </a:avLst>
          </a:prstGeom>
          <a:solidFill>
            <a:schemeClr val="accent3"/>
          </a:solidFill>
          <a:ln w="12700">
            <a:solidFill>
              <a:schemeClr val="accent3"/>
            </a:solidFill>
            <a:prstDash val="solid"/>
          </a:ln>
        </p:spPr>
      </p:sp>
      <p:sp>
        <p:nvSpPr>
          <p:cNvPr id="24" name="Text 19"/>
          <p:cNvSpPr txBox="1"/>
          <p:nvPr/>
        </p:nvSpPr>
        <p:spPr>
          <a:xfrm>
            <a:off x="2551176" y="4206240"/>
            <a:ext cx="1463040" cy="365760"/>
          </a:xfrm>
          <a:prstGeom prst="rect">
            <a:avLst/>
          </a:prstGeom>
          <a:noFill/>
          <a:ln/>
        </p:spPr>
        <p:txBody>
          <a:bodyPr wrap="square" lIns="0" tIns="0" rIns="0" bIns="0" rtlCol="0" anchor="t"/>
          <a:lstStyle/>
          <a:p>
            <a:pPr indent="0" marL="0">
              <a:buNone/>
            </a:pPr>
            <a:r>
              <a:rPr lang="en-US" sz="1500" b="1" dirty="0">
                <a:solidFill>
                  <a:schemeClr val="bg1"/>
                </a:solidFill>
              </a:rPr>
              <a:t>Sprint 1</a:t>
            </a:r>
            <a:endParaRPr lang="en-US" sz="1500" dirty="0"/>
          </a:p>
        </p:txBody>
      </p:sp>
      <p:sp>
        <p:nvSpPr>
          <p:cNvPr id="25" name="Text 20"/>
          <p:cNvSpPr txBox="1"/>
          <p:nvPr/>
        </p:nvSpPr>
        <p:spPr>
          <a:xfrm>
            <a:off x="2551176" y="4553712"/>
            <a:ext cx="1463040" cy="274320"/>
          </a:xfrm>
          <a:prstGeom prst="rect">
            <a:avLst/>
          </a:prstGeom>
          <a:noFill/>
          <a:ln/>
        </p:spPr>
        <p:txBody>
          <a:bodyPr wrap="square" lIns="0" tIns="0" rIns="0" bIns="0" rtlCol="0" anchor="t"/>
          <a:lstStyle/>
          <a:p>
            <a:pPr indent="0" marL="0">
              <a:buNone/>
            </a:pPr>
            <a:r>
              <a:rPr lang="en-US" sz="1100" dirty="0">
                <a:solidFill>
                  <a:schemeClr val="bg1"/>
                </a:solidFill>
              </a:rPr>
              <a:t>Weeks 3–4</a:t>
            </a:r>
            <a:endParaRPr lang="en-US" sz="1100" dirty="0"/>
          </a:p>
        </p:txBody>
      </p:sp>
      <p:sp>
        <p:nvSpPr>
          <p:cNvPr id="26" name="Text 21"/>
          <p:cNvSpPr txBox="1"/>
          <p:nvPr/>
        </p:nvSpPr>
        <p:spPr>
          <a:xfrm>
            <a:off x="2551176" y="4892040"/>
            <a:ext cx="1463040" cy="1005840"/>
          </a:xfrm>
          <a:prstGeom prst="rect">
            <a:avLst/>
          </a:prstGeom>
          <a:noFill/>
          <a:ln/>
        </p:spPr>
        <p:txBody>
          <a:bodyPr wrap="square" lIns="0" tIns="0" rIns="0" bIns="0" rtlCol="0" anchor="t"/>
          <a:lstStyle/>
          <a:p>
            <a:pPr indent="0" marL="0">
              <a:buNone/>
            </a:pPr>
            <a:r>
              <a:rPr lang="en-US" sz="1300" dirty="0">
                <a:solidFill>
                  <a:schemeClr val="bg1"/>
                </a:solidFill>
              </a:rPr>
              <a:t>Database, login, owner dashboard</a:t>
            </a:r>
            <a:endParaRPr lang="en-US" sz="1300" dirty="0"/>
          </a:p>
        </p:txBody>
      </p:sp>
      <p:sp>
        <p:nvSpPr>
          <p:cNvPr id="27" name="sprint 2"/>
          <p:cNvSpPr/>
          <p:nvPr/>
        </p:nvSpPr>
        <p:spPr>
          <a:xfrm>
            <a:off x="4279392" y="4069080"/>
            <a:ext cx="1719072" cy="1874520"/>
          </a:xfrm>
          <a:prstGeom prst="roundRect">
            <a:avLst>
              <a:gd name="adj" fmla="val 5319"/>
            </a:avLst>
          </a:prstGeom>
          <a:solidFill>
            <a:schemeClr val="accent3"/>
          </a:solidFill>
          <a:ln w="12700">
            <a:solidFill>
              <a:schemeClr val="accent3"/>
            </a:solidFill>
            <a:prstDash val="solid"/>
          </a:ln>
        </p:spPr>
      </p:sp>
      <p:sp>
        <p:nvSpPr>
          <p:cNvPr id="28" name="Text 23"/>
          <p:cNvSpPr txBox="1"/>
          <p:nvPr/>
        </p:nvSpPr>
        <p:spPr>
          <a:xfrm>
            <a:off x="4416552" y="4206240"/>
            <a:ext cx="1463040" cy="365760"/>
          </a:xfrm>
          <a:prstGeom prst="rect">
            <a:avLst/>
          </a:prstGeom>
          <a:noFill/>
          <a:ln/>
        </p:spPr>
        <p:txBody>
          <a:bodyPr wrap="square" lIns="0" tIns="0" rIns="0" bIns="0" rtlCol="0" anchor="t"/>
          <a:lstStyle/>
          <a:p>
            <a:pPr indent="0" marL="0">
              <a:buNone/>
            </a:pPr>
            <a:r>
              <a:rPr lang="en-US" sz="1500" b="1" dirty="0">
                <a:solidFill>
                  <a:schemeClr val="bg1"/>
                </a:solidFill>
              </a:rPr>
              <a:t>Sprint 2</a:t>
            </a:r>
            <a:endParaRPr lang="en-US" sz="1500" dirty="0"/>
          </a:p>
        </p:txBody>
      </p:sp>
      <p:sp>
        <p:nvSpPr>
          <p:cNvPr id="29" name="Text 24"/>
          <p:cNvSpPr txBox="1"/>
          <p:nvPr/>
        </p:nvSpPr>
        <p:spPr>
          <a:xfrm>
            <a:off x="4416552" y="4553712"/>
            <a:ext cx="1463040" cy="274320"/>
          </a:xfrm>
          <a:prstGeom prst="rect">
            <a:avLst/>
          </a:prstGeom>
          <a:noFill/>
          <a:ln/>
        </p:spPr>
        <p:txBody>
          <a:bodyPr wrap="square" lIns="0" tIns="0" rIns="0" bIns="0" rtlCol="0" anchor="t"/>
          <a:lstStyle/>
          <a:p>
            <a:pPr indent="0" marL="0">
              <a:buNone/>
            </a:pPr>
            <a:r>
              <a:rPr lang="en-US" sz="1100" dirty="0">
                <a:solidFill>
                  <a:schemeClr val="bg1"/>
                </a:solidFill>
              </a:rPr>
              <a:t>Weeks 5–6</a:t>
            </a:r>
            <a:endParaRPr lang="en-US" sz="1100" dirty="0"/>
          </a:p>
        </p:txBody>
      </p:sp>
      <p:sp>
        <p:nvSpPr>
          <p:cNvPr id="30" name="Text 25"/>
          <p:cNvSpPr txBox="1"/>
          <p:nvPr/>
        </p:nvSpPr>
        <p:spPr>
          <a:xfrm>
            <a:off x="4416552" y="4892040"/>
            <a:ext cx="1463040" cy="1005840"/>
          </a:xfrm>
          <a:prstGeom prst="rect">
            <a:avLst/>
          </a:prstGeom>
          <a:noFill/>
          <a:ln/>
        </p:spPr>
        <p:txBody>
          <a:bodyPr wrap="square" lIns="0" tIns="0" rIns="0" bIns="0" rtlCol="0" anchor="t"/>
          <a:lstStyle/>
          <a:p>
            <a:pPr indent="0" marL="0">
              <a:buNone/>
            </a:pPr>
            <a:r>
              <a:rPr lang="en-US" sz="1300" dirty="0">
                <a:solidFill>
                  <a:schemeClr val="bg1"/>
                </a:solidFill>
              </a:rPr>
              <a:t>Masking, language and intent, retrieval</a:t>
            </a:r>
            <a:endParaRPr lang="en-US" sz="1300" dirty="0"/>
          </a:p>
        </p:txBody>
      </p:sp>
      <p:sp>
        <p:nvSpPr>
          <p:cNvPr id="31" name="sprint 3"/>
          <p:cNvSpPr/>
          <p:nvPr/>
        </p:nvSpPr>
        <p:spPr>
          <a:xfrm>
            <a:off x="6144768" y="4069080"/>
            <a:ext cx="1719072" cy="1874520"/>
          </a:xfrm>
          <a:prstGeom prst="roundRect">
            <a:avLst>
              <a:gd name="adj" fmla="val 5319"/>
            </a:avLst>
          </a:prstGeom>
          <a:solidFill>
            <a:schemeClr val="accent3"/>
          </a:solidFill>
          <a:ln w="12700">
            <a:solidFill>
              <a:schemeClr val="accent3"/>
            </a:solidFill>
            <a:prstDash val="solid"/>
          </a:ln>
        </p:spPr>
      </p:sp>
      <p:sp>
        <p:nvSpPr>
          <p:cNvPr id="32" name="Text 27"/>
          <p:cNvSpPr txBox="1"/>
          <p:nvPr/>
        </p:nvSpPr>
        <p:spPr>
          <a:xfrm>
            <a:off x="6281928" y="4206240"/>
            <a:ext cx="1463040" cy="365760"/>
          </a:xfrm>
          <a:prstGeom prst="rect">
            <a:avLst/>
          </a:prstGeom>
          <a:noFill/>
          <a:ln/>
        </p:spPr>
        <p:txBody>
          <a:bodyPr wrap="square" lIns="0" tIns="0" rIns="0" bIns="0" rtlCol="0" anchor="t"/>
          <a:lstStyle/>
          <a:p>
            <a:pPr indent="0" marL="0">
              <a:buNone/>
            </a:pPr>
            <a:r>
              <a:rPr lang="en-US" sz="1500" b="1" dirty="0">
                <a:solidFill>
                  <a:schemeClr val="bg1"/>
                </a:solidFill>
              </a:rPr>
              <a:t>Sprint 3</a:t>
            </a:r>
            <a:endParaRPr lang="en-US" sz="1500" dirty="0"/>
          </a:p>
        </p:txBody>
      </p:sp>
      <p:sp>
        <p:nvSpPr>
          <p:cNvPr id="33" name="Text 28"/>
          <p:cNvSpPr txBox="1"/>
          <p:nvPr/>
        </p:nvSpPr>
        <p:spPr>
          <a:xfrm>
            <a:off x="6281928" y="4553712"/>
            <a:ext cx="1463040" cy="274320"/>
          </a:xfrm>
          <a:prstGeom prst="rect">
            <a:avLst/>
          </a:prstGeom>
          <a:noFill/>
          <a:ln/>
        </p:spPr>
        <p:txBody>
          <a:bodyPr wrap="square" lIns="0" tIns="0" rIns="0" bIns="0" rtlCol="0" anchor="t"/>
          <a:lstStyle/>
          <a:p>
            <a:pPr indent="0" marL="0">
              <a:buNone/>
            </a:pPr>
            <a:r>
              <a:rPr lang="en-US" sz="1100" dirty="0">
                <a:solidFill>
                  <a:schemeClr val="bg1"/>
                </a:solidFill>
              </a:rPr>
              <a:t>Weeks 7–8</a:t>
            </a:r>
            <a:endParaRPr lang="en-US" sz="1100" dirty="0"/>
          </a:p>
        </p:txBody>
      </p:sp>
      <p:sp>
        <p:nvSpPr>
          <p:cNvPr id="34" name="Text 29"/>
          <p:cNvSpPr txBox="1"/>
          <p:nvPr/>
        </p:nvSpPr>
        <p:spPr>
          <a:xfrm>
            <a:off x="6281928" y="4892040"/>
            <a:ext cx="1463040" cy="1005840"/>
          </a:xfrm>
          <a:prstGeom prst="rect">
            <a:avLst/>
          </a:prstGeom>
          <a:noFill/>
          <a:ln/>
        </p:spPr>
        <p:txBody>
          <a:bodyPr wrap="square" lIns="0" tIns="0" rIns="0" bIns="0" rtlCol="0" anchor="t"/>
          <a:lstStyle/>
          <a:p>
            <a:pPr indent="0" marL="0">
              <a:buNone/>
            </a:pPr>
            <a:r>
              <a:rPr lang="en-US" sz="1300" dirty="0">
                <a:solidFill>
                  <a:schemeClr val="bg1"/>
                </a:solidFill>
              </a:rPr>
              <a:t>Grounded replies, confidence check, escalation</a:t>
            </a:r>
            <a:endParaRPr lang="en-US" sz="1300" dirty="0"/>
          </a:p>
        </p:txBody>
      </p:sp>
      <p:sp>
        <p:nvSpPr>
          <p:cNvPr id="35" name="sprint 4"/>
          <p:cNvSpPr/>
          <p:nvPr/>
        </p:nvSpPr>
        <p:spPr>
          <a:xfrm>
            <a:off x="8010144" y="4069080"/>
            <a:ext cx="1719072" cy="1874520"/>
          </a:xfrm>
          <a:prstGeom prst="roundRect">
            <a:avLst>
              <a:gd name="adj" fmla="val 5319"/>
            </a:avLst>
          </a:prstGeom>
          <a:solidFill>
            <a:schemeClr val="accent3"/>
          </a:solidFill>
          <a:ln w="12700">
            <a:solidFill>
              <a:schemeClr val="accent3"/>
            </a:solidFill>
            <a:prstDash val="solid"/>
          </a:ln>
        </p:spPr>
      </p:sp>
      <p:sp>
        <p:nvSpPr>
          <p:cNvPr id="36" name="Text 31"/>
          <p:cNvSpPr txBox="1"/>
          <p:nvPr/>
        </p:nvSpPr>
        <p:spPr>
          <a:xfrm>
            <a:off x="8147304" y="4206240"/>
            <a:ext cx="1463040" cy="365760"/>
          </a:xfrm>
          <a:prstGeom prst="rect">
            <a:avLst/>
          </a:prstGeom>
          <a:noFill/>
          <a:ln/>
        </p:spPr>
        <p:txBody>
          <a:bodyPr wrap="square" lIns="0" tIns="0" rIns="0" bIns="0" rtlCol="0" anchor="t"/>
          <a:lstStyle/>
          <a:p>
            <a:pPr indent="0" marL="0">
              <a:buNone/>
            </a:pPr>
            <a:r>
              <a:rPr lang="en-US" sz="1500" b="1" dirty="0">
                <a:solidFill>
                  <a:schemeClr val="bg1"/>
                </a:solidFill>
              </a:rPr>
              <a:t>Sprint 4</a:t>
            </a:r>
            <a:endParaRPr lang="en-US" sz="1500" dirty="0"/>
          </a:p>
        </p:txBody>
      </p:sp>
      <p:sp>
        <p:nvSpPr>
          <p:cNvPr id="37" name="Text 32"/>
          <p:cNvSpPr txBox="1"/>
          <p:nvPr/>
        </p:nvSpPr>
        <p:spPr>
          <a:xfrm>
            <a:off x="8147304" y="4553712"/>
            <a:ext cx="1463040" cy="274320"/>
          </a:xfrm>
          <a:prstGeom prst="rect">
            <a:avLst/>
          </a:prstGeom>
          <a:noFill/>
          <a:ln/>
        </p:spPr>
        <p:txBody>
          <a:bodyPr wrap="square" lIns="0" tIns="0" rIns="0" bIns="0" rtlCol="0" anchor="t"/>
          <a:lstStyle/>
          <a:p>
            <a:pPr indent="0" marL="0">
              <a:buNone/>
            </a:pPr>
            <a:r>
              <a:rPr lang="en-US" sz="1100" dirty="0">
                <a:solidFill>
                  <a:schemeClr val="bg1"/>
                </a:solidFill>
              </a:rPr>
              <a:t>Weeks 9–10</a:t>
            </a:r>
            <a:endParaRPr lang="en-US" sz="1100" dirty="0"/>
          </a:p>
        </p:txBody>
      </p:sp>
      <p:sp>
        <p:nvSpPr>
          <p:cNvPr id="38" name="Text 33"/>
          <p:cNvSpPr txBox="1"/>
          <p:nvPr/>
        </p:nvSpPr>
        <p:spPr>
          <a:xfrm>
            <a:off x="8147304" y="4892040"/>
            <a:ext cx="1463040" cy="1005840"/>
          </a:xfrm>
          <a:prstGeom prst="rect">
            <a:avLst/>
          </a:prstGeom>
          <a:noFill/>
          <a:ln/>
        </p:spPr>
        <p:txBody>
          <a:bodyPr wrap="square" lIns="0" tIns="0" rIns="0" bIns="0" rtlCol="0" anchor="t"/>
          <a:lstStyle/>
          <a:p>
            <a:pPr indent="0" marL="0">
              <a:buNone/>
            </a:pPr>
            <a:r>
              <a:rPr lang="en-US" sz="1300" dirty="0">
                <a:solidFill>
                  <a:schemeClr val="bg1"/>
                </a:solidFill>
              </a:rPr>
              <a:t>Chat interface, reports, security</a:t>
            </a:r>
            <a:endParaRPr lang="en-US" sz="1300" dirty="0"/>
          </a:p>
        </p:txBody>
      </p:sp>
      <p:sp>
        <p:nvSpPr>
          <p:cNvPr id="39" name="sprint 5"/>
          <p:cNvSpPr/>
          <p:nvPr/>
        </p:nvSpPr>
        <p:spPr>
          <a:xfrm>
            <a:off x="9875520" y="4069080"/>
            <a:ext cx="1719072" cy="1874520"/>
          </a:xfrm>
          <a:prstGeom prst="roundRect">
            <a:avLst>
              <a:gd name="adj" fmla="val 5319"/>
            </a:avLst>
          </a:prstGeom>
          <a:solidFill>
            <a:schemeClr val="accent3"/>
          </a:solidFill>
          <a:ln w="12700">
            <a:solidFill>
              <a:schemeClr val="accent3"/>
            </a:solidFill>
            <a:prstDash val="solid"/>
          </a:ln>
        </p:spPr>
      </p:sp>
      <p:sp>
        <p:nvSpPr>
          <p:cNvPr id="40" name="Text 35"/>
          <p:cNvSpPr txBox="1"/>
          <p:nvPr/>
        </p:nvSpPr>
        <p:spPr>
          <a:xfrm>
            <a:off x="10012680" y="4206240"/>
            <a:ext cx="1463040" cy="365760"/>
          </a:xfrm>
          <a:prstGeom prst="rect">
            <a:avLst/>
          </a:prstGeom>
          <a:noFill/>
          <a:ln/>
        </p:spPr>
        <p:txBody>
          <a:bodyPr wrap="square" lIns="0" tIns="0" rIns="0" bIns="0" rtlCol="0" anchor="t"/>
          <a:lstStyle/>
          <a:p>
            <a:pPr indent="0" marL="0">
              <a:buNone/>
            </a:pPr>
            <a:r>
              <a:rPr lang="en-US" sz="1500" b="1" dirty="0">
                <a:solidFill>
                  <a:schemeClr val="bg1"/>
                </a:solidFill>
              </a:rPr>
              <a:t>Sprint 5</a:t>
            </a:r>
            <a:endParaRPr lang="en-US" sz="1500" dirty="0"/>
          </a:p>
        </p:txBody>
      </p:sp>
      <p:sp>
        <p:nvSpPr>
          <p:cNvPr id="41" name="Text 36"/>
          <p:cNvSpPr txBox="1"/>
          <p:nvPr/>
        </p:nvSpPr>
        <p:spPr>
          <a:xfrm>
            <a:off x="10012680" y="4553712"/>
            <a:ext cx="1463040" cy="274320"/>
          </a:xfrm>
          <a:prstGeom prst="rect">
            <a:avLst/>
          </a:prstGeom>
          <a:noFill/>
          <a:ln/>
        </p:spPr>
        <p:txBody>
          <a:bodyPr wrap="square" lIns="0" tIns="0" rIns="0" bIns="0" rtlCol="0" anchor="t"/>
          <a:lstStyle/>
          <a:p>
            <a:pPr indent="0" marL="0">
              <a:buNone/>
            </a:pPr>
            <a:r>
              <a:rPr lang="en-US" sz="1100" dirty="0">
                <a:solidFill>
                  <a:schemeClr val="bg1"/>
                </a:solidFill>
              </a:rPr>
              <a:t>Weeks 11–12</a:t>
            </a:r>
            <a:endParaRPr lang="en-US" sz="1100" dirty="0"/>
          </a:p>
        </p:txBody>
      </p:sp>
      <p:sp>
        <p:nvSpPr>
          <p:cNvPr id="42" name="Text 37"/>
          <p:cNvSpPr txBox="1"/>
          <p:nvPr/>
        </p:nvSpPr>
        <p:spPr>
          <a:xfrm>
            <a:off x="10012680" y="4892040"/>
            <a:ext cx="1463040" cy="1005840"/>
          </a:xfrm>
          <a:prstGeom prst="rect">
            <a:avLst/>
          </a:prstGeom>
          <a:noFill/>
          <a:ln/>
        </p:spPr>
        <p:txBody>
          <a:bodyPr wrap="square" lIns="0" tIns="0" rIns="0" bIns="0" rtlCol="0" anchor="t"/>
          <a:lstStyle/>
          <a:p>
            <a:pPr indent="0" marL="0">
              <a:buNone/>
            </a:pPr>
            <a:r>
              <a:rPr lang="en-US" sz="1300" dirty="0">
                <a:solidFill>
                  <a:schemeClr val="bg1"/>
                </a:solidFill>
              </a:rPr>
              <a:t>Testing, pilot, fixes, documentation</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A8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accent1"/>
                </a:solidFill>
                <a:latin typeface="Cambria" pitchFamily="34" charset="0"/>
                <a:ea typeface="Cambria" pitchFamily="34" charset="-122"/>
                <a:cs typeface="Cambria" pitchFamily="34" charset="-120"/>
              </a:rPr>
              <a:t>Four options compared</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286000"/>
                <a:gridCol w="2103120"/>
                <a:gridCol w="2011680"/>
                <a:gridCol w="2103120"/>
                <a:gridCol w="2560320"/>
              </a:tblGrid>
              <a:tr h="502920">
                <a:tc>
                  <a:txBody>
                    <a:bodyPr/>
                    <a:lstStyle/>
                    <a:p>
                      <a:pPr indent="0" marL="0">
                        <a:buNone/>
                      </a:pPr>
                      <a:r>
                        <a:rPr lang="en-US" sz="1300" b="1" dirty="0">
                          <a:solidFill>
                            <a:schemeClr val="bg1"/>
                          </a:solidFill>
                        </a:rPr>
                        <a:t>Criterion</a:t>
                      </a:r>
                      <a:endParaRPr lang="en-US" sz="1300" dirty="0"/>
                    </a:p>
                  </a:txBody>
                  <a:tcPr marL="73152" marR="73152" marT="73152" marB="73152" anchor="ctr">
                    <a:lnL w="9525" cap="flat" cmpd="sng" algn="ctr">
                      <a:solidFill>
                        <a:srgbClr val="C9D6CF"/>
                      </a:solidFill>
                      <a:prstDash val="solid"/>
                      <a:round/>
                      <a:headEnd type="none" w="med" len="med"/>
                      <a:tailEnd type="none" w="med" len="med"/>
                    </a:lnL>
                    <a:lnR w="9525" cap="flat" cmpd="sng" algn="ctr">
                      <a:solidFill>
                        <a:srgbClr val="C9D6CF"/>
                      </a:solidFill>
                      <a:prstDash val="solid"/>
                      <a:round/>
                      <a:headEnd type="none" w="med" len="med"/>
                      <a:tailEnd type="none" w="med" len="med"/>
                    </a:lnR>
                    <a:lnT w="9525" cap="flat" cmpd="sng" algn="ctr">
                      <a:solidFill>
                        <a:srgbClr val="C9D6CF"/>
                      </a:solidFill>
                      <a:prstDash val="solid"/>
                      <a:round/>
                      <a:headEnd type="none" w="med" len="med"/>
                      <a:tailEnd type="none" w="med" len="med"/>
                    </a:lnT>
                    <a:lnB w="9525" cap="flat" cmpd="sng" algn="ctr">
                      <a:solidFill>
                        <a:srgbClr val="C9D6CF"/>
                      </a:solidFill>
                      <a:prstDash val="solid"/>
                      <a:round/>
                      <a:headEnd type="none" w="med" len="med"/>
                      <a:tailEnd type="none" w="med" len="med"/>
                    </a:lnB>
                    <a:solidFill>
                      <a:schemeClr val="accent1"/>
                    </a:solidFill>
                  </a:tcPr>
                </a:tc>
                <a:tc>
                  <a:txBody>
                    <a:bodyPr/>
                    <a:lstStyle/>
                    <a:p>
                      <a:pPr indent="0" marL="0">
                        <a:buNone/>
                      </a:pPr>
                      <a:r>
                        <a:rPr lang="en-US" sz="1300" b="1" dirty="0">
                          <a:solidFill>
                            <a:schemeClr val="bg1"/>
                          </a:solidFill>
                        </a:rPr>
                        <a:t>A. Manual and saved replies</a:t>
                      </a:r>
                      <a:endParaRPr lang="en-US" sz="1300" dirty="0"/>
                    </a:p>
                  </a:txBody>
                  <a:tcPr marL="73152" marR="73152" marT="73152" marB="73152" anchor="ctr">
                    <a:lnL w="9525" cap="flat" cmpd="sng" algn="ctr">
                      <a:solidFill>
                        <a:srgbClr val="C9D6CF"/>
                      </a:solidFill>
                      <a:prstDash val="solid"/>
                      <a:round/>
                      <a:headEnd type="none" w="med" len="med"/>
                      <a:tailEnd type="none" w="med" len="med"/>
                    </a:lnL>
                    <a:lnR w="9525" cap="flat" cmpd="sng" algn="ctr">
                      <a:solidFill>
                        <a:srgbClr val="C9D6CF"/>
                      </a:solidFill>
                      <a:prstDash val="solid"/>
                      <a:round/>
                      <a:headEnd type="none" w="med" len="med"/>
                      <a:tailEnd type="none" w="med" len="med"/>
                    </a:lnR>
                    <a:lnT w="9525" cap="flat" cmpd="sng" algn="ctr">
                      <a:solidFill>
                        <a:srgbClr val="C9D6CF"/>
                      </a:solidFill>
                      <a:prstDash val="solid"/>
                      <a:round/>
                      <a:headEnd type="none" w="med" len="med"/>
                      <a:tailEnd type="none" w="med" len="med"/>
                    </a:lnT>
                    <a:lnB w="9525" cap="flat" cmpd="sng" algn="ctr">
                      <a:solidFill>
                        <a:srgbClr val="C9D6CF"/>
                      </a:solidFill>
                      <a:prstDash val="solid"/>
                      <a:round/>
                      <a:headEnd type="none" w="med" len="med"/>
                      <a:tailEnd type="none" w="med" len="med"/>
                    </a:lnB>
                    <a:solidFill>
                      <a:schemeClr val="accent1"/>
                    </a:solidFill>
                  </a:tcPr>
                </a:tc>
                <a:tc>
                  <a:txBody>
                    <a:bodyPr/>
                    <a:lstStyle/>
                    <a:p>
                      <a:pPr indent="0" marL="0">
                        <a:buNone/>
                      </a:pPr>
                      <a:r>
                        <a:rPr lang="en-US" sz="1300" b="1" dirty="0">
                          <a:solidFill>
                            <a:schemeClr val="bg1"/>
                          </a:solidFill>
                        </a:rPr>
                        <a:t>B. Keyword bot</a:t>
                      </a:r>
                      <a:endParaRPr lang="en-US" sz="1300" dirty="0"/>
                    </a:p>
                  </a:txBody>
                  <a:tcPr marL="73152" marR="73152" marT="73152" marB="73152" anchor="ctr">
                    <a:lnL w="9525" cap="flat" cmpd="sng" algn="ctr">
                      <a:solidFill>
                        <a:srgbClr val="C9D6CF"/>
                      </a:solidFill>
                      <a:prstDash val="solid"/>
                      <a:round/>
                      <a:headEnd type="none" w="med" len="med"/>
                      <a:tailEnd type="none" w="med" len="med"/>
                    </a:lnL>
                    <a:lnR w="9525" cap="flat" cmpd="sng" algn="ctr">
                      <a:solidFill>
                        <a:srgbClr val="C9D6CF"/>
                      </a:solidFill>
                      <a:prstDash val="solid"/>
                      <a:round/>
                      <a:headEnd type="none" w="med" len="med"/>
                      <a:tailEnd type="none" w="med" len="med"/>
                    </a:lnR>
                    <a:lnT w="9525" cap="flat" cmpd="sng" algn="ctr">
                      <a:solidFill>
                        <a:srgbClr val="C9D6CF"/>
                      </a:solidFill>
                      <a:prstDash val="solid"/>
                      <a:round/>
                      <a:headEnd type="none" w="med" len="med"/>
                      <a:tailEnd type="none" w="med" len="med"/>
                    </a:lnT>
                    <a:lnB w="9525" cap="flat" cmpd="sng" algn="ctr">
                      <a:solidFill>
                        <a:srgbClr val="C9D6CF"/>
                      </a:solidFill>
                      <a:prstDash val="solid"/>
                      <a:round/>
                      <a:headEnd type="none" w="med" len="med"/>
                      <a:tailEnd type="none" w="med" len="med"/>
                    </a:lnB>
                    <a:solidFill>
                      <a:schemeClr val="accent1"/>
                    </a:solidFill>
                  </a:tcPr>
                </a:tc>
                <a:tc>
                  <a:txBody>
                    <a:bodyPr/>
                    <a:lstStyle/>
                    <a:p>
                      <a:pPr indent="0" marL="0">
                        <a:buNone/>
                      </a:pPr>
                      <a:r>
                        <a:rPr lang="en-US" sz="1300" b="1" dirty="0">
                          <a:solidFill>
                            <a:schemeClr val="bg1"/>
                          </a:solidFill>
                        </a:rPr>
                        <a:t>C. General AI chatbot</a:t>
                      </a:r>
                      <a:endParaRPr lang="en-US" sz="1300" dirty="0"/>
                    </a:p>
                  </a:txBody>
                  <a:tcPr marL="73152" marR="73152" marT="73152" marB="73152" anchor="ctr">
                    <a:lnL w="9525" cap="flat" cmpd="sng" algn="ctr">
                      <a:solidFill>
                        <a:srgbClr val="C9D6CF"/>
                      </a:solidFill>
                      <a:prstDash val="solid"/>
                      <a:round/>
                      <a:headEnd type="none" w="med" len="med"/>
                      <a:tailEnd type="none" w="med" len="med"/>
                    </a:lnL>
                    <a:lnR w="9525" cap="flat" cmpd="sng" algn="ctr">
                      <a:solidFill>
                        <a:srgbClr val="C9D6CF"/>
                      </a:solidFill>
                      <a:prstDash val="solid"/>
                      <a:round/>
                      <a:headEnd type="none" w="med" len="med"/>
                      <a:tailEnd type="none" w="med" len="med"/>
                    </a:lnR>
                    <a:lnT w="9525" cap="flat" cmpd="sng" algn="ctr">
                      <a:solidFill>
                        <a:srgbClr val="C9D6CF"/>
                      </a:solidFill>
                      <a:prstDash val="solid"/>
                      <a:round/>
                      <a:headEnd type="none" w="med" len="med"/>
                      <a:tailEnd type="none" w="med" len="med"/>
                    </a:lnT>
                    <a:lnB w="9525" cap="flat" cmpd="sng" algn="ctr">
                      <a:solidFill>
                        <a:srgbClr val="C9D6CF"/>
                      </a:solidFill>
                      <a:prstDash val="solid"/>
                      <a:round/>
                      <a:headEnd type="none" w="med" len="med"/>
                      <a:tailEnd type="none" w="med" len="med"/>
                    </a:lnB>
                    <a:solidFill>
                      <a:schemeClr val="accent1"/>
                    </a:solidFill>
                  </a:tcPr>
                </a:tc>
                <a:tc>
                  <a:txBody>
                    <a:bodyPr/>
                    <a:lstStyle/>
                    <a:p>
                      <a:pPr indent="0" marL="0">
                        <a:buNone/>
                      </a:pPr>
                      <a:r>
                        <a:rPr lang="en-US" sz="1300" b="1" dirty="0">
                          <a:solidFill>
                            <a:schemeClr val="bg1"/>
                          </a:solidFill>
                        </a:rPr>
                        <a:t>D. Proposed: RAG + escalation</a:t>
                      </a:r>
                      <a:endParaRPr lang="en-US" sz="1300" dirty="0"/>
                    </a:p>
                  </a:txBody>
                  <a:tcPr marL="73152" marR="73152" marT="73152" marB="73152" anchor="ctr">
                    <a:lnL w="9525" cap="flat" cmpd="sng" algn="ctr">
                      <a:solidFill>
                        <a:srgbClr val="C9D6CF"/>
                      </a:solidFill>
                      <a:prstDash val="solid"/>
                      <a:round/>
                      <a:headEnd type="none" w="med" len="med"/>
                      <a:tailEnd type="none" w="med" len="med"/>
                    </a:lnL>
                    <a:lnR w="9525" cap="flat" cmpd="sng" algn="ctr">
                      <a:solidFill>
                        <a:srgbClr val="C9D6CF"/>
                      </a:solidFill>
                      <a:prstDash val="solid"/>
                      <a:round/>
                      <a:headEnd type="none" w="med" len="med"/>
                      <a:tailEnd type="none" w="med" len="med"/>
                    </a:lnR>
                    <a:lnT w="9525" cap="flat" cmpd="sng" algn="ctr">
                      <a:solidFill>
                        <a:srgbClr val="C9D6CF"/>
                      </a:solidFill>
                      <a:prstDash val="solid"/>
                      <a:round/>
                      <a:headEnd type="none" w="med" len="med"/>
                      <a:tailEnd type="none" w="med" len="med"/>
                    </a:lnT>
                    <a:lnB w="9525" cap="flat" cmpd="sng" algn="ctr">
                      <a:solidFill>
                        <a:srgbClr val="C9D6CF"/>
                      </a:solidFill>
                      <a:prstDash val="solid"/>
                      <a:round/>
                      <a:headEnd type="none" w="med" len="med"/>
                      <a:tailEnd type="none" w="med" len="med"/>
                    </a:lnB>
                    <a:solidFill>
                      <a:schemeClr val="accent2"/>
                    </a:solidFill>
                  </a:tcPr>
                </a:tc>
              </a:tr>
              <a:tr h="502920">
                <a:tc>
                  <a:txBody>
                    <a:bodyPr/>
                    <a:lstStyle/>
                    <a:p>
                      <a:pPr indent="0" marL="0">
                        <a:buNone/>
                      </a:pPr>
                      <a:r>
                        <a:rPr lang="en-US" sz="1300" dirty="0">
                          <a:solidFill>
                            <a:srgbClr val="1B2A24"/>
                          </a:solidFill>
                        </a:rPr>
                        <a:t>Saves owner time</a:t>
                      </a:r>
                      <a:endParaRPr lang="en-US" sz="1300" dirty="0"/>
                    </a:p>
                  </a:txBody>
                  <a:tcPr marL="73152" marR="73152" marT="73152" marB="73152" anchor="ctr">
                    <a:lnL w="9525" cap="flat" cmpd="sng" algn="ctr">
                      <a:solidFill>
                        <a:srgbClr val="C9D6CF"/>
                      </a:solidFill>
                      <a:prstDash val="solid"/>
                      <a:round/>
                      <a:headEnd type="none" w="med" len="med"/>
                      <a:tailEnd type="none" w="med" len="med"/>
                    </a:lnL>
                    <a:lnR w="9525" cap="flat" cmpd="sng" algn="ctr">
                      <a:solidFill>
                        <a:srgbClr val="C9D6CF"/>
                      </a:solidFill>
                      <a:prstDash val="solid"/>
                      <a:round/>
                      <a:headEnd type="none" w="med" len="med"/>
                      <a:tailEnd type="none" w="med" len="med"/>
                    </a:lnR>
                    <a:lnT w="9525" cap="flat" cmpd="sng" algn="ctr">
                      <a:solidFill>
                        <a:srgbClr val="C9D6CF"/>
                      </a:solidFill>
                      <a:prstDash val="solid"/>
                      <a:round/>
                      <a:headEnd type="none" w="med" len="med"/>
                      <a:tailEnd type="none" w="med" len="med"/>
                    </a:lnT>
                    <a:lnB w="9525" cap="flat" cmpd="sng" algn="ctr">
                      <a:solidFill>
                        <a:srgbClr val="C9D6CF"/>
                      </a:solidFill>
                      <a:prstDash val="solid"/>
                      <a:round/>
                      <a:headEnd type="none" w="med" len="med"/>
                      <a:tailEnd type="none" w="med" len="med"/>
                    </a:lnB>
                    <a:solidFill>
                      <a:srgbClr val="FFFFFF"/>
                    </a:solidFill>
                  </a:tcPr>
                </a:tc>
                <a:tc>
                  <a:txBody>
                    <a:bodyPr/>
                    <a:lstStyle/>
                    <a:p>
                      <a:pPr indent="0" marL="0">
                        <a:buNone/>
                      </a:pPr>
                      <a:r>
                        <a:rPr lang="en-US" sz="1300" dirty="0">
                          <a:solidFill>
                            <a:srgbClr val="1B2A24"/>
                          </a:solidFill>
                        </a:rPr>
                        <a:t>Little</a:t>
                      </a:r>
                      <a:endParaRPr lang="en-US" sz="1300" dirty="0"/>
                    </a:p>
                  </a:txBody>
                  <a:tcPr marL="73152" marR="73152" marT="73152" marB="73152" anchor="ctr">
                    <a:lnL w="9525" cap="flat" cmpd="sng" algn="ctr">
                      <a:solidFill>
                        <a:srgbClr val="C9D6CF"/>
                      </a:solidFill>
                      <a:prstDash val="solid"/>
                      <a:round/>
                      <a:headEnd type="none" w="med" len="med"/>
                      <a:tailEnd type="none" w="med" len="med"/>
                    </a:lnL>
                    <a:lnR w="9525" cap="flat" cmpd="sng" algn="ctr">
                      <a:solidFill>
                        <a:srgbClr val="C9D6CF"/>
                      </a:solidFill>
                      <a:prstDash val="solid"/>
                      <a:round/>
                      <a:headEnd type="none" w="med" len="med"/>
                      <a:tailEnd type="none" w="med" len="med"/>
                    </a:lnR>
                    <a:lnT w="9525" cap="flat" cmpd="sng" algn="ctr">
                      <a:solidFill>
                        <a:srgbClr val="C9D6CF"/>
                      </a:solidFill>
                      <a:prstDash val="solid"/>
                      <a:round/>
                      <a:headEnd type="none" w="med" len="med"/>
                      <a:tailEnd type="none" w="med" len="med"/>
                    </a:lnT>
                    <a:lnB w="9525" cap="flat" cmpd="sng" algn="ctr">
                      <a:solidFill>
                        <a:srgbClr val="C9D6CF"/>
                      </a:solidFill>
                      <a:prstDash val="solid"/>
                      <a:round/>
                      <a:headEnd type="none" w="med" len="med"/>
                      <a:tailEnd type="none" w="med" len="med"/>
                    </a:lnB>
                    <a:solidFill>
                      <a:srgbClr val="FFFFFF"/>
                    </a:solidFill>
                  </a:tcPr>
                </a:tc>
                <a:tc>
                  <a:txBody>
                    <a:bodyPr/>
                    <a:lstStyle/>
                    <a:p>
                      <a:pPr indent="0" marL="0">
                        <a:buNone/>
                      </a:pPr>
                      <a:r>
                        <a:rPr lang="en-US" sz="1300" dirty="0">
                          <a:solidFill>
                            <a:srgbClr val="1B2A24"/>
                          </a:solidFill>
                        </a:rPr>
                        <a:t>Some</a:t>
                      </a:r>
                      <a:endParaRPr lang="en-US" sz="1300" dirty="0"/>
                    </a:p>
                  </a:txBody>
                  <a:tcPr marL="73152" marR="73152" marT="73152" marB="73152" anchor="ctr">
                    <a:lnL w="9525" cap="flat" cmpd="sng" algn="ctr">
                      <a:solidFill>
                        <a:srgbClr val="C9D6CF"/>
                      </a:solidFill>
                      <a:prstDash val="solid"/>
                      <a:round/>
                      <a:headEnd type="none" w="med" len="med"/>
                      <a:tailEnd type="none" w="med" len="med"/>
                    </a:lnL>
                    <a:lnR w="9525" cap="flat" cmpd="sng" algn="ctr">
                      <a:solidFill>
                        <a:srgbClr val="C9D6CF"/>
                      </a:solidFill>
                      <a:prstDash val="solid"/>
                      <a:round/>
                      <a:headEnd type="none" w="med" len="med"/>
                      <a:tailEnd type="none" w="med" len="med"/>
                    </a:lnR>
                    <a:lnT w="9525" cap="flat" cmpd="sng" algn="ctr">
                      <a:solidFill>
                        <a:srgbClr val="C9D6CF"/>
                      </a:solidFill>
                      <a:prstDash val="solid"/>
                      <a:round/>
                      <a:headEnd type="none" w="med" len="med"/>
                      <a:tailEnd type="none" w="med" len="med"/>
                    </a:lnT>
                    <a:lnB w="9525" cap="flat" cmpd="sng" algn="ctr">
                      <a:solidFill>
                        <a:srgbClr val="C9D6CF"/>
                      </a:solidFill>
                      <a:prstDash val="solid"/>
                      <a:round/>
                      <a:headEnd type="none" w="med" len="med"/>
                      <a:tailEnd type="none" w="med" len="med"/>
                    </a:lnB>
                    <a:solidFill>
                      <a:srgbClr val="FFFFFF"/>
                    </a:solidFill>
                  </a:tcPr>
                </a:tc>
                <a:tc>
                  <a:txBody>
                    <a:bodyPr/>
                    <a:lstStyle/>
                    <a:p>
                      <a:pPr indent="0" marL="0">
                        <a:buNone/>
                      </a:pPr>
                      <a:r>
                        <a:rPr lang="en-US" sz="1300" dirty="0">
                          <a:solidFill>
                            <a:srgbClr val="1B2A24"/>
                          </a:solidFill>
                        </a:rPr>
                        <a:t>Much</a:t>
                      </a:r>
                      <a:endParaRPr lang="en-US" sz="1300" dirty="0"/>
                    </a:p>
                  </a:txBody>
                  <a:tcPr marL="73152" marR="73152" marT="73152" marB="73152" anchor="ctr">
                    <a:lnL w="9525" cap="flat" cmpd="sng" algn="ctr">
                      <a:solidFill>
                        <a:srgbClr val="C9D6CF"/>
                      </a:solidFill>
                      <a:prstDash val="solid"/>
                      <a:round/>
                      <a:headEnd type="none" w="med" len="med"/>
                      <a:tailEnd type="none" w="med" len="med"/>
                    </a:lnL>
                    <a:lnR w="9525" cap="flat" cmpd="sng" algn="ctr">
                      <a:solidFill>
                        <a:srgbClr val="C9D6CF"/>
                      </a:solidFill>
                      <a:prstDash val="solid"/>
                      <a:round/>
                      <a:headEnd type="none" w="med" len="med"/>
                      <a:tailEnd type="none" w="med" len="med"/>
                    </a:lnR>
                    <a:lnT w="9525" cap="flat" cmpd="sng" algn="ctr">
                      <a:solidFill>
                        <a:srgbClr val="C9D6CF"/>
                      </a:solidFill>
                      <a:prstDash val="solid"/>
                      <a:round/>
                      <a:headEnd type="none" w="med" len="med"/>
                      <a:tailEnd type="none" w="med" len="med"/>
                    </a:lnT>
                    <a:lnB w="9525" cap="flat" cmpd="sng" algn="ctr">
                      <a:solidFill>
                        <a:srgbClr val="C9D6CF"/>
                      </a:solidFill>
                      <a:prstDash val="solid"/>
                      <a:round/>
                      <a:headEnd type="none" w="med" len="med"/>
                      <a:tailEnd type="none" w="med" len="med"/>
                    </a:lnB>
                    <a:solidFill>
                      <a:srgbClr val="FFFFFF"/>
                    </a:solidFill>
                  </a:tcPr>
                </a:tc>
                <a:tc>
                  <a:txBody>
                    <a:bodyPr/>
                    <a:lstStyle/>
                    <a:p>
                      <a:pPr indent="0" marL="0">
                        <a:buNone/>
                      </a:pPr>
                      <a:r>
                        <a:rPr lang="en-US" sz="1300" b="1" dirty="0">
                          <a:solidFill>
                            <a:schemeClr val="accent1"/>
                          </a:solidFill>
                        </a:rPr>
                        <a:t>Much</a:t>
                      </a:r>
                      <a:endParaRPr lang="en-US" sz="1300" dirty="0"/>
                    </a:p>
                  </a:txBody>
                  <a:tcPr marL="73152" marR="73152" marT="73152" marB="73152" anchor="ctr">
                    <a:lnL w="9525" cap="flat" cmpd="sng" algn="ctr">
                      <a:solidFill>
                        <a:srgbClr val="C9D6CF"/>
                      </a:solidFill>
                      <a:prstDash val="solid"/>
                      <a:round/>
                      <a:headEnd type="none" w="med" len="med"/>
                      <a:tailEnd type="none" w="med" len="med"/>
                    </a:lnL>
                    <a:lnR w="9525" cap="flat" cmpd="sng" algn="ctr">
                      <a:solidFill>
                        <a:srgbClr val="C9D6CF"/>
                      </a:solidFill>
                      <a:prstDash val="solid"/>
                      <a:round/>
                      <a:headEnd type="none" w="med" len="med"/>
                      <a:tailEnd type="none" w="med" len="med"/>
                    </a:lnR>
                    <a:lnT w="9525" cap="flat" cmpd="sng" algn="ctr">
                      <a:solidFill>
                        <a:srgbClr val="C9D6CF"/>
                      </a:solidFill>
                      <a:prstDash val="solid"/>
                      <a:round/>
                      <a:headEnd type="none" w="med" len="med"/>
                      <a:tailEnd type="none" w="med" len="med"/>
                    </a:lnT>
                    <a:lnB w="9525" cap="flat" cmpd="sng" algn="ctr">
                      <a:solidFill>
                        <a:srgbClr val="C9D6CF"/>
                      </a:solidFill>
                      <a:prstDash val="solid"/>
                      <a:round/>
                      <a:headEnd type="none" w="med" len="med"/>
                      <a:tailEnd type="none" w="med" len="med"/>
                    </a:lnB>
                    <a:solidFill>
                      <a:srgbClr val="FBE9E4"/>
                    </a:solidFill>
                  </a:tcPr>
                </a:tc>
              </a:tr>
              <a:tr h="502920">
                <a:tc>
                  <a:txBody>
                    <a:bodyPr/>
                    <a:lstStyle/>
                    <a:p>
                      <a:pPr indent="0" marL="0">
                        <a:buNone/>
                      </a:pPr>
                      <a:r>
                        <a:rPr lang="en-US" sz="1300" dirty="0">
                          <a:solidFill>
                            <a:srgbClr val="1B2A24"/>
                          </a:solidFill>
                        </a:rPr>
                        <a:t>Answers match shop data</a:t>
                      </a:r>
                      <a:endParaRPr lang="en-US" sz="1300" dirty="0"/>
                    </a:p>
                  </a:txBody>
                  <a:tcPr marL="73152" marR="73152" marT="73152" marB="73152" anchor="ctr">
                    <a:lnL w="9525" cap="flat" cmpd="sng" algn="ctr">
                      <a:solidFill>
                        <a:srgbClr val="C9D6CF"/>
                      </a:solidFill>
                      <a:prstDash val="solid"/>
                      <a:round/>
                      <a:headEnd type="none" w="med" len="med"/>
                      <a:tailEnd type="none" w="med" len="med"/>
                    </a:lnL>
                    <a:lnR w="9525" cap="flat" cmpd="sng" algn="ctr">
                      <a:solidFill>
                        <a:srgbClr val="C9D6CF"/>
                      </a:solidFill>
                      <a:prstDash val="solid"/>
                      <a:round/>
                      <a:headEnd type="none" w="med" len="med"/>
                      <a:tailEnd type="none" w="med" len="med"/>
                    </a:lnR>
                    <a:lnT w="9525" cap="flat" cmpd="sng" algn="ctr">
                      <a:solidFill>
                        <a:srgbClr val="C9D6CF"/>
                      </a:solidFill>
                      <a:prstDash val="solid"/>
                      <a:round/>
                      <a:headEnd type="none" w="med" len="med"/>
                      <a:tailEnd type="none" w="med" len="med"/>
                    </a:lnT>
                    <a:lnB w="9525" cap="flat" cmpd="sng" algn="ctr">
                      <a:solidFill>
                        <a:srgbClr val="C9D6CF"/>
                      </a:solidFill>
                      <a:prstDash val="solid"/>
                      <a:round/>
                      <a:headEnd type="none" w="med" len="med"/>
                      <a:tailEnd type="none" w="med" len="med"/>
                    </a:lnB>
                    <a:solidFill>
                      <a:srgbClr val="FFFFFF"/>
                    </a:solidFill>
                  </a:tcPr>
                </a:tc>
                <a:tc>
                  <a:txBody>
                    <a:bodyPr/>
                    <a:lstStyle/>
                    <a:p>
                      <a:pPr indent="0" marL="0">
                        <a:buNone/>
                      </a:pPr>
                      <a:r>
                        <a:rPr lang="en-US" sz="1300" dirty="0">
                          <a:solidFill>
                            <a:srgbClr val="1B2A24"/>
                          </a:solidFill>
                        </a:rPr>
                        <a:t>Depends on owner</a:t>
                      </a:r>
                      <a:endParaRPr lang="en-US" sz="1300" dirty="0"/>
                    </a:p>
                  </a:txBody>
                  <a:tcPr marL="73152" marR="73152" marT="73152" marB="73152" anchor="ctr">
                    <a:lnL w="9525" cap="flat" cmpd="sng" algn="ctr">
                      <a:solidFill>
                        <a:srgbClr val="C9D6CF"/>
                      </a:solidFill>
                      <a:prstDash val="solid"/>
                      <a:round/>
                      <a:headEnd type="none" w="med" len="med"/>
                      <a:tailEnd type="none" w="med" len="med"/>
                    </a:lnL>
                    <a:lnR w="9525" cap="flat" cmpd="sng" algn="ctr">
                      <a:solidFill>
                        <a:srgbClr val="C9D6CF"/>
                      </a:solidFill>
                      <a:prstDash val="solid"/>
                      <a:round/>
                      <a:headEnd type="none" w="med" len="med"/>
                      <a:tailEnd type="none" w="med" len="med"/>
                    </a:lnR>
                    <a:lnT w="9525" cap="flat" cmpd="sng" algn="ctr">
                      <a:solidFill>
                        <a:srgbClr val="C9D6CF"/>
                      </a:solidFill>
                      <a:prstDash val="solid"/>
                      <a:round/>
                      <a:headEnd type="none" w="med" len="med"/>
                      <a:tailEnd type="none" w="med" len="med"/>
                    </a:lnT>
                    <a:lnB w="9525" cap="flat" cmpd="sng" algn="ctr">
                      <a:solidFill>
                        <a:srgbClr val="C9D6CF"/>
                      </a:solidFill>
                      <a:prstDash val="solid"/>
                      <a:round/>
                      <a:headEnd type="none" w="med" len="med"/>
                      <a:tailEnd type="none" w="med" len="med"/>
                    </a:lnB>
                    <a:solidFill>
                      <a:srgbClr val="FFFFFF"/>
                    </a:solidFill>
                  </a:tcPr>
                </a:tc>
                <a:tc>
                  <a:txBody>
                    <a:bodyPr/>
                    <a:lstStyle/>
                    <a:p>
                      <a:pPr indent="0" marL="0">
                        <a:buNone/>
                      </a:pPr>
                      <a:r>
                        <a:rPr lang="en-US" sz="1300" dirty="0">
                          <a:solidFill>
                            <a:srgbClr val="1B2A24"/>
                          </a:solidFill>
                        </a:rPr>
                        <a:t>If rules are current</a:t>
                      </a:r>
                      <a:endParaRPr lang="en-US" sz="1300" dirty="0"/>
                    </a:p>
                  </a:txBody>
                  <a:tcPr marL="73152" marR="73152" marT="73152" marB="73152" anchor="ctr">
                    <a:lnL w="9525" cap="flat" cmpd="sng" algn="ctr">
                      <a:solidFill>
                        <a:srgbClr val="C9D6CF"/>
                      </a:solidFill>
                      <a:prstDash val="solid"/>
                      <a:round/>
                      <a:headEnd type="none" w="med" len="med"/>
                      <a:tailEnd type="none" w="med" len="med"/>
                    </a:lnL>
                    <a:lnR w="9525" cap="flat" cmpd="sng" algn="ctr">
                      <a:solidFill>
                        <a:srgbClr val="C9D6CF"/>
                      </a:solidFill>
                      <a:prstDash val="solid"/>
                      <a:round/>
                      <a:headEnd type="none" w="med" len="med"/>
                      <a:tailEnd type="none" w="med" len="med"/>
                    </a:lnR>
                    <a:lnT w="9525" cap="flat" cmpd="sng" algn="ctr">
                      <a:solidFill>
                        <a:srgbClr val="C9D6CF"/>
                      </a:solidFill>
                      <a:prstDash val="solid"/>
                      <a:round/>
                      <a:headEnd type="none" w="med" len="med"/>
                      <a:tailEnd type="none" w="med" len="med"/>
                    </a:lnT>
                    <a:lnB w="9525" cap="flat" cmpd="sng" algn="ctr">
                      <a:solidFill>
                        <a:srgbClr val="C9D6CF"/>
                      </a:solidFill>
                      <a:prstDash val="solid"/>
                      <a:round/>
                      <a:headEnd type="none" w="med" len="med"/>
                      <a:tailEnd type="none" w="med" len="med"/>
                    </a:lnB>
                    <a:solidFill>
                      <a:srgbClr val="FFFFFF"/>
                    </a:solidFill>
                  </a:tcPr>
                </a:tc>
                <a:tc>
                  <a:txBody>
                    <a:bodyPr/>
                    <a:lstStyle/>
                    <a:p>
                      <a:pPr indent="0" marL="0">
                        <a:buNone/>
                      </a:pPr>
                      <a:r>
                        <a:rPr lang="en-US" sz="1300" dirty="0">
                          <a:solidFill>
                            <a:srgbClr val="1B2A24"/>
                          </a:solidFill>
                        </a:rPr>
                        <a:t>Not guaranteed</a:t>
                      </a:r>
                      <a:endParaRPr lang="en-US" sz="1300" dirty="0"/>
                    </a:p>
                  </a:txBody>
                  <a:tcPr marL="73152" marR="73152" marT="73152" marB="73152" anchor="ctr">
                    <a:lnL w="9525" cap="flat" cmpd="sng" algn="ctr">
                      <a:solidFill>
                        <a:srgbClr val="C9D6CF"/>
                      </a:solidFill>
                      <a:prstDash val="solid"/>
                      <a:round/>
                      <a:headEnd type="none" w="med" len="med"/>
                      <a:tailEnd type="none" w="med" len="med"/>
                    </a:lnL>
                    <a:lnR w="9525" cap="flat" cmpd="sng" algn="ctr">
                      <a:solidFill>
                        <a:srgbClr val="C9D6CF"/>
                      </a:solidFill>
                      <a:prstDash val="solid"/>
                      <a:round/>
                      <a:headEnd type="none" w="med" len="med"/>
                      <a:tailEnd type="none" w="med" len="med"/>
                    </a:lnR>
                    <a:lnT w="9525" cap="flat" cmpd="sng" algn="ctr">
                      <a:solidFill>
                        <a:srgbClr val="C9D6CF"/>
                      </a:solidFill>
                      <a:prstDash val="solid"/>
                      <a:round/>
                      <a:headEnd type="none" w="med" len="med"/>
                      <a:tailEnd type="none" w="med" len="med"/>
                    </a:lnT>
                    <a:lnB w="9525" cap="flat" cmpd="sng" algn="ctr">
                      <a:solidFill>
                        <a:srgbClr val="C9D6CF"/>
                      </a:solidFill>
                      <a:prstDash val="solid"/>
                      <a:round/>
                      <a:headEnd type="none" w="med" len="med"/>
                      <a:tailEnd type="none" w="med" len="med"/>
                    </a:lnB>
                    <a:solidFill>
                      <a:srgbClr val="FFFFFF"/>
                    </a:solidFill>
                  </a:tcPr>
                </a:tc>
                <a:tc>
                  <a:txBody>
                    <a:bodyPr/>
                    <a:lstStyle/>
                    <a:p>
                      <a:pPr indent="0" marL="0">
                        <a:buNone/>
                      </a:pPr>
                      <a:r>
                        <a:rPr lang="en-US" sz="1300" b="1" dirty="0">
                          <a:solidFill>
                            <a:schemeClr val="accent1"/>
                          </a:solidFill>
                        </a:rPr>
                        <a:t>Yes, must cite a record</a:t>
                      </a:r>
                      <a:endParaRPr lang="en-US" sz="1300" dirty="0"/>
                    </a:p>
                  </a:txBody>
                  <a:tcPr marL="73152" marR="73152" marT="73152" marB="73152" anchor="ctr">
                    <a:lnL w="9525" cap="flat" cmpd="sng" algn="ctr">
                      <a:solidFill>
                        <a:srgbClr val="C9D6CF"/>
                      </a:solidFill>
                      <a:prstDash val="solid"/>
                      <a:round/>
                      <a:headEnd type="none" w="med" len="med"/>
                      <a:tailEnd type="none" w="med" len="med"/>
                    </a:lnL>
                    <a:lnR w="9525" cap="flat" cmpd="sng" algn="ctr">
                      <a:solidFill>
                        <a:srgbClr val="C9D6CF"/>
                      </a:solidFill>
                      <a:prstDash val="solid"/>
                      <a:round/>
                      <a:headEnd type="none" w="med" len="med"/>
                      <a:tailEnd type="none" w="med" len="med"/>
                    </a:lnR>
                    <a:lnT w="9525" cap="flat" cmpd="sng" algn="ctr">
                      <a:solidFill>
                        <a:srgbClr val="C9D6CF"/>
                      </a:solidFill>
                      <a:prstDash val="solid"/>
                      <a:round/>
                      <a:headEnd type="none" w="med" len="med"/>
                      <a:tailEnd type="none" w="med" len="med"/>
                    </a:lnT>
                    <a:lnB w="9525" cap="flat" cmpd="sng" algn="ctr">
                      <a:solidFill>
                        <a:srgbClr val="C9D6CF"/>
                      </a:solidFill>
                      <a:prstDash val="solid"/>
                      <a:round/>
                      <a:headEnd type="none" w="med" len="med"/>
                      <a:tailEnd type="none" w="med" len="med"/>
                    </a:lnB>
                    <a:solidFill>
                      <a:srgbClr val="FBE9E4"/>
                    </a:solidFill>
                  </a:tcPr>
                </a:tc>
              </a:tr>
              <a:tr h="502920">
                <a:tc>
                  <a:txBody>
                    <a:bodyPr/>
                    <a:lstStyle/>
                    <a:p>
                      <a:pPr indent="0" marL="0">
                        <a:buNone/>
                      </a:pPr>
                      <a:r>
                        <a:rPr lang="en-US" sz="1300" dirty="0">
                          <a:solidFill>
                            <a:srgbClr val="1B2A24"/>
                          </a:solidFill>
                        </a:rPr>
                        <a:t>Handles Taglish</a:t>
                      </a:r>
                      <a:endParaRPr lang="en-US" sz="1300" dirty="0"/>
                    </a:p>
                  </a:txBody>
                  <a:tcPr marL="73152" marR="73152" marT="73152" marB="73152" anchor="ctr">
                    <a:lnL w="9525" cap="flat" cmpd="sng" algn="ctr">
                      <a:solidFill>
                        <a:srgbClr val="C9D6CF"/>
                      </a:solidFill>
                      <a:prstDash val="solid"/>
                      <a:round/>
                      <a:headEnd type="none" w="med" len="med"/>
                      <a:tailEnd type="none" w="med" len="med"/>
                    </a:lnL>
                    <a:lnR w="9525" cap="flat" cmpd="sng" algn="ctr">
                      <a:solidFill>
                        <a:srgbClr val="C9D6CF"/>
                      </a:solidFill>
                      <a:prstDash val="solid"/>
                      <a:round/>
                      <a:headEnd type="none" w="med" len="med"/>
                      <a:tailEnd type="none" w="med" len="med"/>
                    </a:lnR>
                    <a:lnT w="9525" cap="flat" cmpd="sng" algn="ctr">
                      <a:solidFill>
                        <a:srgbClr val="C9D6CF"/>
                      </a:solidFill>
                      <a:prstDash val="solid"/>
                      <a:round/>
                      <a:headEnd type="none" w="med" len="med"/>
                      <a:tailEnd type="none" w="med" len="med"/>
                    </a:lnT>
                    <a:lnB w="9525" cap="flat" cmpd="sng" algn="ctr">
                      <a:solidFill>
                        <a:srgbClr val="C9D6CF"/>
                      </a:solidFill>
                      <a:prstDash val="solid"/>
                      <a:round/>
                      <a:headEnd type="none" w="med" len="med"/>
                      <a:tailEnd type="none" w="med" len="med"/>
                    </a:lnB>
                    <a:solidFill>
                      <a:srgbClr val="FFFFFF"/>
                    </a:solidFill>
                  </a:tcPr>
                </a:tc>
                <a:tc>
                  <a:txBody>
                    <a:bodyPr/>
                    <a:lstStyle/>
                    <a:p>
                      <a:pPr indent="0" marL="0">
                        <a:buNone/>
                      </a:pPr>
                      <a:r>
                        <a:rPr lang="en-US" sz="1300" dirty="0">
                          <a:solidFill>
                            <a:srgbClr val="1B2A24"/>
                          </a:solidFill>
                        </a:rPr>
                        <a:t>Yes (human)</a:t>
                      </a:r>
                      <a:endParaRPr lang="en-US" sz="1300" dirty="0"/>
                    </a:p>
                  </a:txBody>
                  <a:tcPr marL="73152" marR="73152" marT="73152" marB="73152" anchor="ctr">
                    <a:lnL w="9525" cap="flat" cmpd="sng" algn="ctr">
                      <a:solidFill>
                        <a:srgbClr val="C9D6CF"/>
                      </a:solidFill>
                      <a:prstDash val="solid"/>
                      <a:round/>
                      <a:headEnd type="none" w="med" len="med"/>
                      <a:tailEnd type="none" w="med" len="med"/>
                    </a:lnL>
                    <a:lnR w="9525" cap="flat" cmpd="sng" algn="ctr">
                      <a:solidFill>
                        <a:srgbClr val="C9D6CF"/>
                      </a:solidFill>
                      <a:prstDash val="solid"/>
                      <a:round/>
                      <a:headEnd type="none" w="med" len="med"/>
                      <a:tailEnd type="none" w="med" len="med"/>
                    </a:lnR>
                    <a:lnT w="9525" cap="flat" cmpd="sng" algn="ctr">
                      <a:solidFill>
                        <a:srgbClr val="C9D6CF"/>
                      </a:solidFill>
                      <a:prstDash val="solid"/>
                      <a:round/>
                      <a:headEnd type="none" w="med" len="med"/>
                      <a:tailEnd type="none" w="med" len="med"/>
                    </a:lnT>
                    <a:lnB w="9525" cap="flat" cmpd="sng" algn="ctr">
                      <a:solidFill>
                        <a:srgbClr val="C9D6CF"/>
                      </a:solidFill>
                      <a:prstDash val="solid"/>
                      <a:round/>
                      <a:headEnd type="none" w="med" len="med"/>
                      <a:tailEnd type="none" w="med" len="med"/>
                    </a:lnB>
                    <a:solidFill>
                      <a:srgbClr val="FFFFFF"/>
                    </a:solidFill>
                  </a:tcPr>
                </a:tc>
                <a:tc>
                  <a:txBody>
                    <a:bodyPr/>
                    <a:lstStyle/>
                    <a:p>
                      <a:pPr indent="0" marL="0">
                        <a:buNone/>
                      </a:pPr>
                      <a:r>
                        <a:rPr lang="en-US" sz="1300" dirty="0">
                          <a:solidFill>
                            <a:srgbClr val="1B2A24"/>
                          </a:solidFill>
                        </a:rPr>
                        <a:t>Poorly</a:t>
                      </a:r>
                      <a:endParaRPr lang="en-US" sz="1300" dirty="0"/>
                    </a:p>
                  </a:txBody>
                  <a:tcPr marL="73152" marR="73152" marT="73152" marB="73152" anchor="ctr">
                    <a:lnL w="9525" cap="flat" cmpd="sng" algn="ctr">
                      <a:solidFill>
                        <a:srgbClr val="C9D6CF"/>
                      </a:solidFill>
                      <a:prstDash val="solid"/>
                      <a:round/>
                      <a:headEnd type="none" w="med" len="med"/>
                      <a:tailEnd type="none" w="med" len="med"/>
                    </a:lnL>
                    <a:lnR w="9525" cap="flat" cmpd="sng" algn="ctr">
                      <a:solidFill>
                        <a:srgbClr val="C9D6CF"/>
                      </a:solidFill>
                      <a:prstDash val="solid"/>
                      <a:round/>
                      <a:headEnd type="none" w="med" len="med"/>
                      <a:tailEnd type="none" w="med" len="med"/>
                    </a:lnR>
                    <a:lnT w="9525" cap="flat" cmpd="sng" algn="ctr">
                      <a:solidFill>
                        <a:srgbClr val="C9D6CF"/>
                      </a:solidFill>
                      <a:prstDash val="solid"/>
                      <a:round/>
                      <a:headEnd type="none" w="med" len="med"/>
                      <a:tailEnd type="none" w="med" len="med"/>
                    </a:lnT>
                    <a:lnB w="9525" cap="flat" cmpd="sng" algn="ctr">
                      <a:solidFill>
                        <a:srgbClr val="C9D6CF"/>
                      </a:solidFill>
                      <a:prstDash val="solid"/>
                      <a:round/>
                      <a:headEnd type="none" w="med" len="med"/>
                      <a:tailEnd type="none" w="med" len="med"/>
                    </a:lnB>
                    <a:solidFill>
                      <a:srgbClr val="FFFFFF"/>
                    </a:solidFill>
                  </a:tcPr>
                </a:tc>
                <a:tc>
                  <a:txBody>
                    <a:bodyPr/>
                    <a:lstStyle/>
                    <a:p>
                      <a:pPr indent="0" marL="0">
                        <a:buNone/>
                      </a:pPr>
                      <a:r>
                        <a:rPr lang="en-US" sz="1300" dirty="0">
                          <a:solidFill>
                            <a:srgbClr val="1B2A24"/>
                          </a:solidFill>
                        </a:rPr>
                        <a:t>Well</a:t>
                      </a:r>
                      <a:endParaRPr lang="en-US" sz="1300" dirty="0"/>
                    </a:p>
                  </a:txBody>
                  <a:tcPr marL="73152" marR="73152" marT="73152" marB="73152" anchor="ctr">
                    <a:lnL w="9525" cap="flat" cmpd="sng" algn="ctr">
                      <a:solidFill>
                        <a:srgbClr val="C9D6CF"/>
                      </a:solidFill>
                      <a:prstDash val="solid"/>
                      <a:round/>
                      <a:headEnd type="none" w="med" len="med"/>
                      <a:tailEnd type="none" w="med" len="med"/>
                    </a:lnL>
                    <a:lnR w="9525" cap="flat" cmpd="sng" algn="ctr">
                      <a:solidFill>
                        <a:srgbClr val="C9D6CF"/>
                      </a:solidFill>
                      <a:prstDash val="solid"/>
                      <a:round/>
                      <a:headEnd type="none" w="med" len="med"/>
                      <a:tailEnd type="none" w="med" len="med"/>
                    </a:lnR>
                    <a:lnT w="9525" cap="flat" cmpd="sng" algn="ctr">
                      <a:solidFill>
                        <a:srgbClr val="C9D6CF"/>
                      </a:solidFill>
                      <a:prstDash val="solid"/>
                      <a:round/>
                      <a:headEnd type="none" w="med" len="med"/>
                      <a:tailEnd type="none" w="med" len="med"/>
                    </a:lnT>
                    <a:lnB w="9525" cap="flat" cmpd="sng" algn="ctr">
                      <a:solidFill>
                        <a:srgbClr val="C9D6CF"/>
                      </a:solidFill>
                      <a:prstDash val="solid"/>
                      <a:round/>
                      <a:headEnd type="none" w="med" len="med"/>
                      <a:tailEnd type="none" w="med" len="med"/>
                    </a:lnB>
                    <a:solidFill>
                      <a:srgbClr val="FFFFFF"/>
                    </a:solidFill>
                  </a:tcPr>
                </a:tc>
                <a:tc>
                  <a:txBody>
                    <a:bodyPr/>
                    <a:lstStyle/>
                    <a:p>
                      <a:pPr indent="0" marL="0">
                        <a:buNone/>
                      </a:pPr>
                      <a:r>
                        <a:rPr lang="en-US" sz="1300" b="1" dirty="0">
                          <a:solidFill>
                            <a:schemeClr val="accent1"/>
                          </a:solidFill>
                        </a:rPr>
                        <a:t>Well, tested per language</a:t>
                      </a:r>
                      <a:endParaRPr lang="en-US" sz="1300" dirty="0"/>
                    </a:p>
                  </a:txBody>
                  <a:tcPr marL="73152" marR="73152" marT="73152" marB="73152" anchor="ctr">
                    <a:lnL w="9525" cap="flat" cmpd="sng" algn="ctr">
                      <a:solidFill>
                        <a:srgbClr val="C9D6CF"/>
                      </a:solidFill>
                      <a:prstDash val="solid"/>
                      <a:round/>
                      <a:headEnd type="none" w="med" len="med"/>
                      <a:tailEnd type="none" w="med" len="med"/>
                    </a:lnL>
                    <a:lnR w="9525" cap="flat" cmpd="sng" algn="ctr">
                      <a:solidFill>
                        <a:srgbClr val="C9D6CF"/>
                      </a:solidFill>
                      <a:prstDash val="solid"/>
                      <a:round/>
                      <a:headEnd type="none" w="med" len="med"/>
                      <a:tailEnd type="none" w="med" len="med"/>
                    </a:lnR>
                    <a:lnT w="9525" cap="flat" cmpd="sng" algn="ctr">
                      <a:solidFill>
                        <a:srgbClr val="C9D6CF"/>
                      </a:solidFill>
                      <a:prstDash val="solid"/>
                      <a:round/>
                      <a:headEnd type="none" w="med" len="med"/>
                      <a:tailEnd type="none" w="med" len="med"/>
                    </a:lnT>
                    <a:lnB w="9525" cap="flat" cmpd="sng" algn="ctr">
                      <a:solidFill>
                        <a:srgbClr val="C9D6CF"/>
                      </a:solidFill>
                      <a:prstDash val="solid"/>
                      <a:round/>
                      <a:headEnd type="none" w="med" len="med"/>
                      <a:tailEnd type="none" w="med" len="med"/>
                    </a:lnB>
                    <a:solidFill>
                      <a:srgbClr val="FBE9E4"/>
                    </a:solidFill>
                  </a:tcPr>
                </a:tc>
              </a:tr>
              <a:tr h="502920">
                <a:tc>
                  <a:txBody>
                    <a:bodyPr/>
                    <a:lstStyle/>
                    <a:p>
                      <a:pPr indent="0" marL="0">
                        <a:buNone/>
                      </a:pPr>
                      <a:r>
                        <a:rPr lang="en-US" sz="1300" dirty="0">
                          <a:solidFill>
                            <a:srgbClr val="1B2A24"/>
                          </a:solidFill>
                        </a:rPr>
                        <a:t>Upkeep effort</a:t>
                      </a:r>
                      <a:endParaRPr lang="en-US" sz="1300" dirty="0"/>
                    </a:p>
                  </a:txBody>
                  <a:tcPr marL="73152" marR="73152" marT="73152" marB="73152" anchor="ctr">
                    <a:lnL w="9525" cap="flat" cmpd="sng" algn="ctr">
                      <a:solidFill>
                        <a:srgbClr val="C9D6CF"/>
                      </a:solidFill>
                      <a:prstDash val="solid"/>
                      <a:round/>
                      <a:headEnd type="none" w="med" len="med"/>
                      <a:tailEnd type="none" w="med" len="med"/>
                    </a:lnL>
                    <a:lnR w="9525" cap="flat" cmpd="sng" algn="ctr">
                      <a:solidFill>
                        <a:srgbClr val="C9D6CF"/>
                      </a:solidFill>
                      <a:prstDash val="solid"/>
                      <a:round/>
                      <a:headEnd type="none" w="med" len="med"/>
                      <a:tailEnd type="none" w="med" len="med"/>
                    </a:lnR>
                    <a:lnT w="9525" cap="flat" cmpd="sng" algn="ctr">
                      <a:solidFill>
                        <a:srgbClr val="C9D6CF"/>
                      </a:solidFill>
                      <a:prstDash val="solid"/>
                      <a:round/>
                      <a:headEnd type="none" w="med" len="med"/>
                      <a:tailEnd type="none" w="med" len="med"/>
                    </a:lnT>
                    <a:lnB w="9525" cap="flat" cmpd="sng" algn="ctr">
                      <a:solidFill>
                        <a:srgbClr val="C9D6CF"/>
                      </a:solidFill>
                      <a:prstDash val="solid"/>
                      <a:round/>
                      <a:headEnd type="none" w="med" len="med"/>
                      <a:tailEnd type="none" w="med" len="med"/>
                    </a:lnB>
                    <a:solidFill>
                      <a:srgbClr val="FFFFFF"/>
                    </a:solidFill>
                  </a:tcPr>
                </a:tc>
                <a:tc>
                  <a:txBody>
                    <a:bodyPr/>
                    <a:lstStyle/>
                    <a:p>
                      <a:pPr indent="0" marL="0">
                        <a:buNone/>
                      </a:pPr>
                      <a:r>
                        <a:rPr lang="en-US" sz="1300" dirty="0">
                          <a:solidFill>
                            <a:srgbClr val="1B2A24"/>
                          </a:solidFill>
                        </a:rPr>
                        <a:t>High</a:t>
                      </a:r>
                      <a:endParaRPr lang="en-US" sz="1300" dirty="0"/>
                    </a:p>
                  </a:txBody>
                  <a:tcPr marL="73152" marR="73152" marT="73152" marB="73152" anchor="ctr">
                    <a:lnL w="9525" cap="flat" cmpd="sng" algn="ctr">
                      <a:solidFill>
                        <a:srgbClr val="C9D6CF"/>
                      </a:solidFill>
                      <a:prstDash val="solid"/>
                      <a:round/>
                      <a:headEnd type="none" w="med" len="med"/>
                      <a:tailEnd type="none" w="med" len="med"/>
                    </a:lnL>
                    <a:lnR w="9525" cap="flat" cmpd="sng" algn="ctr">
                      <a:solidFill>
                        <a:srgbClr val="C9D6CF"/>
                      </a:solidFill>
                      <a:prstDash val="solid"/>
                      <a:round/>
                      <a:headEnd type="none" w="med" len="med"/>
                      <a:tailEnd type="none" w="med" len="med"/>
                    </a:lnR>
                    <a:lnT w="9525" cap="flat" cmpd="sng" algn="ctr">
                      <a:solidFill>
                        <a:srgbClr val="C9D6CF"/>
                      </a:solidFill>
                      <a:prstDash val="solid"/>
                      <a:round/>
                      <a:headEnd type="none" w="med" len="med"/>
                      <a:tailEnd type="none" w="med" len="med"/>
                    </a:lnT>
                    <a:lnB w="9525" cap="flat" cmpd="sng" algn="ctr">
                      <a:solidFill>
                        <a:srgbClr val="C9D6CF"/>
                      </a:solidFill>
                      <a:prstDash val="solid"/>
                      <a:round/>
                      <a:headEnd type="none" w="med" len="med"/>
                      <a:tailEnd type="none" w="med" len="med"/>
                    </a:lnB>
                    <a:solidFill>
                      <a:srgbClr val="FFFFFF"/>
                    </a:solidFill>
                  </a:tcPr>
                </a:tc>
                <a:tc>
                  <a:txBody>
                    <a:bodyPr/>
                    <a:lstStyle/>
                    <a:p>
                      <a:pPr indent="0" marL="0">
                        <a:buNone/>
                      </a:pPr>
                      <a:r>
                        <a:rPr lang="en-US" sz="1300" dirty="0">
                          <a:solidFill>
                            <a:srgbClr val="1B2A24"/>
                          </a:solidFill>
                        </a:rPr>
                        <a:t>High (many rules)</a:t>
                      </a:r>
                      <a:endParaRPr lang="en-US" sz="1300" dirty="0"/>
                    </a:p>
                  </a:txBody>
                  <a:tcPr marL="73152" marR="73152" marT="73152" marB="73152" anchor="ctr">
                    <a:lnL w="9525" cap="flat" cmpd="sng" algn="ctr">
                      <a:solidFill>
                        <a:srgbClr val="C9D6CF"/>
                      </a:solidFill>
                      <a:prstDash val="solid"/>
                      <a:round/>
                      <a:headEnd type="none" w="med" len="med"/>
                      <a:tailEnd type="none" w="med" len="med"/>
                    </a:lnL>
                    <a:lnR w="9525" cap="flat" cmpd="sng" algn="ctr">
                      <a:solidFill>
                        <a:srgbClr val="C9D6CF"/>
                      </a:solidFill>
                      <a:prstDash val="solid"/>
                      <a:round/>
                      <a:headEnd type="none" w="med" len="med"/>
                      <a:tailEnd type="none" w="med" len="med"/>
                    </a:lnR>
                    <a:lnT w="9525" cap="flat" cmpd="sng" algn="ctr">
                      <a:solidFill>
                        <a:srgbClr val="C9D6CF"/>
                      </a:solidFill>
                      <a:prstDash val="solid"/>
                      <a:round/>
                      <a:headEnd type="none" w="med" len="med"/>
                      <a:tailEnd type="none" w="med" len="med"/>
                    </a:lnT>
                    <a:lnB w="9525" cap="flat" cmpd="sng" algn="ctr">
                      <a:solidFill>
                        <a:srgbClr val="C9D6CF"/>
                      </a:solidFill>
                      <a:prstDash val="solid"/>
                      <a:round/>
                      <a:headEnd type="none" w="med" len="med"/>
                      <a:tailEnd type="none" w="med" len="med"/>
                    </a:lnB>
                    <a:solidFill>
                      <a:srgbClr val="FFFFFF"/>
                    </a:solidFill>
                  </a:tcPr>
                </a:tc>
                <a:tc>
                  <a:txBody>
                    <a:bodyPr/>
                    <a:lstStyle/>
                    <a:p>
                      <a:pPr indent="0" marL="0">
                        <a:buNone/>
                      </a:pPr>
                      <a:r>
                        <a:rPr lang="en-US" sz="1300" dirty="0">
                          <a:solidFill>
                            <a:srgbClr val="1B2A24"/>
                          </a:solidFill>
                        </a:rPr>
                        <a:t>Low</a:t>
                      </a:r>
                      <a:endParaRPr lang="en-US" sz="1300" dirty="0"/>
                    </a:p>
                  </a:txBody>
                  <a:tcPr marL="73152" marR="73152" marT="73152" marB="73152" anchor="ctr">
                    <a:lnL w="9525" cap="flat" cmpd="sng" algn="ctr">
                      <a:solidFill>
                        <a:srgbClr val="C9D6CF"/>
                      </a:solidFill>
                      <a:prstDash val="solid"/>
                      <a:round/>
                      <a:headEnd type="none" w="med" len="med"/>
                      <a:tailEnd type="none" w="med" len="med"/>
                    </a:lnL>
                    <a:lnR w="9525" cap="flat" cmpd="sng" algn="ctr">
                      <a:solidFill>
                        <a:srgbClr val="C9D6CF"/>
                      </a:solidFill>
                      <a:prstDash val="solid"/>
                      <a:round/>
                      <a:headEnd type="none" w="med" len="med"/>
                      <a:tailEnd type="none" w="med" len="med"/>
                    </a:lnR>
                    <a:lnT w="9525" cap="flat" cmpd="sng" algn="ctr">
                      <a:solidFill>
                        <a:srgbClr val="C9D6CF"/>
                      </a:solidFill>
                      <a:prstDash val="solid"/>
                      <a:round/>
                      <a:headEnd type="none" w="med" len="med"/>
                      <a:tailEnd type="none" w="med" len="med"/>
                    </a:lnT>
                    <a:lnB w="9525" cap="flat" cmpd="sng" algn="ctr">
                      <a:solidFill>
                        <a:srgbClr val="C9D6CF"/>
                      </a:solidFill>
                      <a:prstDash val="solid"/>
                      <a:round/>
                      <a:headEnd type="none" w="med" len="med"/>
                      <a:tailEnd type="none" w="med" len="med"/>
                    </a:lnB>
                    <a:solidFill>
                      <a:srgbClr val="FFFFFF"/>
                    </a:solidFill>
                  </a:tcPr>
                </a:tc>
                <a:tc>
                  <a:txBody>
                    <a:bodyPr/>
                    <a:lstStyle/>
                    <a:p>
                      <a:pPr indent="0" marL="0">
                        <a:buNone/>
                      </a:pPr>
                      <a:r>
                        <a:rPr lang="en-US" sz="1300" b="1" dirty="0">
                          <a:solidFill>
                            <a:schemeClr val="accent1"/>
                          </a:solidFill>
                        </a:rPr>
                        <a:t>Low (edit records)</a:t>
                      </a:r>
                      <a:endParaRPr lang="en-US" sz="1300" dirty="0"/>
                    </a:p>
                  </a:txBody>
                  <a:tcPr marL="73152" marR="73152" marT="73152" marB="73152" anchor="ctr">
                    <a:lnL w="9525" cap="flat" cmpd="sng" algn="ctr">
                      <a:solidFill>
                        <a:srgbClr val="C9D6CF"/>
                      </a:solidFill>
                      <a:prstDash val="solid"/>
                      <a:round/>
                      <a:headEnd type="none" w="med" len="med"/>
                      <a:tailEnd type="none" w="med" len="med"/>
                    </a:lnL>
                    <a:lnR w="9525" cap="flat" cmpd="sng" algn="ctr">
                      <a:solidFill>
                        <a:srgbClr val="C9D6CF"/>
                      </a:solidFill>
                      <a:prstDash val="solid"/>
                      <a:round/>
                      <a:headEnd type="none" w="med" len="med"/>
                      <a:tailEnd type="none" w="med" len="med"/>
                    </a:lnR>
                    <a:lnT w="9525" cap="flat" cmpd="sng" algn="ctr">
                      <a:solidFill>
                        <a:srgbClr val="C9D6CF"/>
                      </a:solidFill>
                      <a:prstDash val="solid"/>
                      <a:round/>
                      <a:headEnd type="none" w="med" len="med"/>
                      <a:tailEnd type="none" w="med" len="med"/>
                    </a:lnT>
                    <a:lnB w="9525" cap="flat" cmpd="sng" algn="ctr">
                      <a:solidFill>
                        <a:srgbClr val="C9D6CF"/>
                      </a:solidFill>
                      <a:prstDash val="solid"/>
                      <a:round/>
                      <a:headEnd type="none" w="med" len="med"/>
                      <a:tailEnd type="none" w="med" len="med"/>
                    </a:lnB>
                    <a:solidFill>
                      <a:srgbClr val="FBE9E4"/>
                    </a:solidFill>
                  </a:tcPr>
                </a:tc>
              </a:tr>
              <a:tr h="502920">
                <a:tc>
                  <a:txBody>
                    <a:bodyPr/>
                    <a:lstStyle/>
                    <a:p>
                      <a:pPr indent="0" marL="0">
                        <a:buNone/>
                      </a:pPr>
                      <a:r>
                        <a:rPr lang="en-US" sz="1300" dirty="0">
                          <a:solidFill>
                            <a:srgbClr val="1B2A24"/>
                          </a:solidFill>
                        </a:rPr>
                        <a:t>Human hand-off</a:t>
                      </a:r>
                      <a:endParaRPr lang="en-US" sz="1300" dirty="0"/>
                    </a:p>
                  </a:txBody>
                  <a:tcPr marL="73152" marR="73152" marT="73152" marB="73152" anchor="ctr">
                    <a:lnL w="9525" cap="flat" cmpd="sng" algn="ctr">
                      <a:solidFill>
                        <a:srgbClr val="C9D6CF"/>
                      </a:solidFill>
                      <a:prstDash val="solid"/>
                      <a:round/>
                      <a:headEnd type="none" w="med" len="med"/>
                      <a:tailEnd type="none" w="med" len="med"/>
                    </a:lnL>
                    <a:lnR w="9525" cap="flat" cmpd="sng" algn="ctr">
                      <a:solidFill>
                        <a:srgbClr val="C9D6CF"/>
                      </a:solidFill>
                      <a:prstDash val="solid"/>
                      <a:round/>
                      <a:headEnd type="none" w="med" len="med"/>
                      <a:tailEnd type="none" w="med" len="med"/>
                    </a:lnR>
                    <a:lnT w="9525" cap="flat" cmpd="sng" algn="ctr">
                      <a:solidFill>
                        <a:srgbClr val="C9D6CF"/>
                      </a:solidFill>
                      <a:prstDash val="solid"/>
                      <a:round/>
                      <a:headEnd type="none" w="med" len="med"/>
                      <a:tailEnd type="none" w="med" len="med"/>
                    </a:lnT>
                    <a:lnB w="9525" cap="flat" cmpd="sng" algn="ctr">
                      <a:solidFill>
                        <a:srgbClr val="C9D6CF"/>
                      </a:solidFill>
                      <a:prstDash val="solid"/>
                      <a:round/>
                      <a:headEnd type="none" w="med" len="med"/>
                      <a:tailEnd type="none" w="med" len="med"/>
                    </a:lnB>
                    <a:solidFill>
                      <a:srgbClr val="FFFFFF"/>
                    </a:solidFill>
                  </a:tcPr>
                </a:tc>
                <a:tc>
                  <a:txBody>
                    <a:bodyPr/>
                    <a:lstStyle/>
                    <a:p>
                      <a:pPr indent="0" marL="0">
                        <a:buNone/>
                      </a:pPr>
                      <a:r>
                        <a:rPr lang="en-US" sz="1300" dirty="0">
                          <a:solidFill>
                            <a:srgbClr val="1B2A24"/>
                          </a:solidFill>
                        </a:rPr>
                        <a:t>Always human</a:t>
                      </a:r>
                      <a:endParaRPr lang="en-US" sz="1300" dirty="0"/>
                    </a:p>
                  </a:txBody>
                  <a:tcPr marL="73152" marR="73152" marT="73152" marB="73152" anchor="ctr">
                    <a:lnL w="9525" cap="flat" cmpd="sng" algn="ctr">
                      <a:solidFill>
                        <a:srgbClr val="C9D6CF"/>
                      </a:solidFill>
                      <a:prstDash val="solid"/>
                      <a:round/>
                      <a:headEnd type="none" w="med" len="med"/>
                      <a:tailEnd type="none" w="med" len="med"/>
                    </a:lnL>
                    <a:lnR w="9525" cap="flat" cmpd="sng" algn="ctr">
                      <a:solidFill>
                        <a:srgbClr val="C9D6CF"/>
                      </a:solidFill>
                      <a:prstDash val="solid"/>
                      <a:round/>
                      <a:headEnd type="none" w="med" len="med"/>
                      <a:tailEnd type="none" w="med" len="med"/>
                    </a:lnR>
                    <a:lnT w="9525" cap="flat" cmpd="sng" algn="ctr">
                      <a:solidFill>
                        <a:srgbClr val="C9D6CF"/>
                      </a:solidFill>
                      <a:prstDash val="solid"/>
                      <a:round/>
                      <a:headEnd type="none" w="med" len="med"/>
                      <a:tailEnd type="none" w="med" len="med"/>
                    </a:lnT>
                    <a:lnB w="9525" cap="flat" cmpd="sng" algn="ctr">
                      <a:solidFill>
                        <a:srgbClr val="C9D6CF"/>
                      </a:solidFill>
                      <a:prstDash val="solid"/>
                      <a:round/>
                      <a:headEnd type="none" w="med" len="med"/>
                      <a:tailEnd type="none" w="med" len="med"/>
                    </a:lnB>
                    <a:solidFill>
                      <a:srgbClr val="FFFFFF"/>
                    </a:solidFill>
                  </a:tcPr>
                </a:tc>
                <a:tc>
                  <a:txBody>
                    <a:bodyPr/>
                    <a:lstStyle/>
                    <a:p>
                      <a:pPr indent="0" marL="0">
                        <a:buNone/>
                      </a:pPr>
                      <a:r>
                        <a:rPr lang="en-US" sz="1300" dirty="0">
                          <a:solidFill>
                            <a:srgbClr val="1B2A24"/>
                          </a:solidFill>
                        </a:rPr>
                        <a:t>Manual</a:t>
                      </a:r>
                      <a:endParaRPr lang="en-US" sz="1300" dirty="0"/>
                    </a:p>
                  </a:txBody>
                  <a:tcPr marL="73152" marR="73152" marT="73152" marB="73152" anchor="ctr">
                    <a:lnL w="9525" cap="flat" cmpd="sng" algn="ctr">
                      <a:solidFill>
                        <a:srgbClr val="C9D6CF"/>
                      </a:solidFill>
                      <a:prstDash val="solid"/>
                      <a:round/>
                      <a:headEnd type="none" w="med" len="med"/>
                      <a:tailEnd type="none" w="med" len="med"/>
                    </a:lnL>
                    <a:lnR w="9525" cap="flat" cmpd="sng" algn="ctr">
                      <a:solidFill>
                        <a:srgbClr val="C9D6CF"/>
                      </a:solidFill>
                      <a:prstDash val="solid"/>
                      <a:round/>
                      <a:headEnd type="none" w="med" len="med"/>
                      <a:tailEnd type="none" w="med" len="med"/>
                    </a:lnR>
                    <a:lnT w="9525" cap="flat" cmpd="sng" algn="ctr">
                      <a:solidFill>
                        <a:srgbClr val="C9D6CF"/>
                      </a:solidFill>
                      <a:prstDash val="solid"/>
                      <a:round/>
                      <a:headEnd type="none" w="med" len="med"/>
                      <a:tailEnd type="none" w="med" len="med"/>
                    </a:lnT>
                    <a:lnB w="9525" cap="flat" cmpd="sng" algn="ctr">
                      <a:solidFill>
                        <a:srgbClr val="C9D6CF"/>
                      </a:solidFill>
                      <a:prstDash val="solid"/>
                      <a:round/>
                      <a:headEnd type="none" w="med" len="med"/>
                      <a:tailEnd type="none" w="med" len="med"/>
                    </a:lnB>
                    <a:solidFill>
                      <a:srgbClr val="FFFFFF"/>
                    </a:solidFill>
                  </a:tcPr>
                </a:tc>
                <a:tc>
                  <a:txBody>
                    <a:bodyPr/>
                    <a:lstStyle/>
                    <a:p>
                      <a:pPr indent="0" marL="0">
                        <a:buNone/>
                      </a:pPr>
                      <a:r>
                        <a:rPr lang="en-US" sz="1300" dirty="0">
                          <a:solidFill>
                            <a:srgbClr val="1B2A24"/>
                          </a:solidFill>
                        </a:rPr>
                        <a:t>Not built in</a:t>
                      </a:r>
                      <a:endParaRPr lang="en-US" sz="1300" dirty="0"/>
                    </a:p>
                  </a:txBody>
                  <a:tcPr marL="73152" marR="73152" marT="73152" marB="73152" anchor="ctr">
                    <a:lnL w="9525" cap="flat" cmpd="sng" algn="ctr">
                      <a:solidFill>
                        <a:srgbClr val="C9D6CF"/>
                      </a:solidFill>
                      <a:prstDash val="solid"/>
                      <a:round/>
                      <a:headEnd type="none" w="med" len="med"/>
                      <a:tailEnd type="none" w="med" len="med"/>
                    </a:lnL>
                    <a:lnR w="9525" cap="flat" cmpd="sng" algn="ctr">
                      <a:solidFill>
                        <a:srgbClr val="C9D6CF"/>
                      </a:solidFill>
                      <a:prstDash val="solid"/>
                      <a:round/>
                      <a:headEnd type="none" w="med" len="med"/>
                      <a:tailEnd type="none" w="med" len="med"/>
                    </a:lnR>
                    <a:lnT w="9525" cap="flat" cmpd="sng" algn="ctr">
                      <a:solidFill>
                        <a:srgbClr val="C9D6CF"/>
                      </a:solidFill>
                      <a:prstDash val="solid"/>
                      <a:round/>
                      <a:headEnd type="none" w="med" len="med"/>
                      <a:tailEnd type="none" w="med" len="med"/>
                    </a:lnT>
                    <a:lnB w="9525" cap="flat" cmpd="sng" algn="ctr">
                      <a:solidFill>
                        <a:srgbClr val="C9D6CF"/>
                      </a:solidFill>
                      <a:prstDash val="solid"/>
                      <a:round/>
                      <a:headEnd type="none" w="med" len="med"/>
                      <a:tailEnd type="none" w="med" len="med"/>
                    </a:lnB>
                    <a:solidFill>
                      <a:srgbClr val="FFFFFF"/>
                    </a:solidFill>
                  </a:tcPr>
                </a:tc>
                <a:tc>
                  <a:txBody>
                    <a:bodyPr/>
                    <a:lstStyle/>
                    <a:p>
                      <a:pPr indent="0" marL="0">
                        <a:buNone/>
                      </a:pPr>
                      <a:r>
                        <a:rPr lang="en-US" sz="1300" b="1" dirty="0">
                          <a:solidFill>
                            <a:schemeClr val="accent1"/>
                          </a:solidFill>
                        </a:rPr>
                        <a:t>Built in, rule-based</a:t>
                      </a:r>
                      <a:endParaRPr lang="en-US" sz="1300" dirty="0"/>
                    </a:p>
                  </a:txBody>
                  <a:tcPr marL="73152" marR="73152" marT="73152" marB="73152" anchor="ctr">
                    <a:lnL w="9525" cap="flat" cmpd="sng" algn="ctr">
                      <a:solidFill>
                        <a:srgbClr val="C9D6CF"/>
                      </a:solidFill>
                      <a:prstDash val="solid"/>
                      <a:round/>
                      <a:headEnd type="none" w="med" len="med"/>
                      <a:tailEnd type="none" w="med" len="med"/>
                    </a:lnL>
                    <a:lnR w="9525" cap="flat" cmpd="sng" algn="ctr">
                      <a:solidFill>
                        <a:srgbClr val="C9D6CF"/>
                      </a:solidFill>
                      <a:prstDash val="solid"/>
                      <a:round/>
                      <a:headEnd type="none" w="med" len="med"/>
                      <a:tailEnd type="none" w="med" len="med"/>
                    </a:lnR>
                    <a:lnT w="9525" cap="flat" cmpd="sng" algn="ctr">
                      <a:solidFill>
                        <a:srgbClr val="C9D6CF"/>
                      </a:solidFill>
                      <a:prstDash val="solid"/>
                      <a:round/>
                      <a:headEnd type="none" w="med" len="med"/>
                      <a:tailEnd type="none" w="med" len="med"/>
                    </a:lnT>
                    <a:lnB w="9525" cap="flat" cmpd="sng" algn="ctr">
                      <a:solidFill>
                        <a:srgbClr val="C9D6CF"/>
                      </a:solidFill>
                      <a:prstDash val="solid"/>
                      <a:round/>
                      <a:headEnd type="none" w="med" len="med"/>
                      <a:tailEnd type="none" w="med" len="med"/>
                    </a:lnB>
                    <a:solidFill>
                      <a:srgbClr val="FBE9E4"/>
                    </a:solidFill>
                  </a:tcPr>
                </a:tc>
              </a:tr>
              <a:tr h="502920">
                <a:tc>
                  <a:txBody>
                    <a:bodyPr/>
                    <a:lstStyle/>
                    <a:p>
                      <a:pPr indent="0" marL="0">
                        <a:buNone/>
                      </a:pPr>
                      <a:r>
                        <a:rPr lang="en-US" sz="1300" dirty="0">
                          <a:solidFill>
                            <a:srgbClr val="1B2A24"/>
                          </a:solidFill>
                        </a:rPr>
                        <a:t>Cost</a:t>
                      </a:r>
                      <a:endParaRPr lang="en-US" sz="1300" dirty="0"/>
                    </a:p>
                  </a:txBody>
                  <a:tcPr marL="73152" marR="73152" marT="73152" marB="73152" anchor="ctr">
                    <a:lnL w="9525" cap="flat" cmpd="sng" algn="ctr">
                      <a:solidFill>
                        <a:srgbClr val="C9D6CF"/>
                      </a:solidFill>
                      <a:prstDash val="solid"/>
                      <a:round/>
                      <a:headEnd type="none" w="med" len="med"/>
                      <a:tailEnd type="none" w="med" len="med"/>
                    </a:lnL>
                    <a:lnR w="9525" cap="flat" cmpd="sng" algn="ctr">
                      <a:solidFill>
                        <a:srgbClr val="C9D6CF"/>
                      </a:solidFill>
                      <a:prstDash val="solid"/>
                      <a:round/>
                      <a:headEnd type="none" w="med" len="med"/>
                      <a:tailEnd type="none" w="med" len="med"/>
                    </a:lnR>
                    <a:lnT w="9525" cap="flat" cmpd="sng" algn="ctr">
                      <a:solidFill>
                        <a:srgbClr val="C9D6CF"/>
                      </a:solidFill>
                      <a:prstDash val="solid"/>
                      <a:round/>
                      <a:headEnd type="none" w="med" len="med"/>
                      <a:tailEnd type="none" w="med" len="med"/>
                    </a:lnT>
                    <a:lnB w="9525" cap="flat" cmpd="sng" algn="ctr">
                      <a:solidFill>
                        <a:srgbClr val="C9D6CF"/>
                      </a:solidFill>
                      <a:prstDash val="solid"/>
                      <a:round/>
                      <a:headEnd type="none" w="med" len="med"/>
                      <a:tailEnd type="none" w="med" len="med"/>
                    </a:lnB>
                    <a:solidFill>
                      <a:srgbClr val="FFFFFF"/>
                    </a:solidFill>
                  </a:tcPr>
                </a:tc>
                <a:tc>
                  <a:txBody>
                    <a:bodyPr/>
                    <a:lstStyle/>
                    <a:p>
                      <a:pPr indent="0" marL="0">
                        <a:buNone/>
                      </a:pPr>
                      <a:r>
                        <a:rPr lang="en-US" sz="1300" dirty="0">
                          <a:solidFill>
                            <a:srgbClr val="1B2A24"/>
                          </a:solidFill>
                        </a:rPr>
                        <a:t>Owner's time</a:t>
                      </a:r>
                      <a:endParaRPr lang="en-US" sz="1300" dirty="0"/>
                    </a:p>
                  </a:txBody>
                  <a:tcPr marL="73152" marR="73152" marT="73152" marB="73152" anchor="ctr">
                    <a:lnL w="9525" cap="flat" cmpd="sng" algn="ctr">
                      <a:solidFill>
                        <a:srgbClr val="C9D6CF"/>
                      </a:solidFill>
                      <a:prstDash val="solid"/>
                      <a:round/>
                      <a:headEnd type="none" w="med" len="med"/>
                      <a:tailEnd type="none" w="med" len="med"/>
                    </a:lnL>
                    <a:lnR w="9525" cap="flat" cmpd="sng" algn="ctr">
                      <a:solidFill>
                        <a:srgbClr val="C9D6CF"/>
                      </a:solidFill>
                      <a:prstDash val="solid"/>
                      <a:round/>
                      <a:headEnd type="none" w="med" len="med"/>
                      <a:tailEnd type="none" w="med" len="med"/>
                    </a:lnR>
                    <a:lnT w="9525" cap="flat" cmpd="sng" algn="ctr">
                      <a:solidFill>
                        <a:srgbClr val="C9D6CF"/>
                      </a:solidFill>
                      <a:prstDash val="solid"/>
                      <a:round/>
                      <a:headEnd type="none" w="med" len="med"/>
                      <a:tailEnd type="none" w="med" len="med"/>
                    </a:lnT>
                    <a:lnB w="9525" cap="flat" cmpd="sng" algn="ctr">
                      <a:solidFill>
                        <a:srgbClr val="C9D6CF"/>
                      </a:solidFill>
                      <a:prstDash val="solid"/>
                      <a:round/>
                      <a:headEnd type="none" w="med" len="med"/>
                      <a:tailEnd type="none" w="med" len="med"/>
                    </a:lnB>
                    <a:solidFill>
                      <a:srgbClr val="FFFFFF"/>
                    </a:solidFill>
                  </a:tcPr>
                </a:tc>
                <a:tc>
                  <a:txBody>
                    <a:bodyPr/>
                    <a:lstStyle/>
                    <a:p>
                      <a:pPr indent="0" marL="0">
                        <a:buNone/>
                      </a:pPr>
                      <a:r>
                        <a:rPr lang="en-US" sz="1300" dirty="0">
                          <a:solidFill>
                            <a:srgbClr val="1B2A24"/>
                          </a:solidFill>
                        </a:rPr>
                        <a:t>Low</a:t>
                      </a:r>
                      <a:endParaRPr lang="en-US" sz="1300" dirty="0"/>
                    </a:p>
                  </a:txBody>
                  <a:tcPr marL="73152" marR="73152" marT="73152" marB="73152" anchor="ctr">
                    <a:lnL w="9525" cap="flat" cmpd="sng" algn="ctr">
                      <a:solidFill>
                        <a:srgbClr val="C9D6CF"/>
                      </a:solidFill>
                      <a:prstDash val="solid"/>
                      <a:round/>
                      <a:headEnd type="none" w="med" len="med"/>
                      <a:tailEnd type="none" w="med" len="med"/>
                    </a:lnL>
                    <a:lnR w="9525" cap="flat" cmpd="sng" algn="ctr">
                      <a:solidFill>
                        <a:srgbClr val="C9D6CF"/>
                      </a:solidFill>
                      <a:prstDash val="solid"/>
                      <a:round/>
                      <a:headEnd type="none" w="med" len="med"/>
                      <a:tailEnd type="none" w="med" len="med"/>
                    </a:lnR>
                    <a:lnT w="9525" cap="flat" cmpd="sng" algn="ctr">
                      <a:solidFill>
                        <a:srgbClr val="C9D6CF"/>
                      </a:solidFill>
                      <a:prstDash val="solid"/>
                      <a:round/>
                      <a:headEnd type="none" w="med" len="med"/>
                      <a:tailEnd type="none" w="med" len="med"/>
                    </a:lnT>
                    <a:lnB w="9525" cap="flat" cmpd="sng" algn="ctr">
                      <a:solidFill>
                        <a:srgbClr val="C9D6CF"/>
                      </a:solidFill>
                      <a:prstDash val="solid"/>
                      <a:round/>
                      <a:headEnd type="none" w="med" len="med"/>
                      <a:tailEnd type="none" w="med" len="med"/>
                    </a:lnB>
                    <a:solidFill>
                      <a:srgbClr val="FFFFFF"/>
                    </a:solidFill>
                  </a:tcPr>
                </a:tc>
                <a:tc>
                  <a:txBody>
                    <a:bodyPr/>
                    <a:lstStyle/>
                    <a:p>
                      <a:pPr indent="0" marL="0">
                        <a:buNone/>
                      </a:pPr>
                      <a:r>
                        <a:rPr lang="en-US" sz="1300" dirty="0">
                          <a:solidFill>
                            <a:srgbClr val="1B2A24"/>
                          </a:solidFill>
                        </a:rPr>
                        <a:t>Usage-based</a:t>
                      </a:r>
                      <a:endParaRPr lang="en-US" sz="1300" dirty="0"/>
                    </a:p>
                  </a:txBody>
                  <a:tcPr marL="73152" marR="73152" marT="73152" marB="73152" anchor="ctr">
                    <a:lnL w="9525" cap="flat" cmpd="sng" algn="ctr">
                      <a:solidFill>
                        <a:srgbClr val="C9D6CF"/>
                      </a:solidFill>
                      <a:prstDash val="solid"/>
                      <a:round/>
                      <a:headEnd type="none" w="med" len="med"/>
                      <a:tailEnd type="none" w="med" len="med"/>
                    </a:lnL>
                    <a:lnR w="9525" cap="flat" cmpd="sng" algn="ctr">
                      <a:solidFill>
                        <a:srgbClr val="C9D6CF"/>
                      </a:solidFill>
                      <a:prstDash val="solid"/>
                      <a:round/>
                      <a:headEnd type="none" w="med" len="med"/>
                      <a:tailEnd type="none" w="med" len="med"/>
                    </a:lnR>
                    <a:lnT w="9525" cap="flat" cmpd="sng" algn="ctr">
                      <a:solidFill>
                        <a:srgbClr val="C9D6CF"/>
                      </a:solidFill>
                      <a:prstDash val="solid"/>
                      <a:round/>
                      <a:headEnd type="none" w="med" len="med"/>
                      <a:tailEnd type="none" w="med" len="med"/>
                    </a:lnT>
                    <a:lnB w="9525" cap="flat" cmpd="sng" algn="ctr">
                      <a:solidFill>
                        <a:srgbClr val="C9D6CF"/>
                      </a:solidFill>
                      <a:prstDash val="solid"/>
                      <a:round/>
                      <a:headEnd type="none" w="med" len="med"/>
                      <a:tailEnd type="none" w="med" len="med"/>
                    </a:lnB>
                    <a:solidFill>
                      <a:srgbClr val="FFFFFF"/>
                    </a:solidFill>
                  </a:tcPr>
                </a:tc>
                <a:tc>
                  <a:txBody>
                    <a:bodyPr/>
                    <a:lstStyle/>
                    <a:p>
                      <a:pPr indent="0" marL="0">
                        <a:buNone/>
                      </a:pPr>
                      <a:r>
                        <a:rPr lang="en-US" sz="1300" b="1" dirty="0">
                          <a:solidFill>
                            <a:schemeClr val="accent1"/>
                          </a:solidFill>
                        </a:rPr>
                        <a:t>Usage-based, capped by tier</a:t>
                      </a:r>
                      <a:endParaRPr lang="en-US" sz="1300" dirty="0"/>
                    </a:p>
                  </a:txBody>
                  <a:tcPr marL="73152" marR="73152" marT="73152" marB="73152" anchor="ctr">
                    <a:lnL w="9525" cap="flat" cmpd="sng" algn="ctr">
                      <a:solidFill>
                        <a:srgbClr val="C9D6CF"/>
                      </a:solidFill>
                      <a:prstDash val="solid"/>
                      <a:round/>
                      <a:headEnd type="none" w="med" len="med"/>
                      <a:tailEnd type="none" w="med" len="med"/>
                    </a:lnL>
                    <a:lnR w="9525" cap="flat" cmpd="sng" algn="ctr">
                      <a:solidFill>
                        <a:srgbClr val="C9D6CF"/>
                      </a:solidFill>
                      <a:prstDash val="solid"/>
                      <a:round/>
                      <a:headEnd type="none" w="med" len="med"/>
                      <a:tailEnd type="none" w="med" len="med"/>
                    </a:lnR>
                    <a:lnT w="9525" cap="flat" cmpd="sng" algn="ctr">
                      <a:solidFill>
                        <a:srgbClr val="C9D6CF"/>
                      </a:solidFill>
                      <a:prstDash val="solid"/>
                      <a:round/>
                      <a:headEnd type="none" w="med" len="med"/>
                      <a:tailEnd type="none" w="med" len="med"/>
                    </a:lnT>
                    <a:lnB w="9525" cap="flat" cmpd="sng" algn="ctr">
                      <a:solidFill>
                        <a:srgbClr val="C9D6CF"/>
                      </a:solidFill>
                      <a:prstDash val="solid"/>
                      <a:round/>
                      <a:headEnd type="none" w="med" len="med"/>
                      <a:tailEnd type="none" w="med" len="med"/>
                    </a:lnB>
                    <a:solidFill>
                      <a:srgbClr val="FBE9E4"/>
                    </a:solidFill>
                  </a:tcPr>
                </a:tc>
              </a:tr>
            </a:tbl>
          </a:graphicData>
        </a:graphic>
      </p:graphicFrame>
      <p:sp>
        <p:nvSpPr>
          <p:cNvPr id="4" name="Text 1"/>
          <p:cNvSpPr txBox="1"/>
          <p:nvPr/>
        </p:nvSpPr>
        <p:spPr>
          <a:xfrm>
            <a:off x="548640" y="5257800"/>
            <a:ext cx="11064240" cy="731520"/>
          </a:xfrm>
          <a:prstGeom prst="rect">
            <a:avLst/>
          </a:prstGeom>
          <a:noFill/>
          <a:ln/>
        </p:spPr>
        <p:txBody>
          <a:bodyPr wrap="square" lIns="0" tIns="0" rIns="0" bIns="0" rtlCol="0" anchor="t"/>
          <a:lstStyle/>
          <a:p>
            <a:pPr indent="0" marL="0">
              <a:buNone/>
            </a:pPr>
            <a:r>
              <a:rPr lang="en-US" sz="1600" b="1" dirty="0">
                <a:solidFill>
                  <a:schemeClr val="accent2"/>
                </a:solidFill>
              </a:rPr>
              <a:t>Why D: </a:t>
            </a:r>
            <a:pPr indent="0" marL="0">
              <a:buNone/>
            </a:pPr>
            <a:r>
              <a:rPr lang="en-US" sz="1600" dirty="0">
                <a:solidFill>
                  <a:schemeClr val="tx1"/>
                </a:solidFill>
              </a:rPr>
              <a:t>it keeps the language ability of a modern AI model but limits every answer to the owner's records, and adds a clear hand-off to staff.</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A8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accent1"/>
                </a:solidFill>
                <a:latin typeface="Cambria" pitchFamily="34" charset="0"/>
                <a:ea typeface="Cambria" pitchFamily="34" charset="-122"/>
                <a:cs typeface="Cambria" pitchFamily="34" charset="-120"/>
              </a:rPr>
              <a:t>Conceptual framework</a:t>
            </a:r>
            <a:endParaRPr lang="en-US" sz="3200" dirty="0"/>
          </a:p>
        </p:txBody>
      </p:sp>
      <p:pic>
        <p:nvPicPr>
          <p:cNvPr id="3" name="Conceptual framework figure" descr="Conceptual framework figure">    </p:cNvPr>
          <p:cNvPicPr>
            <a:picLocks noChangeAspect="1"/>
          </p:cNvPicPr>
          <p:nvPr/>
        </p:nvPicPr>
        <p:blipFill>
          <a:blip r:embed="rId1"/>
          <a:stretch>
            <a:fillRect/>
          </a:stretch>
        </p:blipFill>
        <p:spPr>
          <a:xfrm>
            <a:off x="1025636" y="1325880"/>
            <a:ext cx="10110247" cy="4572000"/>
          </a:xfrm>
          <a:prstGeom prst="rect">
            <a:avLst/>
          </a:prstGeom>
        </p:spPr>
      </p:pic>
      <p:sp>
        <p:nvSpPr>
          <p:cNvPr id="4" name="Text 1"/>
          <p:cNvSpPr txBox="1"/>
          <p:nvPr/>
        </p:nvSpPr>
        <p:spPr>
          <a:xfrm>
            <a:off x="548640" y="5989320"/>
            <a:ext cx="11064240" cy="274320"/>
          </a:xfrm>
          <a:prstGeom prst="rect">
            <a:avLst/>
          </a:prstGeom>
          <a:noFill/>
          <a:ln/>
        </p:spPr>
        <p:txBody>
          <a:bodyPr wrap="square" lIns="0" tIns="0" rIns="0" bIns="0" rtlCol="0" anchor="t"/>
          <a:lstStyle/>
          <a:p>
            <a:pPr algn="ctr" indent="0" marL="0">
              <a:buNone/>
            </a:pPr>
            <a:r>
              <a:rPr lang="en-US" sz="1100" i="1" dirty="0">
                <a:solidFill>
                  <a:srgbClr val="5E6E66"/>
                </a:solidFill>
              </a:rPr>
              <a:t>Input–Process–Output model with cross-cutting privacy, security and human-oversight controls</a:t>
            </a:r>
            <a:endParaRPr lang="en-US" sz="11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A8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accent1"/>
                </a:solidFill>
                <a:latin typeface="Cambria" pitchFamily="34" charset="0"/>
                <a:ea typeface="Cambria" pitchFamily="34" charset="-122"/>
                <a:cs typeface="Cambria" pitchFamily="34" charset="-120"/>
              </a:rPr>
              <a:t>How each message is handled</a:t>
            </a:r>
            <a:endParaRPr lang="en-US" sz="3200" dirty="0"/>
          </a:p>
        </p:txBody>
      </p:sp>
      <p:pic>
        <p:nvPicPr>
          <p:cNvPr id="3" name="Program flowchart" descr="Program flowchart">    </p:cNvPr>
          <p:cNvPicPr>
            <a:picLocks noChangeAspect="1"/>
          </p:cNvPicPr>
          <p:nvPr/>
        </p:nvPicPr>
        <p:blipFill>
          <a:blip r:embed="rId1"/>
          <a:stretch>
            <a:fillRect/>
          </a:stretch>
        </p:blipFill>
        <p:spPr>
          <a:xfrm>
            <a:off x="767239" y="1280160"/>
            <a:ext cx="5323523" cy="4937760"/>
          </a:xfrm>
          <a:prstGeom prst="rect">
            <a:avLst/>
          </a:prstGeom>
        </p:spPr>
      </p:pic>
      <p:sp>
        <p:nvSpPr>
          <p:cNvPr id="4" name="example card 1"/>
          <p:cNvSpPr/>
          <p:nvPr/>
        </p:nvSpPr>
        <p:spPr>
          <a:xfrm>
            <a:off x="6583680" y="1371600"/>
            <a:ext cx="5029200" cy="1417320"/>
          </a:xfrm>
          <a:prstGeom prst="roundRect">
            <a:avLst>
              <a:gd name="adj" fmla="val 7742"/>
            </a:avLst>
          </a:prstGeom>
          <a:solidFill>
            <a:schemeClr val="bg2"/>
          </a:solidFill>
          <a:ln w="12700">
            <a:solidFill>
              <a:schemeClr val="bg2"/>
            </a:solidFill>
            <a:prstDash val="solid"/>
          </a:ln>
        </p:spPr>
      </p:sp>
      <p:sp>
        <p:nvSpPr>
          <p:cNvPr id="5" name="example icon 1 circle"/>
          <p:cNvSpPr/>
          <p:nvPr/>
        </p:nvSpPr>
        <p:spPr>
          <a:xfrm>
            <a:off x="6766560" y="1554480"/>
            <a:ext cx="548640" cy="548640"/>
          </a:xfrm>
          <a:prstGeom prst="ellipse">
            <a:avLst/>
          </a:prstGeom>
          <a:solidFill>
            <a:schemeClr val="accent1"/>
          </a:solidFill>
          <a:ln w="12700">
            <a:solidFill>
              <a:schemeClr val="accent1"/>
            </a:solidFill>
            <a:prstDash val="solid"/>
          </a:ln>
        </p:spPr>
      </p:sp>
      <p:pic>
        <p:nvPicPr>
          <p:cNvPr id="6" name="example icon 1" descr="preencoded.png">    </p:cNvPr>
          <p:cNvPicPr>
            <a:picLocks noChangeAspect="1"/>
          </p:cNvPicPr>
          <p:nvPr/>
        </p:nvPicPr>
        <p:blipFill>
          <a:blip r:embed="rId2"/>
          <a:stretch>
            <a:fillRect/>
          </a:stretch>
        </p:blipFill>
        <p:spPr>
          <a:xfrm>
            <a:off x="6898234" y="1686154"/>
            <a:ext cx="285293" cy="285293"/>
          </a:xfrm>
          <a:prstGeom prst="rect">
            <a:avLst/>
          </a:prstGeom>
        </p:spPr>
      </p:pic>
      <p:sp>
        <p:nvSpPr>
          <p:cNvPr id="7" name="Text 3"/>
          <p:cNvSpPr txBox="1"/>
          <p:nvPr/>
        </p:nvSpPr>
        <p:spPr>
          <a:xfrm>
            <a:off x="7452360" y="1554480"/>
            <a:ext cx="4023360" cy="411480"/>
          </a:xfrm>
          <a:prstGeom prst="rect">
            <a:avLst/>
          </a:prstGeom>
          <a:noFill/>
          <a:ln/>
        </p:spPr>
        <p:txBody>
          <a:bodyPr wrap="square" lIns="0" tIns="0" rIns="0" bIns="0" rtlCol="0" anchor="t"/>
          <a:lstStyle/>
          <a:p>
            <a:pPr indent="0" marL="0">
              <a:buNone/>
            </a:pPr>
            <a:r>
              <a:rPr lang="en-US" sz="1600" b="1" dirty="0">
                <a:solidFill>
                  <a:schemeClr val="accent1"/>
                </a:solidFill>
              </a:rPr>
              <a:t>Routine Taglish question</a:t>
            </a:r>
            <a:endParaRPr lang="en-US" sz="1600" dirty="0"/>
          </a:p>
        </p:txBody>
      </p:sp>
      <p:sp>
        <p:nvSpPr>
          <p:cNvPr id="8" name="Text 4"/>
          <p:cNvSpPr txBox="1"/>
          <p:nvPr/>
        </p:nvSpPr>
        <p:spPr>
          <a:xfrm>
            <a:off x="7452360" y="1965960"/>
            <a:ext cx="4023360" cy="777240"/>
          </a:xfrm>
          <a:prstGeom prst="rect">
            <a:avLst/>
          </a:prstGeom>
          <a:noFill/>
          <a:ln/>
        </p:spPr>
        <p:txBody>
          <a:bodyPr wrap="square" lIns="0" tIns="0" rIns="0" bIns="0" rtlCol="0" anchor="t"/>
          <a:lstStyle/>
          <a:p>
            <a:pPr indent="0" marL="0">
              <a:buNone/>
            </a:pPr>
            <a:r>
              <a:rPr lang="en-US" sz="1300" dirty="0">
                <a:solidFill>
                  <a:schemeClr val="tx1"/>
                </a:solidFill>
              </a:rPr>
              <a:t>"Available pa po ba ang Arabica 250g?" → intent: stock → finds Product P-014 → "Yes po, in stock, ₱380."</a:t>
            </a:r>
            <a:endParaRPr lang="en-US" sz="1300" dirty="0"/>
          </a:p>
        </p:txBody>
      </p:sp>
      <p:sp>
        <p:nvSpPr>
          <p:cNvPr id="9" name="example card 2"/>
          <p:cNvSpPr/>
          <p:nvPr/>
        </p:nvSpPr>
        <p:spPr>
          <a:xfrm>
            <a:off x="6583680" y="2971800"/>
            <a:ext cx="5029200" cy="1417320"/>
          </a:xfrm>
          <a:prstGeom prst="roundRect">
            <a:avLst>
              <a:gd name="adj" fmla="val 7742"/>
            </a:avLst>
          </a:prstGeom>
          <a:solidFill>
            <a:schemeClr val="bg2"/>
          </a:solidFill>
          <a:ln w="12700">
            <a:solidFill>
              <a:schemeClr val="bg2"/>
            </a:solidFill>
            <a:prstDash val="solid"/>
          </a:ln>
        </p:spPr>
      </p:sp>
      <p:sp>
        <p:nvSpPr>
          <p:cNvPr id="10" name="example icon 2 circle"/>
          <p:cNvSpPr/>
          <p:nvPr/>
        </p:nvSpPr>
        <p:spPr>
          <a:xfrm>
            <a:off x="6766560" y="3154680"/>
            <a:ext cx="548640" cy="548640"/>
          </a:xfrm>
          <a:prstGeom prst="ellipse">
            <a:avLst/>
          </a:prstGeom>
          <a:solidFill>
            <a:schemeClr val="accent2"/>
          </a:solidFill>
          <a:ln w="12700">
            <a:solidFill>
              <a:schemeClr val="accent2"/>
            </a:solidFill>
            <a:prstDash val="solid"/>
          </a:ln>
        </p:spPr>
      </p:sp>
      <p:pic>
        <p:nvPicPr>
          <p:cNvPr id="11" name="example icon 2" descr="preencoded.png">    </p:cNvPr>
          <p:cNvPicPr>
            <a:picLocks noChangeAspect="1"/>
          </p:cNvPicPr>
          <p:nvPr/>
        </p:nvPicPr>
        <p:blipFill>
          <a:blip r:embed="rId3"/>
          <a:stretch>
            <a:fillRect/>
          </a:stretch>
        </p:blipFill>
        <p:spPr>
          <a:xfrm>
            <a:off x="6898234" y="3286354"/>
            <a:ext cx="285293" cy="285293"/>
          </a:xfrm>
          <a:prstGeom prst="rect">
            <a:avLst/>
          </a:prstGeom>
        </p:spPr>
      </p:pic>
      <p:sp>
        <p:nvSpPr>
          <p:cNvPr id="12" name="Text 7"/>
          <p:cNvSpPr txBox="1"/>
          <p:nvPr/>
        </p:nvSpPr>
        <p:spPr>
          <a:xfrm>
            <a:off x="7452360" y="3154680"/>
            <a:ext cx="4023360" cy="411480"/>
          </a:xfrm>
          <a:prstGeom prst="rect">
            <a:avLst/>
          </a:prstGeom>
          <a:noFill/>
          <a:ln/>
        </p:spPr>
        <p:txBody>
          <a:bodyPr wrap="square" lIns="0" tIns="0" rIns="0" bIns="0" rtlCol="0" anchor="t"/>
          <a:lstStyle/>
          <a:p>
            <a:pPr indent="0" marL="0">
              <a:buNone/>
            </a:pPr>
            <a:r>
              <a:rPr lang="en-US" sz="1600" b="1" dirty="0">
                <a:solidFill>
                  <a:schemeClr val="accent1"/>
                </a:solidFill>
              </a:rPr>
              <a:t>Complaint</a:t>
            </a:r>
            <a:endParaRPr lang="en-US" sz="1600" dirty="0"/>
          </a:p>
        </p:txBody>
      </p:sp>
      <p:sp>
        <p:nvSpPr>
          <p:cNvPr id="13" name="Text 8"/>
          <p:cNvSpPr txBox="1"/>
          <p:nvPr/>
        </p:nvSpPr>
        <p:spPr>
          <a:xfrm>
            <a:off x="7452360" y="3566160"/>
            <a:ext cx="4023360" cy="777240"/>
          </a:xfrm>
          <a:prstGeom prst="rect">
            <a:avLst/>
          </a:prstGeom>
          <a:noFill/>
          <a:ln/>
        </p:spPr>
        <p:txBody>
          <a:bodyPr wrap="square" lIns="0" tIns="0" rIns="0" bIns="0" rtlCol="0" anchor="t"/>
          <a:lstStyle/>
          <a:p>
            <a:pPr indent="0" marL="0">
              <a:buNone/>
            </a:pPr>
            <a:r>
              <a:rPr lang="en-US" sz="1300" dirty="0">
                <a:solidFill>
                  <a:schemeClr val="tx1"/>
                </a:solidFill>
              </a:rPr>
              <a:t>"Wrong item po ang dumating, I want a refund." → complaint → staff queue → "A staff member will reply po."</a:t>
            </a:r>
            <a:endParaRPr lang="en-US" sz="1300" dirty="0"/>
          </a:p>
        </p:txBody>
      </p:sp>
      <p:sp>
        <p:nvSpPr>
          <p:cNvPr id="14" name="example card 3"/>
          <p:cNvSpPr/>
          <p:nvPr/>
        </p:nvSpPr>
        <p:spPr>
          <a:xfrm>
            <a:off x="6583680" y="4572000"/>
            <a:ext cx="5029200" cy="1417320"/>
          </a:xfrm>
          <a:prstGeom prst="roundRect">
            <a:avLst>
              <a:gd name="adj" fmla="val 7742"/>
            </a:avLst>
          </a:prstGeom>
          <a:solidFill>
            <a:schemeClr val="bg2"/>
          </a:solidFill>
          <a:ln w="12700">
            <a:solidFill>
              <a:schemeClr val="bg2"/>
            </a:solidFill>
            <a:prstDash val="solid"/>
          </a:ln>
        </p:spPr>
      </p:sp>
      <p:sp>
        <p:nvSpPr>
          <p:cNvPr id="15" name="example icon 3 circle"/>
          <p:cNvSpPr/>
          <p:nvPr/>
        </p:nvSpPr>
        <p:spPr>
          <a:xfrm>
            <a:off x="6766560" y="4754880"/>
            <a:ext cx="548640" cy="548640"/>
          </a:xfrm>
          <a:prstGeom prst="ellipse">
            <a:avLst/>
          </a:prstGeom>
          <a:solidFill>
            <a:schemeClr val="accent5"/>
          </a:solidFill>
          <a:ln w="12700">
            <a:solidFill>
              <a:schemeClr val="accent5"/>
            </a:solidFill>
            <a:prstDash val="solid"/>
          </a:ln>
        </p:spPr>
      </p:sp>
      <p:pic>
        <p:nvPicPr>
          <p:cNvPr id="16" name="example icon 3" descr="preencoded.png">    </p:cNvPr>
          <p:cNvPicPr>
            <a:picLocks noChangeAspect="1"/>
          </p:cNvPicPr>
          <p:nvPr/>
        </p:nvPicPr>
        <p:blipFill>
          <a:blip r:embed="rId4"/>
          <a:stretch>
            <a:fillRect/>
          </a:stretch>
        </p:blipFill>
        <p:spPr>
          <a:xfrm>
            <a:off x="6898234" y="4886554"/>
            <a:ext cx="285293" cy="285293"/>
          </a:xfrm>
          <a:prstGeom prst="rect">
            <a:avLst/>
          </a:prstGeom>
        </p:spPr>
      </p:pic>
      <p:sp>
        <p:nvSpPr>
          <p:cNvPr id="17" name="Text 11"/>
          <p:cNvSpPr txBox="1"/>
          <p:nvPr/>
        </p:nvSpPr>
        <p:spPr>
          <a:xfrm>
            <a:off x="7452360" y="4754880"/>
            <a:ext cx="4023360" cy="411480"/>
          </a:xfrm>
          <a:prstGeom prst="rect">
            <a:avLst/>
          </a:prstGeom>
          <a:noFill/>
          <a:ln/>
        </p:spPr>
        <p:txBody>
          <a:bodyPr wrap="square" lIns="0" tIns="0" rIns="0" bIns="0" rtlCol="0" anchor="t"/>
          <a:lstStyle/>
          <a:p>
            <a:pPr indent="0" marL="0">
              <a:buNone/>
            </a:pPr>
            <a:r>
              <a:rPr lang="en-US" sz="1600" b="1" dirty="0">
                <a:solidFill>
                  <a:schemeClr val="accent1"/>
                </a:solidFill>
              </a:rPr>
              <a:t>No matching record</a:t>
            </a:r>
            <a:endParaRPr lang="en-US" sz="1600" dirty="0"/>
          </a:p>
        </p:txBody>
      </p:sp>
      <p:sp>
        <p:nvSpPr>
          <p:cNvPr id="18" name="Text 12"/>
          <p:cNvSpPr txBox="1"/>
          <p:nvPr/>
        </p:nvSpPr>
        <p:spPr>
          <a:xfrm>
            <a:off x="7452360" y="5166360"/>
            <a:ext cx="4023360" cy="777240"/>
          </a:xfrm>
          <a:prstGeom prst="rect">
            <a:avLst/>
          </a:prstGeom>
          <a:noFill/>
          <a:ln/>
        </p:spPr>
        <p:txBody>
          <a:bodyPr wrap="square" lIns="0" tIns="0" rIns="0" bIns="0" rtlCol="0" anchor="t"/>
          <a:lstStyle/>
          <a:p>
            <a:pPr indent="0" marL="0">
              <a:buNone/>
            </a:pPr>
            <a:r>
              <a:rPr lang="en-US" sz="1300" dirty="0">
                <a:solidFill>
                  <a:schemeClr val="tx1"/>
                </a:solidFill>
              </a:rPr>
              <a:t>Score below threshold → no guessing → escalated; owner can save the staff answer as a new FAQ.</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A8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accent1"/>
                </a:solidFill>
                <a:latin typeface="Cambria" pitchFamily="34" charset="0"/>
                <a:ea typeface="Cambria" pitchFamily="34" charset="-122"/>
                <a:cs typeface="Cambria" pitchFamily="34" charset="-120"/>
              </a:rPr>
              <a:t>System architecture</a:t>
            </a:r>
            <a:endParaRPr lang="en-US" sz="3200" dirty="0"/>
          </a:p>
        </p:txBody>
      </p:sp>
      <p:pic>
        <p:nvPicPr>
          <p:cNvPr id="3" name="System architecture figure" descr="System architecture figure">    </p:cNvPr>
          <p:cNvPicPr>
            <a:picLocks noChangeAspect="1"/>
          </p:cNvPicPr>
          <p:nvPr/>
        </p:nvPicPr>
        <p:blipFill>
          <a:blip r:embed="rId1"/>
          <a:stretch>
            <a:fillRect/>
          </a:stretch>
        </p:blipFill>
        <p:spPr>
          <a:xfrm>
            <a:off x="548640" y="1280160"/>
            <a:ext cx="6949440" cy="3898077"/>
          </a:xfrm>
          <a:prstGeom prst="rect">
            <a:avLst/>
          </a:prstGeom>
        </p:spPr>
      </p:pic>
      <p:sp>
        <p:nvSpPr>
          <p:cNvPr id="4" name="architecture point icon 1 circle"/>
          <p:cNvSpPr/>
          <p:nvPr/>
        </p:nvSpPr>
        <p:spPr>
          <a:xfrm>
            <a:off x="7863840" y="1417320"/>
            <a:ext cx="594360" cy="594360"/>
          </a:xfrm>
          <a:prstGeom prst="ellipse">
            <a:avLst/>
          </a:prstGeom>
          <a:solidFill>
            <a:schemeClr val="accent1"/>
          </a:solidFill>
          <a:ln w="12700">
            <a:solidFill>
              <a:schemeClr val="accent1"/>
            </a:solidFill>
            <a:prstDash val="solid"/>
          </a:ln>
        </p:spPr>
      </p:sp>
      <p:pic>
        <p:nvPicPr>
          <p:cNvPr id="5" name="architecture point icon 1" descr="preencoded.png">    </p:cNvPr>
          <p:cNvPicPr>
            <a:picLocks noChangeAspect="1"/>
          </p:cNvPicPr>
          <p:nvPr/>
        </p:nvPicPr>
        <p:blipFill>
          <a:blip r:embed="rId2"/>
          <a:stretch>
            <a:fillRect/>
          </a:stretch>
        </p:blipFill>
        <p:spPr>
          <a:xfrm>
            <a:off x="8006486" y="1559966"/>
            <a:ext cx="309067" cy="309067"/>
          </a:xfrm>
          <a:prstGeom prst="rect">
            <a:avLst/>
          </a:prstGeom>
        </p:spPr>
      </p:pic>
      <p:sp>
        <p:nvSpPr>
          <p:cNvPr id="6" name="Text 2"/>
          <p:cNvSpPr txBox="1"/>
          <p:nvPr/>
        </p:nvSpPr>
        <p:spPr>
          <a:xfrm>
            <a:off x="8641080" y="1417320"/>
            <a:ext cx="3017520" cy="411480"/>
          </a:xfrm>
          <a:prstGeom prst="rect">
            <a:avLst/>
          </a:prstGeom>
          <a:noFill/>
          <a:ln/>
        </p:spPr>
        <p:txBody>
          <a:bodyPr wrap="square" lIns="0" tIns="0" rIns="0" bIns="0" rtlCol="0" anchor="t"/>
          <a:lstStyle/>
          <a:p>
            <a:pPr indent="0" marL="0">
              <a:buNone/>
            </a:pPr>
            <a:r>
              <a:rPr lang="en-US" sz="1600" b="1" dirty="0">
                <a:solidFill>
                  <a:schemeClr val="accent1"/>
                </a:solidFill>
              </a:rPr>
              <a:t>The AI owns no data</a:t>
            </a:r>
            <a:endParaRPr lang="en-US" sz="1600" dirty="0"/>
          </a:p>
        </p:txBody>
      </p:sp>
      <p:sp>
        <p:nvSpPr>
          <p:cNvPr id="7" name="Text 3"/>
          <p:cNvSpPr txBox="1"/>
          <p:nvPr/>
        </p:nvSpPr>
        <p:spPr>
          <a:xfrm>
            <a:off x="8641080" y="1856232"/>
            <a:ext cx="3017520" cy="1051560"/>
          </a:xfrm>
          <a:prstGeom prst="rect">
            <a:avLst/>
          </a:prstGeom>
          <a:noFill/>
          <a:ln/>
        </p:spPr>
        <p:txBody>
          <a:bodyPr wrap="square" lIns="0" tIns="0" rIns="0" bIns="0" rtlCol="0" anchor="t"/>
          <a:lstStyle/>
          <a:p>
            <a:pPr indent="0" marL="0">
              <a:buNone/>
            </a:pPr>
            <a:r>
              <a:rPr lang="en-US" sz="1400" dirty="0">
                <a:solidFill>
                  <a:schemeClr val="tx1"/>
                </a:solidFill>
              </a:rPr>
              <a:t>It receives text and returns text. It cannot change records or take actions.</a:t>
            </a:r>
            <a:endParaRPr lang="en-US" sz="1400" dirty="0"/>
          </a:p>
        </p:txBody>
      </p:sp>
      <p:sp>
        <p:nvSpPr>
          <p:cNvPr id="8" name="architecture point icon 2 circle"/>
          <p:cNvSpPr/>
          <p:nvPr/>
        </p:nvSpPr>
        <p:spPr>
          <a:xfrm>
            <a:off x="7863840" y="3017520"/>
            <a:ext cx="594360" cy="594360"/>
          </a:xfrm>
          <a:prstGeom prst="ellipse">
            <a:avLst/>
          </a:prstGeom>
          <a:solidFill>
            <a:schemeClr val="accent1"/>
          </a:solidFill>
          <a:ln w="12700">
            <a:solidFill>
              <a:schemeClr val="accent1"/>
            </a:solidFill>
            <a:prstDash val="solid"/>
          </a:ln>
        </p:spPr>
      </p:sp>
      <p:pic>
        <p:nvPicPr>
          <p:cNvPr id="9" name="architecture point icon 2" descr="preencoded.png">    </p:cNvPr>
          <p:cNvPicPr>
            <a:picLocks noChangeAspect="1"/>
          </p:cNvPicPr>
          <p:nvPr/>
        </p:nvPicPr>
        <p:blipFill>
          <a:blip r:embed="rId3"/>
          <a:stretch>
            <a:fillRect/>
          </a:stretch>
        </p:blipFill>
        <p:spPr>
          <a:xfrm>
            <a:off x="8006486" y="3160166"/>
            <a:ext cx="309067" cy="309067"/>
          </a:xfrm>
          <a:prstGeom prst="rect">
            <a:avLst/>
          </a:prstGeom>
        </p:spPr>
      </p:pic>
      <p:sp>
        <p:nvSpPr>
          <p:cNvPr id="10" name="Text 5"/>
          <p:cNvSpPr txBox="1"/>
          <p:nvPr/>
        </p:nvSpPr>
        <p:spPr>
          <a:xfrm>
            <a:off x="8641080" y="3017520"/>
            <a:ext cx="3017520" cy="411480"/>
          </a:xfrm>
          <a:prstGeom prst="rect">
            <a:avLst/>
          </a:prstGeom>
          <a:noFill/>
          <a:ln/>
        </p:spPr>
        <p:txBody>
          <a:bodyPr wrap="square" lIns="0" tIns="0" rIns="0" bIns="0" rtlCol="0" anchor="t"/>
          <a:lstStyle/>
          <a:p>
            <a:pPr indent="0" marL="0">
              <a:buNone/>
            </a:pPr>
            <a:r>
              <a:rPr lang="en-US" sz="1600" b="1" dirty="0">
                <a:solidFill>
                  <a:schemeClr val="accent1"/>
                </a:solidFill>
              </a:rPr>
              <a:t>Code decides what it sees</a:t>
            </a:r>
            <a:endParaRPr lang="en-US" sz="1600" dirty="0"/>
          </a:p>
        </p:txBody>
      </p:sp>
      <p:sp>
        <p:nvSpPr>
          <p:cNvPr id="11" name="Text 6"/>
          <p:cNvSpPr txBox="1"/>
          <p:nvPr/>
        </p:nvSpPr>
        <p:spPr>
          <a:xfrm>
            <a:off x="8641080" y="3456432"/>
            <a:ext cx="3017520" cy="1051560"/>
          </a:xfrm>
          <a:prstGeom prst="rect">
            <a:avLst/>
          </a:prstGeom>
          <a:noFill/>
          <a:ln/>
        </p:spPr>
        <p:txBody>
          <a:bodyPr wrap="square" lIns="0" tIns="0" rIns="0" bIns="0" rtlCol="0" anchor="t"/>
          <a:lstStyle/>
          <a:p>
            <a:pPr indent="0" marL="0">
              <a:buNone/>
            </a:pPr>
            <a:r>
              <a:rPr lang="en-US" sz="1400" dirty="0">
                <a:solidFill>
                  <a:schemeClr val="tx1"/>
                </a:solidFill>
              </a:rPr>
              <a:t>Retrieval is filtered by business ID inside the database query.</a:t>
            </a:r>
            <a:endParaRPr lang="en-US" sz="1400" dirty="0"/>
          </a:p>
        </p:txBody>
      </p:sp>
      <p:sp>
        <p:nvSpPr>
          <p:cNvPr id="12" name="architecture point icon 3 circle"/>
          <p:cNvSpPr/>
          <p:nvPr/>
        </p:nvSpPr>
        <p:spPr>
          <a:xfrm>
            <a:off x="7863840" y="4617720"/>
            <a:ext cx="594360" cy="594360"/>
          </a:xfrm>
          <a:prstGeom prst="ellipse">
            <a:avLst/>
          </a:prstGeom>
          <a:solidFill>
            <a:schemeClr val="accent1"/>
          </a:solidFill>
          <a:ln w="12700">
            <a:solidFill>
              <a:schemeClr val="accent1"/>
            </a:solidFill>
            <a:prstDash val="solid"/>
          </a:ln>
        </p:spPr>
      </p:sp>
      <p:pic>
        <p:nvPicPr>
          <p:cNvPr id="13" name="architecture point icon 3" descr="preencoded.png">    </p:cNvPr>
          <p:cNvPicPr>
            <a:picLocks noChangeAspect="1"/>
          </p:cNvPicPr>
          <p:nvPr/>
        </p:nvPicPr>
        <p:blipFill>
          <a:blip r:embed="rId4"/>
          <a:stretch>
            <a:fillRect/>
          </a:stretch>
        </p:blipFill>
        <p:spPr>
          <a:xfrm>
            <a:off x="8006486" y="4760366"/>
            <a:ext cx="309067" cy="309067"/>
          </a:xfrm>
          <a:prstGeom prst="rect">
            <a:avLst/>
          </a:prstGeom>
        </p:spPr>
      </p:pic>
      <p:sp>
        <p:nvSpPr>
          <p:cNvPr id="14" name="Text 8"/>
          <p:cNvSpPr txBox="1"/>
          <p:nvPr/>
        </p:nvSpPr>
        <p:spPr>
          <a:xfrm>
            <a:off x="8641080" y="4617720"/>
            <a:ext cx="3017520" cy="411480"/>
          </a:xfrm>
          <a:prstGeom prst="rect">
            <a:avLst/>
          </a:prstGeom>
          <a:noFill/>
          <a:ln/>
        </p:spPr>
        <p:txBody>
          <a:bodyPr wrap="square" lIns="0" tIns="0" rIns="0" bIns="0" rtlCol="0" anchor="t"/>
          <a:lstStyle/>
          <a:p>
            <a:pPr indent="0" marL="0">
              <a:buNone/>
            </a:pPr>
            <a:r>
              <a:rPr lang="en-US" sz="1600" b="1" dirty="0">
                <a:solidFill>
                  <a:schemeClr val="accent1"/>
                </a:solidFill>
              </a:rPr>
              <a:t>Provider can be switched</a:t>
            </a:r>
            <a:endParaRPr lang="en-US" sz="1600" dirty="0"/>
          </a:p>
        </p:txBody>
      </p:sp>
      <p:sp>
        <p:nvSpPr>
          <p:cNvPr id="15" name="Text 9"/>
          <p:cNvSpPr txBox="1"/>
          <p:nvPr/>
        </p:nvSpPr>
        <p:spPr>
          <a:xfrm>
            <a:off x="8641080" y="5056632"/>
            <a:ext cx="3017520" cy="1051560"/>
          </a:xfrm>
          <a:prstGeom prst="rect">
            <a:avLst/>
          </a:prstGeom>
          <a:noFill/>
          <a:ln/>
        </p:spPr>
        <p:txBody>
          <a:bodyPr wrap="square" lIns="0" tIns="0" rIns="0" bIns="0" rtlCol="0" anchor="t"/>
          <a:lstStyle/>
          <a:p>
            <a:pPr indent="0" marL="0">
              <a:buNone/>
            </a:pPr>
            <a:r>
              <a:rPr lang="en-US" sz="1400" dirty="0">
                <a:solidFill>
                  <a:schemeClr val="tx1"/>
                </a:solidFill>
              </a:rPr>
              <a:t>The AI model is called through a neutral interface; PostgreSQL + pgvector stores both data and search index.</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A8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accent1"/>
                </a:solidFill>
                <a:latin typeface="Cambria" pitchFamily="34" charset="0"/>
                <a:ea typeface="Cambria" pitchFamily="34" charset="-122"/>
                <a:cs typeface="Cambria" pitchFamily="34" charset="-120"/>
              </a:rPr>
              <a:t>Use cases and data model</a:t>
            </a:r>
            <a:endParaRPr lang="en-US" sz="3200" dirty="0"/>
          </a:p>
        </p:txBody>
      </p:sp>
      <p:pic>
        <p:nvPicPr>
          <p:cNvPr id="3" name="Use case diagram" descr="Use case diagram">    </p:cNvPr>
          <p:cNvPicPr>
            <a:picLocks noChangeAspect="1"/>
          </p:cNvPicPr>
          <p:nvPr/>
        </p:nvPicPr>
        <p:blipFill>
          <a:blip r:embed="rId1"/>
          <a:stretch>
            <a:fillRect/>
          </a:stretch>
        </p:blipFill>
        <p:spPr>
          <a:xfrm>
            <a:off x="548640" y="1371600"/>
            <a:ext cx="5440680" cy="2947533"/>
          </a:xfrm>
          <a:prstGeom prst="rect">
            <a:avLst/>
          </a:prstGeom>
        </p:spPr>
      </p:pic>
      <p:sp>
        <p:nvSpPr>
          <p:cNvPr id="4" name="Text 1"/>
          <p:cNvSpPr txBox="1"/>
          <p:nvPr/>
        </p:nvSpPr>
        <p:spPr>
          <a:xfrm>
            <a:off x="548640" y="4456293"/>
            <a:ext cx="5440680" cy="274320"/>
          </a:xfrm>
          <a:prstGeom prst="rect">
            <a:avLst/>
          </a:prstGeom>
          <a:noFill/>
          <a:ln/>
        </p:spPr>
        <p:txBody>
          <a:bodyPr wrap="square" lIns="0" tIns="0" rIns="0" bIns="0" rtlCol="0" anchor="t"/>
          <a:lstStyle/>
          <a:p>
            <a:pPr algn="ctr" indent="0" marL="0">
              <a:buNone/>
            </a:pPr>
            <a:r>
              <a:rPr lang="en-US" sz="1100" i="1" dirty="0">
                <a:solidFill>
                  <a:srgbClr val="5E6E66"/>
                </a:solidFill>
              </a:rPr>
              <a:t>Use case diagram: customer, owner/staff and AI service</a:t>
            </a:r>
            <a:endParaRPr lang="en-US" sz="1100" dirty="0"/>
          </a:p>
        </p:txBody>
      </p:sp>
      <p:pic>
        <p:nvPicPr>
          <p:cNvPr id="5" name="Entity relationship diagram" descr="Entity relationship diagram">    </p:cNvPr>
          <p:cNvPicPr>
            <a:picLocks noChangeAspect="1"/>
          </p:cNvPicPr>
          <p:nvPr/>
        </p:nvPicPr>
        <p:blipFill>
          <a:blip r:embed="rId2"/>
          <a:stretch>
            <a:fillRect/>
          </a:stretch>
        </p:blipFill>
        <p:spPr>
          <a:xfrm>
            <a:off x="6172200" y="1371600"/>
            <a:ext cx="5440680" cy="3534199"/>
          </a:xfrm>
          <a:prstGeom prst="rect">
            <a:avLst/>
          </a:prstGeom>
        </p:spPr>
      </p:pic>
      <p:sp>
        <p:nvSpPr>
          <p:cNvPr id="6" name="Text 2"/>
          <p:cNvSpPr txBox="1"/>
          <p:nvPr/>
        </p:nvSpPr>
        <p:spPr>
          <a:xfrm>
            <a:off x="6172200" y="5042959"/>
            <a:ext cx="5440680" cy="274320"/>
          </a:xfrm>
          <a:prstGeom prst="rect">
            <a:avLst/>
          </a:prstGeom>
          <a:noFill/>
          <a:ln/>
        </p:spPr>
        <p:txBody>
          <a:bodyPr wrap="square" lIns="0" tIns="0" rIns="0" bIns="0" rtlCol="0" anchor="t"/>
          <a:lstStyle/>
          <a:p>
            <a:pPr algn="ctr" indent="0" marL="0">
              <a:buNone/>
            </a:pPr>
            <a:r>
              <a:rPr lang="en-US" sz="1100" i="1" dirty="0">
                <a:solidFill>
                  <a:srgbClr val="5E6E66"/>
                </a:solidFill>
              </a:rPr>
              <a:t>ERD: every message stores the knowledge item it used</a:t>
            </a:r>
            <a:endParaRPr lang="en-US" sz="11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A8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accent1"/>
                </a:solidFill>
                <a:latin typeface="Cambria" pitchFamily="34" charset="0"/>
                <a:ea typeface="Cambria" pitchFamily="34" charset="-122"/>
                <a:cs typeface="Cambria" pitchFamily="34" charset="-120"/>
              </a:rPr>
              <a:t>Business rules the AI cannot override</a:t>
            </a:r>
            <a:endParaRPr lang="en-US" sz="3200" dirty="0"/>
          </a:p>
        </p:txBody>
      </p:sp>
      <p:sp>
        <p:nvSpPr>
          <p:cNvPr id="3" name="BR1 card"/>
          <p:cNvSpPr/>
          <p:nvPr/>
        </p:nvSpPr>
        <p:spPr>
          <a:xfrm>
            <a:off x="548640" y="1371600"/>
            <a:ext cx="2606040" cy="2103120"/>
          </a:xfrm>
          <a:prstGeom prst="roundRect">
            <a:avLst>
              <a:gd name="adj" fmla="val 5217"/>
            </a:avLst>
          </a:prstGeom>
          <a:solidFill>
            <a:schemeClr val="bg2"/>
          </a:solidFill>
          <a:ln w="12700">
            <a:solidFill>
              <a:schemeClr val="bg2"/>
            </a:solidFill>
            <a:prstDash val="solid"/>
          </a:ln>
        </p:spPr>
      </p:sp>
      <p:sp>
        <p:nvSpPr>
          <p:cNvPr id="4" name="Text 2"/>
          <p:cNvSpPr txBox="1"/>
          <p:nvPr/>
        </p:nvSpPr>
        <p:spPr>
          <a:xfrm>
            <a:off x="777240" y="1600200"/>
            <a:ext cx="2194560" cy="548640"/>
          </a:xfrm>
          <a:prstGeom prst="rect">
            <a:avLst/>
          </a:prstGeom>
          <a:noFill/>
          <a:ln/>
        </p:spPr>
        <p:txBody>
          <a:bodyPr wrap="square" lIns="0" tIns="0" rIns="0" bIns="0" rtlCol="0" anchor="t"/>
          <a:lstStyle/>
          <a:p>
            <a:pPr indent="0" marL="0">
              <a:buNone/>
            </a:pPr>
            <a:r>
              <a:rPr lang="en-US" sz="2800" b="1" dirty="0">
                <a:solidFill>
                  <a:schemeClr val="accent1"/>
                </a:solidFill>
                <a:latin typeface="Cambria" pitchFamily="34" charset="0"/>
                <a:ea typeface="Cambria" pitchFamily="34" charset="-122"/>
                <a:cs typeface="Cambria" pitchFamily="34" charset="-120"/>
              </a:rPr>
              <a:t>BR1</a:t>
            </a:r>
            <a:endParaRPr lang="en-US" sz="2800" dirty="0"/>
          </a:p>
        </p:txBody>
      </p:sp>
      <p:sp>
        <p:nvSpPr>
          <p:cNvPr id="5" name="Text 3"/>
          <p:cNvSpPr txBox="1"/>
          <p:nvPr/>
        </p:nvSpPr>
        <p:spPr>
          <a:xfrm>
            <a:off x="777240" y="2240280"/>
            <a:ext cx="2194560" cy="1097280"/>
          </a:xfrm>
          <a:prstGeom prst="rect">
            <a:avLst/>
          </a:prstGeom>
          <a:noFill/>
          <a:ln/>
        </p:spPr>
        <p:txBody>
          <a:bodyPr wrap="square" lIns="0" tIns="0" rIns="0" bIns="0" rtlCol="0" anchor="t"/>
          <a:lstStyle/>
          <a:p>
            <a:pPr indent="0" marL="0">
              <a:buNone/>
            </a:pPr>
            <a:r>
              <a:rPr lang="en-US" sz="1500" dirty="0">
                <a:solidFill>
                  <a:schemeClr val="tx1"/>
                </a:solidFill>
              </a:rPr>
              <a:t>Only active, in-effect records are used</a:t>
            </a:r>
            <a:endParaRPr lang="en-US" sz="1500" dirty="0"/>
          </a:p>
        </p:txBody>
      </p:sp>
      <p:sp>
        <p:nvSpPr>
          <p:cNvPr id="6" name="BR2 card"/>
          <p:cNvSpPr/>
          <p:nvPr/>
        </p:nvSpPr>
        <p:spPr>
          <a:xfrm>
            <a:off x="3337560" y="1371600"/>
            <a:ext cx="2606040" cy="2103120"/>
          </a:xfrm>
          <a:prstGeom prst="roundRect">
            <a:avLst>
              <a:gd name="adj" fmla="val 5217"/>
            </a:avLst>
          </a:prstGeom>
          <a:solidFill>
            <a:schemeClr val="bg2"/>
          </a:solidFill>
          <a:ln w="12700">
            <a:solidFill>
              <a:schemeClr val="bg2"/>
            </a:solidFill>
            <a:prstDash val="solid"/>
          </a:ln>
        </p:spPr>
      </p:sp>
      <p:sp>
        <p:nvSpPr>
          <p:cNvPr id="7" name="Text 5"/>
          <p:cNvSpPr txBox="1"/>
          <p:nvPr/>
        </p:nvSpPr>
        <p:spPr>
          <a:xfrm>
            <a:off x="3566160" y="1600200"/>
            <a:ext cx="2194560" cy="548640"/>
          </a:xfrm>
          <a:prstGeom prst="rect">
            <a:avLst/>
          </a:prstGeom>
          <a:noFill/>
          <a:ln/>
        </p:spPr>
        <p:txBody>
          <a:bodyPr wrap="square" lIns="0" tIns="0" rIns="0" bIns="0" rtlCol="0" anchor="t"/>
          <a:lstStyle/>
          <a:p>
            <a:pPr indent="0" marL="0">
              <a:buNone/>
            </a:pPr>
            <a:r>
              <a:rPr lang="en-US" sz="2800" b="1" dirty="0">
                <a:solidFill>
                  <a:schemeClr val="accent1"/>
                </a:solidFill>
                <a:latin typeface="Cambria" pitchFamily="34" charset="0"/>
                <a:ea typeface="Cambria" pitchFamily="34" charset="-122"/>
                <a:cs typeface="Cambria" pitchFamily="34" charset="-120"/>
              </a:rPr>
              <a:t>BR2</a:t>
            </a:r>
            <a:endParaRPr lang="en-US" sz="2800" dirty="0"/>
          </a:p>
        </p:txBody>
      </p:sp>
      <p:sp>
        <p:nvSpPr>
          <p:cNvPr id="8" name="Text 6"/>
          <p:cNvSpPr txBox="1"/>
          <p:nvPr/>
        </p:nvSpPr>
        <p:spPr>
          <a:xfrm>
            <a:off x="3566160" y="2240280"/>
            <a:ext cx="2194560" cy="1097280"/>
          </a:xfrm>
          <a:prstGeom prst="rect">
            <a:avLst/>
          </a:prstGeom>
          <a:noFill/>
          <a:ln/>
        </p:spPr>
        <p:txBody>
          <a:bodyPr wrap="square" lIns="0" tIns="0" rIns="0" bIns="0" rtlCol="0" anchor="t"/>
          <a:lstStyle/>
          <a:p>
            <a:pPr indent="0" marL="0">
              <a:buNone/>
            </a:pPr>
            <a:r>
              <a:rPr lang="en-US" sz="1500" dirty="0">
                <a:solidFill>
                  <a:schemeClr val="tx1"/>
                </a:solidFill>
              </a:rPr>
              <a:t>A seller's data never reaches another seller's customers</a:t>
            </a:r>
            <a:endParaRPr lang="en-US" sz="1500" dirty="0"/>
          </a:p>
        </p:txBody>
      </p:sp>
      <p:sp>
        <p:nvSpPr>
          <p:cNvPr id="9" name="BR3 card"/>
          <p:cNvSpPr/>
          <p:nvPr/>
        </p:nvSpPr>
        <p:spPr>
          <a:xfrm>
            <a:off x="6126480" y="1371600"/>
            <a:ext cx="2606040" cy="2103120"/>
          </a:xfrm>
          <a:prstGeom prst="roundRect">
            <a:avLst>
              <a:gd name="adj" fmla="val 5217"/>
            </a:avLst>
          </a:prstGeom>
          <a:solidFill>
            <a:schemeClr val="accent2"/>
          </a:solidFill>
          <a:ln w="12700">
            <a:solidFill>
              <a:schemeClr val="accent2"/>
            </a:solidFill>
            <a:prstDash val="solid"/>
          </a:ln>
        </p:spPr>
      </p:sp>
      <p:sp>
        <p:nvSpPr>
          <p:cNvPr id="10" name="Text 8"/>
          <p:cNvSpPr txBox="1"/>
          <p:nvPr/>
        </p:nvSpPr>
        <p:spPr>
          <a:xfrm>
            <a:off x="6355080" y="1600200"/>
            <a:ext cx="2194560" cy="54864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BR3</a:t>
            </a:r>
            <a:endParaRPr lang="en-US" sz="2800" dirty="0"/>
          </a:p>
        </p:txBody>
      </p:sp>
      <p:sp>
        <p:nvSpPr>
          <p:cNvPr id="11" name="Text 9"/>
          <p:cNvSpPr txBox="1"/>
          <p:nvPr/>
        </p:nvSpPr>
        <p:spPr>
          <a:xfrm>
            <a:off x="6355080" y="2240280"/>
            <a:ext cx="2194560" cy="1097280"/>
          </a:xfrm>
          <a:prstGeom prst="rect">
            <a:avLst/>
          </a:prstGeom>
          <a:noFill/>
          <a:ln/>
        </p:spPr>
        <p:txBody>
          <a:bodyPr wrap="square" lIns="0" tIns="0" rIns="0" bIns="0" rtlCol="0" anchor="t"/>
          <a:lstStyle/>
          <a:p>
            <a:pPr indent="0" marL="0">
              <a:buNone/>
            </a:pPr>
            <a:r>
              <a:rPr lang="en-US" sz="1500" dirty="0">
                <a:solidFill>
                  <a:schemeClr val="bg1"/>
                </a:solidFill>
              </a:rPr>
              <a:t>Refunds, complaints and unlisted discounts always go to a person</a:t>
            </a:r>
            <a:endParaRPr lang="en-US" sz="1500" dirty="0"/>
          </a:p>
        </p:txBody>
      </p:sp>
      <p:sp>
        <p:nvSpPr>
          <p:cNvPr id="12" name="BR4 card"/>
          <p:cNvSpPr/>
          <p:nvPr/>
        </p:nvSpPr>
        <p:spPr>
          <a:xfrm>
            <a:off x="8915400" y="1371600"/>
            <a:ext cx="2606040" cy="2103120"/>
          </a:xfrm>
          <a:prstGeom prst="roundRect">
            <a:avLst>
              <a:gd name="adj" fmla="val 5217"/>
            </a:avLst>
          </a:prstGeom>
          <a:solidFill>
            <a:schemeClr val="bg2"/>
          </a:solidFill>
          <a:ln w="12700">
            <a:solidFill>
              <a:schemeClr val="bg2"/>
            </a:solidFill>
            <a:prstDash val="solid"/>
          </a:ln>
        </p:spPr>
      </p:sp>
      <p:sp>
        <p:nvSpPr>
          <p:cNvPr id="13" name="Text 11"/>
          <p:cNvSpPr txBox="1"/>
          <p:nvPr/>
        </p:nvSpPr>
        <p:spPr>
          <a:xfrm>
            <a:off x="9144000" y="1600200"/>
            <a:ext cx="2194560" cy="548640"/>
          </a:xfrm>
          <a:prstGeom prst="rect">
            <a:avLst/>
          </a:prstGeom>
          <a:noFill/>
          <a:ln/>
        </p:spPr>
        <p:txBody>
          <a:bodyPr wrap="square" lIns="0" tIns="0" rIns="0" bIns="0" rtlCol="0" anchor="t"/>
          <a:lstStyle/>
          <a:p>
            <a:pPr indent="0" marL="0">
              <a:buNone/>
            </a:pPr>
            <a:r>
              <a:rPr lang="en-US" sz="2800" b="1" dirty="0">
                <a:solidFill>
                  <a:schemeClr val="accent1"/>
                </a:solidFill>
                <a:latin typeface="Cambria" pitchFamily="34" charset="0"/>
                <a:ea typeface="Cambria" pitchFamily="34" charset="-122"/>
                <a:cs typeface="Cambria" pitchFamily="34" charset="-120"/>
              </a:rPr>
              <a:t>BR4</a:t>
            </a:r>
            <a:endParaRPr lang="en-US" sz="2800" dirty="0"/>
          </a:p>
        </p:txBody>
      </p:sp>
      <p:sp>
        <p:nvSpPr>
          <p:cNvPr id="14" name="Text 12"/>
          <p:cNvSpPr txBox="1"/>
          <p:nvPr/>
        </p:nvSpPr>
        <p:spPr>
          <a:xfrm>
            <a:off x="9144000" y="2240280"/>
            <a:ext cx="2194560" cy="1097280"/>
          </a:xfrm>
          <a:prstGeom prst="rect">
            <a:avLst/>
          </a:prstGeom>
          <a:noFill/>
          <a:ln/>
        </p:spPr>
        <p:txBody>
          <a:bodyPr wrap="square" lIns="0" tIns="0" rIns="0" bIns="0" rtlCol="0" anchor="t"/>
          <a:lstStyle/>
          <a:p>
            <a:pPr indent="0" marL="0">
              <a:buNone/>
            </a:pPr>
            <a:r>
              <a:rPr lang="en-US" sz="1500" dirty="0">
                <a:solidFill>
                  <a:schemeClr val="tx1"/>
                </a:solidFill>
              </a:rPr>
              <a:t>Conflicting records: newer wins, owner alerted</a:t>
            </a:r>
            <a:endParaRPr lang="en-US" sz="1500" dirty="0"/>
          </a:p>
        </p:txBody>
      </p:sp>
      <p:sp>
        <p:nvSpPr>
          <p:cNvPr id="15" name="BR5 card"/>
          <p:cNvSpPr/>
          <p:nvPr/>
        </p:nvSpPr>
        <p:spPr>
          <a:xfrm>
            <a:off x="548640" y="3703320"/>
            <a:ext cx="2606040" cy="2103120"/>
          </a:xfrm>
          <a:prstGeom prst="roundRect">
            <a:avLst>
              <a:gd name="adj" fmla="val 5217"/>
            </a:avLst>
          </a:prstGeom>
          <a:solidFill>
            <a:schemeClr val="bg2"/>
          </a:solidFill>
          <a:ln w="12700">
            <a:solidFill>
              <a:schemeClr val="bg2"/>
            </a:solidFill>
            <a:prstDash val="solid"/>
          </a:ln>
        </p:spPr>
      </p:sp>
      <p:sp>
        <p:nvSpPr>
          <p:cNvPr id="16" name="Text 14"/>
          <p:cNvSpPr txBox="1"/>
          <p:nvPr/>
        </p:nvSpPr>
        <p:spPr>
          <a:xfrm>
            <a:off x="777240" y="3931920"/>
            <a:ext cx="2194560" cy="548640"/>
          </a:xfrm>
          <a:prstGeom prst="rect">
            <a:avLst/>
          </a:prstGeom>
          <a:noFill/>
          <a:ln/>
        </p:spPr>
        <p:txBody>
          <a:bodyPr wrap="square" lIns="0" tIns="0" rIns="0" bIns="0" rtlCol="0" anchor="t"/>
          <a:lstStyle/>
          <a:p>
            <a:pPr indent="0" marL="0">
              <a:buNone/>
            </a:pPr>
            <a:r>
              <a:rPr lang="en-US" sz="2800" b="1" dirty="0">
                <a:solidFill>
                  <a:schemeClr val="accent1"/>
                </a:solidFill>
                <a:latin typeface="Cambria" pitchFamily="34" charset="0"/>
                <a:ea typeface="Cambria" pitchFamily="34" charset="-122"/>
                <a:cs typeface="Cambria" pitchFamily="34" charset="-120"/>
              </a:rPr>
              <a:t>BR5</a:t>
            </a:r>
            <a:endParaRPr lang="en-US" sz="2800" dirty="0"/>
          </a:p>
        </p:txBody>
      </p:sp>
      <p:sp>
        <p:nvSpPr>
          <p:cNvPr id="17" name="Text 15"/>
          <p:cNvSpPr txBox="1"/>
          <p:nvPr/>
        </p:nvSpPr>
        <p:spPr>
          <a:xfrm>
            <a:off x="777240" y="4572000"/>
            <a:ext cx="2194560" cy="1097280"/>
          </a:xfrm>
          <a:prstGeom prst="rect">
            <a:avLst/>
          </a:prstGeom>
          <a:noFill/>
          <a:ln/>
        </p:spPr>
        <p:txBody>
          <a:bodyPr wrap="square" lIns="0" tIns="0" rIns="0" bIns="0" rtlCol="0" anchor="t"/>
          <a:lstStyle/>
          <a:p>
            <a:pPr indent="0" marL="0">
              <a:buNone/>
            </a:pPr>
            <a:r>
              <a:rPr lang="en-US" sz="1500" dirty="0">
                <a:solidFill>
                  <a:schemeClr val="tx1"/>
                </a:solidFill>
              </a:rPr>
              <a:t>Quoted price and stock must match the record exactly</a:t>
            </a:r>
            <a:endParaRPr lang="en-US" sz="1500" dirty="0"/>
          </a:p>
        </p:txBody>
      </p:sp>
      <p:sp>
        <p:nvSpPr>
          <p:cNvPr id="18" name="BR6 card"/>
          <p:cNvSpPr/>
          <p:nvPr/>
        </p:nvSpPr>
        <p:spPr>
          <a:xfrm>
            <a:off x="3337560" y="3703320"/>
            <a:ext cx="2606040" cy="2103120"/>
          </a:xfrm>
          <a:prstGeom prst="roundRect">
            <a:avLst>
              <a:gd name="adj" fmla="val 5217"/>
            </a:avLst>
          </a:prstGeom>
          <a:solidFill>
            <a:schemeClr val="bg2"/>
          </a:solidFill>
          <a:ln w="12700">
            <a:solidFill>
              <a:schemeClr val="bg2"/>
            </a:solidFill>
            <a:prstDash val="solid"/>
          </a:ln>
        </p:spPr>
      </p:sp>
      <p:sp>
        <p:nvSpPr>
          <p:cNvPr id="19" name="Text 17"/>
          <p:cNvSpPr txBox="1"/>
          <p:nvPr/>
        </p:nvSpPr>
        <p:spPr>
          <a:xfrm>
            <a:off x="3566160" y="3931920"/>
            <a:ext cx="2194560" cy="548640"/>
          </a:xfrm>
          <a:prstGeom prst="rect">
            <a:avLst/>
          </a:prstGeom>
          <a:noFill/>
          <a:ln/>
        </p:spPr>
        <p:txBody>
          <a:bodyPr wrap="square" lIns="0" tIns="0" rIns="0" bIns="0" rtlCol="0" anchor="t"/>
          <a:lstStyle/>
          <a:p>
            <a:pPr indent="0" marL="0">
              <a:buNone/>
            </a:pPr>
            <a:r>
              <a:rPr lang="en-US" sz="2800" b="1" dirty="0">
                <a:solidFill>
                  <a:schemeClr val="accent1"/>
                </a:solidFill>
                <a:latin typeface="Cambria" pitchFamily="34" charset="0"/>
                <a:ea typeface="Cambria" pitchFamily="34" charset="-122"/>
                <a:cs typeface="Cambria" pitchFamily="34" charset="-120"/>
              </a:rPr>
              <a:t>BR6</a:t>
            </a:r>
            <a:endParaRPr lang="en-US" sz="2800" dirty="0"/>
          </a:p>
        </p:txBody>
      </p:sp>
      <p:sp>
        <p:nvSpPr>
          <p:cNvPr id="20" name="Text 18"/>
          <p:cNvSpPr txBox="1"/>
          <p:nvPr/>
        </p:nvSpPr>
        <p:spPr>
          <a:xfrm>
            <a:off x="3566160" y="4572000"/>
            <a:ext cx="2194560" cy="1097280"/>
          </a:xfrm>
          <a:prstGeom prst="rect">
            <a:avLst/>
          </a:prstGeom>
          <a:noFill/>
          <a:ln/>
        </p:spPr>
        <p:txBody>
          <a:bodyPr wrap="square" lIns="0" tIns="0" rIns="0" bIns="0" rtlCol="0" anchor="t"/>
          <a:lstStyle/>
          <a:p>
            <a:pPr indent="0" marL="0">
              <a:buNone/>
            </a:pPr>
            <a:r>
              <a:rPr lang="en-US" sz="1500" dirty="0">
                <a:solidFill>
                  <a:schemeClr val="tx1"/>
                </a:solidFill>
              </a:rPr>
              <a:t>Stock not updated in 14 days triggers a reminder</a:t>
            </a:r>
            <a:endParaRPr lang="en-US" sz="1500" dirty="0"/>
          </a:p>
        </p:txBody>
      </p:sp>
      <p:sp>
        <p:nvSpPr>
          <p:cNvPr id="21" name="BR7 card"/>
          <p:cNvSpPr/>
          <p:nvPr/>
        </p:nvSpPr>
        <p:spPr>
          <a:xfrm>
            <a:off x="6126480" y="3703320"/>
            <a:ext cx="2606040" cy="2103120"/>
          </a:xfrm>
          <a:prstGeom prst="roundRect">
            <a:avLst>
              <a:gd name="adj" fmla="val 5217"/>
            </a:avLst>
          </a:prstGeom>
          <a:solidFill>
            <a:schemeClr val="bg2"/>
          </a:solidFill>
          <a:ln w="12700">
            <a:solidFill>
              <a:schemeClr val="bg2"/>
            </a:solidFill>
            <a:prstDash val="solid"/>
          </a:ln>
        </p:spPr>
      </p:sp>
      <p:sp>
        <p:nvSpPr>
          <p:cNvPr id="22" name="Text 20"/>
          <p:cNvSpPr txBox="1"/>
          <p:nvPr/>
        </p:nvSpPr>
        <p:spPr>
          <a:xfrm>
            <a:off x="6355080" y="3931920"/>
            <a:ext cx="2194560" cy="548640"/>
          </a:xfrm>
          <a:prstGeom prst="rect">
            <a:avLst/>
          </a:prstGeom>
          <a:noFill/>
          <a:ln/>
        </p:spPr>
        <p:txBody>
          <a:bodyPr wrap="square" lIns="0" tIns="0" rIns="0" bIns="0" rtlCol="0" anchor="t"/>
          <a:lstStyle/>
          <a:p>
            <a:pPr indent="0" marL="0">
              <a:buNone/>
            </a:pPr>
            <a:r>
              <a:rPr lang="en-US" sz="2800" b="1" dirty="0">
                <a:solidFill>
                  <a:schemeClr val="accent1"/>
                </a:solidFill>
                <a:latin typeface="Cambria" pitchFamily="34" charset="0"/>
                <a:ea typeface="Cambria" pitchFamily="34" charset="-122"/>
                <a:cs typeface="Cambria" pitchFamily="34" charset="-120"/>
              </a:rPr>
              <a:t>BR7</a:t>
            </a:r>
            <a:endParaRPr lang="en-US" sz="2800" dirty="0"/>
          </a:p>
        </p:txBody>
      </p:sp>
      <p:sp>
        <p:nvSpPr>
          <p:cNvPr id="23" name="Text 21"/>
          <p:cNvSpPr txBox="1"/>
          <p:nvPr/>
        </p:nvSpPr>
        <p:spPr>
          <a:xfrm>
            <a:off x="6355080" y="4572000"/>
            <a:ext cx="2194560" cy="1097280"/>
          </a:xfrm>
          <a:prstGeom prst="rect">
            <a:avLst/>
          </a:prstGeom>
          <a:noFill/>
          <a:ln/>
        </p:spPr>
        <p:txBody>
          <a:bodyPr wrap="square" lIns="0" tIns="0" rIns="0" bIns="0" rtlCol="0" anchor="t"/>
          <a:lstStyle/>
          <a:p>
            <a:pPr indent="0" marL="0">
              <a:buNone/>
            </a:pPr>
            <a:r>
              <a:rPr lang="en-US" sz="1500" dirty="0">
                <a:solidFill>
                  <a:schemeClr val="tx1"/>
                </a:solidFill>
              </a:rPr>
              <a:t>Card and ID numbers are masked before storage and AI calls</a:t>
            </a:r>
            <a:endParaRPr lang="en-US" sz="1500" dirty="0"/>
          </a:p>
        </p:txBody>
      </p:sp>
      <p:sp>
        <p:nvSpPr>
          <p:cNvPr id="24" name="BR8 card"/>
          <p:cNvSpPr/>
          <p:nvPr/>
        </p:nvSpPr>
        <p:spPr>
          <a:xfrm>
            <a:off x="8915400" y="3703320"/>
            <a:ext cx="2606040" cy="2103120"/>
          </a:xfrm>
          <a:prstGeom prst="roundRect">
            <a:avLst>
              <a:gd name="adj" fmla="val 5217"/>
            </a:avLst>
          </a:prstGeom>
          <a:solidFill>
            <a:schemeClr val="bg2"/>
          </a:solidFill>
          <a:ln w="12700">
            <a:solidFill>
              <a:schemeClr val="bg2"/>
            </a:solidFill>
            <a:prstDash val="solid"/>
          </a:ln>
        </p:spPr>
      </p:sp>
      <p:sp>
        <p:nvSpPr>
          <p:cNvPr id="25" name="Text 23"/>
          <p:cNvSpPr txBox="1"/>
          <p:nvPr/>
        </p:nvSpPr>
        <p:spPr>
          <a:xfrm>
            <a:off x="9144000" y="3931920"/>
            <a:ext cx="2194560" cy="548640"/>
          </a:xfrm>
          <a:prstGeom prst="rect">
            <a:avLst/>
          </a:prstGeom>
          <a:noFill/>
          <a:ln/>
        </p:spPr>
        <p:txBody>
          <a:bodyPr wrap="square" lIns="0" tIns="0" rIns="0" bIns="0" rtlCol="0" anchor="t"/>
          <a:lstStyle/>
          <a:p>
            <a:pPr indent="0" marL="0">
              <a:buNone/>
            </a:pPr>
            <a:r>
              <a:rPr lang="en-US" sz="2800" b="1" dirty="0">
                <a:solidFill>
                  <a:schemeClr val="accent1"/>
                </a:solidFill>
                <a:latin typeface="Cambria" pitchFamily="34" charset="0"/>
                <a:ea typeface="Cambria" pitchFamily="34" charset="-122"/>
                <a:cs typeface="Cambria" pitchFamily="34" charset="-120"/>
              </a:rPr>
              <a:t>BR8</a:t>
            </a:r>
            <a:endParaRPr lang="en-US" sz="2800" dirty="0"/>
          </a:p>
        </p:txBody>
      </p:sp>
      <p:sp>
        <p:nvSpPr>
          <p:cNvPr id="26" name="Text 24"/>
          <p:cNvSpPr txBox="1"/>
          <p:nvPr/>
        </p:nvSpPr>
        <p:spPr>
          <a:xfrm>
            <a:off x="9144000" y="4572000"/>
            <a:ext cx="2194560" cy="1097280"/>
          </a:xfrm>
          <a:prstGeom prst="rect">
            <a:avLst/>
          </a:prstGeom>
          <a:noFill/>
          <a:ln/>
        </p:spPr>
        <p:txBody>
          <a:bodyPr wrap="square" lIns="0" tIns="0" rIns="0" bIns="0" rtlCol="0" anchor="t"/>
          <a:lstStyle/>
          <a:p>
            <a:pPr indent="0" marL="0">
              <a:buNone/>
            </a:pPr>
            <a:r>
              <a:rPr lang="en-US" sz="1500" dirty="0">
                <a:solidFill>
                  <a:schemeClr val="tx1"/>
                </a:solidFill>
              </a:rPr>
              <a:t>Only owners change policies; staff edit products</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A8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accent1"/>
                </a:solidFill>
                <a:latin typeface="Cambria" pitchFamily="34" charset="0"/>
                <a:ea typeface="Cambria" pitchFamily="34" charset="-122"/>
                <a:cs typeface="Cambria" pitchFamily="34" charset="-120"/>
              </a:rPr>
              <a:t>Interface mockups</a:t>
            </a:r>
            <a:endParaRPr lang="en-US" sz="3200" dirty="0"/>
          </a:p>
        </p:txBody>
      </p:sp>
      <p:pic>
        <p:nvPicPr>
          <p:cNvPr id="3" name="Customer chat mockup" descr="Customer chat mockup">    </p:cNvPr>
          <p:cNvPicPr>
            <a:picLocks noChangeAspect="1"/>
          </p:cNvPicPr>
          <p:nvPr/>
        </p:nvPicPr>
        <p:blipFill>
          <a:blip r:embed="rId1"/>
          <a:stretch>
            <a:fillRect/>
          </a:stretch>
        </p:blipFill>
        <p:spPr>
          <a:xfrm>
            <a:off x="574542" y="1325880"/>
            <a:ext cx="4520197" cy="4434840"/>
          </a:xfrm>
          <a:prstGeom prst="rect">
            <a:avLst/>
          </a:prstGeom>
        </p:spPr>
      </p:pic>
      <p:sp>
        <p:nvSpPr>
          <p:cNvPr id="4" name="Text 1"/>
          <p:cNvSpPr txBox="1"/>
          <p:nvPr/>
        </p:nvSpPr>
        <p:spPr>
          <a:xfrm>
            <a:off x="548640" y="5897880"/>
            <a:ext cx="4572000" cy="274320"/>
          </a:xfrm>
          <a:prstGeom prst="rect">
            <a:avLst/>
          </a:prstGeom>
          <a:noFill/>
          <a:ln/>
        </p:spPr>
        <p:txBody>
          <a:bodyPr wrap="square" lIns="0" tIns="0" rIns="0" bIns="0" rtlCol="0" anchor="t"/>
          <a:lstStyle/>
          <a:p>
            <a:pPr algn="ctr" indent="0" marL="0">
              <a:buNone/>
            </a:pPr>
            <a:r>
              <a:rPr lang="en-US" sz="1100" i="1" dirty="0">
                <a:solidFill>
                  <a:srgbClr val="5E6E66"/>
                </a:solidFill>
              </a:rPr>
              <a:t>Customer chat (fictional store): automated label, record source, Taglish reply, 'Staff' button</a:t>
            </a:r>
            <a:endParaRPr lang="en-US" sz="1100" dirty="0"/>
          </a:p>
        </p:txBody>
      </p:sp>
      <p:pic>
        <p:nvPicPr>
          <p:cNvPr id="5" name="Owner dashboard mockup" descr="Owner dashboard mockup">    </p:cNvPr>
          <p:cNvPicPr>
            <a:picLocks noChangeAspect="1"/>
          </p:cNvPicPr>
          <p:nvPr/>
        </p:nvPicPr>
        <p:blipFill>
          <a:blip r:embed="rId2"/>
          <a:stretch>
            <a:fillRect/>
          </a:stretch>
        </p:blipFill>
        <p:spPr>
          <a:xfrm>
            <a:off x="5394960" y="1463040"/>
            <a:ext cx="6217920" cy="3634267"/>
          </a:xfrm>
          <a:prstGeom prst="rect">
            <a:avLst/>
          </a:prstGeom>
        </p:spPr>
      </p:pic>
      <p:sp>
        <p:nvSpPr>
          <p:cNvPr id="6" name="Text 2"/>
          <p:cNvSpPr txBox="1"/>
          <p:nvPr/>
        </p:nvSpPr>
        <p:spPr>
          <a:xfrm>
            <a:off x="5394960" y="5897880"/>
            <a:ext cx="6217920" cy="274320"/>
          </a:xfrm>
          <a:prstGeom prst="rect">
            <a:avLst/>
          </a:prstGeom>
          <a:noFill/>
          <a:ln/>
        </p:spPr>
        <p:txBody>
          <a:bodyPr wrap="square" lIns="0" tIns="0" rIns="0" bIns="0" rtlCol="0" anchor="t"/>
          <a:lstStyle/>
          <a:p>
            <a:pPr algn="ctr" indent="0" marL="0">
              <a:buNone/>
            </a:pPr>
            <a:r>
              <a:rPr lang="en-US" sz="1100" i="1" dirty="0">
                <a:solidFill>
                  <a:srgbClr val="5E6E66"/>
                </a:solidFill>
              </a:rPr>
              <a:t>Owner dashboard: weekly counts, escalation queue, top questions, stale-stock reminder (sample values)</a:t>
            </a:r>
            <a:endParaRPr lang="en-US" sz="11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A8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accent1"/>
                </a:solidFill>
                <a:latin typeface="Cambria" pitchFamily="34" charset="0"/>
                <a:ea typeface="Cambria" pitchFamily="34" charset="-122"/>
                <a:cs typeface="Cambria" pitchFamily="34" charset="-120"/>
              </a:rPr>
              <a:t>Technical requirements and security</a:t>
            </a:r>
            <a:endParaRPr lang="en-US" sz="3200" dirty="0"/>
          </a:p>
        </p:txBody>
      </p:sp>
      <p:sp>
        <p:nvSpPr>
          <p:cNvPr id="3" name="Client icon circle"/>
          <p:cNvSpPr/>
          <p:nvPr/>
        </p:nvSpPr>
        <p:spPr>
          <a:xfrm>
            <a:off x="548640" y="1371600"/>
            <a:ext cx="594360" cy="594360"/>
          </a:xfrm>
          <a:prstGeom prst="ellipse">
            <a:avLst/>
          </a:prstGeom>
          <a:solidFill>
            <a:schemeClr val="accent3"/>
          </a:solidFill>
          <a:ln w="12700">
            <a:solidFill>
              <a:schemeClr val="accent3"/>
            </a:solidFill>
            <a:prstDash val="solid"/>
          </a:ln>
        </p:spPr>
      </p:sp>
      <p:pic>
        <p:nvPicPr>
          <p:cNvPr id="4" name="Client icon" descr="preencoded.png">    </p:cNvPr>
          <p:cNvPicPr>
            <a:picLocks noChangeAspect="1"/>
          </p:cNvPicPr>
          <p:nvPr/>
        </p:nvPicPr>
        <p:blipFill>
          <a:blip r:embed="rId1"/>
          <a:stretch>
            <a:fillRect/>
          </a:stretch>
        </p:blipFill>
        <p:spPr>
          <a:xfrm>
            <a:off x="691286" y="1514246"/>
            <a:ext cx="309067" cy="309067"/>
          </a:xfrm>
          <a:prstGeom prst="rect">
            <a:avLst/>
          </a:prstGeom>
        </p:spPr>
      </p:pic>
      <p:sp>
        <p:nvSpPr>
          <p:cNvPr id="5" name="Text 2"/>
          <p:cNvSpPr txBox="1"/>
          <p:nvPr/>
        </p:nvSpPr>
        <p:spPr>
          <a:xfrm>
            <a:off x="1325880" y="1389888"/>
            <a:ext cx="1737360" cy="548640"/>
          </a:xfrm>
          <a:prstGeom prst="rect">
            <a:avLst/>
          </a:prstGeom>
          <a:noFill/>
          <a:ln/>
        </p:spPr>
        <p:txBody>
          <a:bodyPr wrap="square" lIns="0" tIns="0" rIns="0" bIns="0" rtlCol="0" anchor="ctr"/>
          <a:lstStyle/>
          <a:p>
            <a:pPr indent="0" marL="0">
              <a:buNone/>
            </a:pPr>
            <a:r>
              <a:rPr lang="en-US" sz="1600" b="1" dirty="0">
                <a:solidFill>
                  <a:schemeClr val="accent1"/>
                </a:solidFill>
              </a:rPr>
              <a:t>Client</a:t>
            </a:r>
            <a:endParaRPr lang="en-US" sz="1600" dirty="0"/>
          </a:p>
        </p:txBody>
      </p:sp>
      <p:sp>
        <p:nvSpPr>
          <p:cNvPr id="6" name="Text 3"/>
          <p:cNvSpPr txBox="1"/>
          <p:nvPr/>
        </p:nvSpPr>
        <p:spPr>
          <a:xfrm>
            <a:off x="3017520" y="1389888"/>
            <a:ext cx="3200400" cy="548640"/>
          </a:xfrm>
          <a:prstGeom prst="rect">
            <a:avLst/>
          </a:prstGeom>
          <a:noFill/>
          <a:ln/>
        </p:spPr>
        <p:txBody>
          <a:bodyPr wrap="square" lIns="0" tIns="0" rIns="0" bIns="0" rtlCol="0" anchor="ctr"/>
          <a:lstStyle/>
          <a:p>
            <a:pPr indent="0" marL="0">
              <a:buNone/>
            </a:pPr>
            <a:r>
              <a:rPr lang="en-US" sz="1400" dirty="0">
                <a:solidFill>
                  <a:schemeClr val="tx1"/>
                </a:solidFill>
              </a:rPr>
              <a:t>Responsive web app on phone or desktop</a:t>
            </a:r>
            <a:endParaRPr lang="en-US" sz="1400" dirty="0"/>
          </a:p>
        </p:txBody>
      </p:sp>
      <p:sp>
        <p:nvSpPr>
          <p:cNvPr id="7" name="Application icon circle"/>
          <p:cNvSpPr/>
          <p:nvPr/>
        </p:nvSpPr>
        <p:spPr>
          <a:xfrm>
            <a:off x="548640" y="2286000"/>
            <a:ext cx="594360" cy="594360"/>
          </a:xfrm>
          <a:prstGeom prst="ellipse">
            <a:avLst/>
          </a:prstGeom>
          <a:solidFill>
            <a:schemeClr val="accent3"/>
          </a:solidFill>
          <a:ln w="12700">
            <a:solidFill>
              <a:schemeClr val="accent3"/>
            </a:solidFill>
            <a:prstDash val="solid"/>
          </a:ln>
        </p:spPr>
      </p:sp>
      <p:pic>
        <p:nvPicPr>
          <p:cNvPr id="8" name="Application icon" descr="preencoded.png">    </p:cNvPr>
          <p:cNvPicPr>
            <a:picLocks noChangeAspect="1"/>
          </p:cNvPicPr>
          <p:nvPr/>
        </p:nvPicPr>
        <p:blipFill>
          <a:blip r:embed="rId2"/>
          <a:stretch>
            <a:fillRect/>
          </a:stretch>
        </p:blipFill>
        <p:spPr>
          <a:xfrm>
            <a:off x="691286" y="2428646"/>
            <a:ext cx="309067" cy="309067"/>
          </a:xfrm>
          <a:prstGeom prst="rect">
            <a:avLst/>
          </a:prstGeom>
        </p:spPr>
      </p:pic>
      <p:sp>
        <p:nvSpPr>
          <p:cNvPr id="9" name="Text 5"/>
          <p:cNvSpPr txBox="1"/>
          <p:nvPr/>
        </p:nvSpPr>
        <p:spPr>
          <a:xfrm>
            <a:off x="1325880" y="2304288"/>
            <a:ext cx="1737360" cy="548640"/>
          </a:xfrm>
          <a:prstGeom prst="rect">
            <a:avLst/>
          </a:prstGeom>
          <a:noFill/>
          <a:ln/>
        </p:spPr>
        <p:txBody>
          <a:bodyPr wrap="square" lIns="0" tIns="0" rIns="0" bIns="0" rtlCol="0" anchor="ctr"/>
          <a:lstStyle/>
          <a:p>
            <a:pPr indent="0" marL="0">
              <a:buNone/>
            </a:pPr>
            <a:r>
              <a:rPr lang="en-US" sz="1600" b="1" dirty="0">
                <a:solidFill>
                  <a:schemeClr val="accent1"/>
                </a:solidFill>
              </a:rPr>
              <a:t>Application</a:t>
            </a:r>
            <a:endParaRPr lang="en-US" sz="1600" dirty="0"/>
          </a:p>
        </p:txBody>
      </p:sp>
      <p:sp>
        <p:nvSpPr>
          <p:cNvPr id="10" name="Text 6"/>
          <p:cNvSpPr txBox="1"/>
          <p:nvPr/>
        </p:nvSpPr>
        <p:spPr>
          <a:xfrm>
            <a:off x="3017520" y="2304288"/>
            <a:ext cx="3200400" cy="548640"/>
          </a:xfrm>
          <a:prstGeom prst="rect">
            <a:avLst/>
          </a:prstGeom>
          <a:noFill/>
          <a:ln/>
        </p:spPr>
        <p:txBody>
          <a:bodyPr wrap="square" lIns="0" tIns="0" rIns="0" bIns="0" rtlCol="0" anchor="ctr"/>
          <a:lstStyle/>
          <a:p>
            <a:pPr indent="0" marL="0">
              <a:buNone/>
            </a:pPr>
            <a:r>
              <a:rPr lang="en-US" sz="1400" dirty="0">
                <a:solidFill>
                  <a:schemeClr val="tx1"/>
                </a:solidFill>
              </a:rPr>
              <a:t>REST API (Node.js or Python), role-based access</a:t>
            </a:r>
            <a:endParaRPr lang="en-US" sz="1400" dirty="0"/>
          </a:p>
        </p:txBody>
      </p:sp>
      <p:sp>
        <p:nvSpPr>
          <p:cNvPr id="11" name="AI / NLP icon circle"/>
          <p:cNvSpPr/>
          <p:nvPr/>
        </p:nvSpPr>
        <p:spPr>
          <a:xfrm>
            <a:off x="548640" y="3200400"/>
            <a:ext cx="594360" cy="594360"/>
          </a:xfrm>
          <a:prstGeom prst="ellipse">
            <a:avLst/>
          </a:prstGeom>
          <a:solidFill>
            <a:schemeClr val="accent3"/>
          </a:solidFill>
          <a:ln w="12700">
            <a:solidFill>
              <a:schemeClr val="accent3"/>
            </a:solidFill>
            <a:prstDash val="solid"/>
          </a:ln>
        </p:spPr>
      </p:sp>
      <p:pic>
        <p:nvPicPr>
          <p:cNvPr id="12" name="AI / NLP icon" descr="preencoded.png">    </p:cNvPr>
          <p:cNvPicPr>
            <a:picLocks noChangeAspect="1"/>
          </p:cNvPicPr>
          <p:nvPr/>
        </p:nvPicPr>
        <p:blipFill>
          <a:blip r:embed="rId3"/>
          <a:stretch>
            <a:fillRect/>
          </a:stretch>
        </p:blipFill>
        <p:spPr>
          <a:xfrm>
            <a:off x="691286" y="3343046"/>
            <a:ext cx="309067" cy="309067"/>
          </a:xfrm>
          <a:prstGeom prst="rect">
            <a:avLst/>
          </a:prstGeom>
        </p:spPr>
      </p:pic>
      <p:sp>
        <p:nvSpPr>
          <p:cNvPr id="13" name="Text 8"/>
          <p:cNvSpPr txBox="1"/>
          <p:nvPr/>
        </p:nvSpPr>
        <p:spPr>
          <a:xfrm>
            <a:off x="1325880" y="3218688"/>
            <a:ext cx="1737360" cy="548640"/>
          </a:xfrm>
          <a:prstGeom prst="rect">
            <a:avLst/>
          </a:prstGeom>
          <a:noFill/>
          <a:ln/>
        </p:spPr>
        <p:txBody>
          <a:bodyPr wrap="square" lIns="0" tIns="0" rIns="0" bIns="0" rtlCol="0" anchor="ctr"/>
          <a:lstStyle/>
          <a:p>
            <a:pPr indent="0" marL="0">
              <a:buNone/>
            </a:pPr>
            <a:r>
              <a:rPr lang="en-US" sz="1600" b="1" dirty="0">
                <a:solidFill>
                  <a:schemeClr val="accent1"/>
                </a:solidFill>
              </a:rPr>
              <a:t>AI / NLP</a:t>
            </a:r>
            <a:endParaRPr lang="en-US" sz="1600" dirty="0"/>
          </a:p>
        </p:txBody>
      </p:sp>
      <p:sp>
        <p:nvSpPr>
          <p:cNvPr id="14" name="Text 9"/>
          <p:cNvSpPr txBox="1"/>
          <p:nvPr/>
        </p:nvSpPr>
        <p:spPr>
          <a:xfrm>
            <a:off x="3017520" y="3218688"/>
            <a:ext cx="3200400" cy="548640"/>
          </a:xfrm>
          <a:prstGeom prst="rect">
            <a:avLst/>
          </a:prstGeom>
          <a:noFill/>
          <a:ln/>
        </p:spPr>
        <p:txBody>
          <a:bodyPr wrap="square" lIns="0" tIns="0" rIns="0" bIns="0" rtlCol="0" anchor="ctr"/>
          <a:lstStyle/>
          <a:p>
            <a:pPr indent="0" marL="0">
              <a:buNone/>
            </a:pPr>
            <a:r>
              <a:rPr lang="en-US" sz="1400" dirty="0">
                <a:solidFill>
                  <a:schemeClr val="tx1"/>
                </a:solidFill>
              </a:rPr>
              <a:t>Hosted LLM API + embedding model for retrieval</a:t>
            </a:r>
            <a:endParaRPr lang="en-US" sz="1400" dirty="0"/>
          </a:p>
        </p:txBody>
      </p:sp>
      <p:sp>
        <p:nvSpPr>
          <p:cNvPr id="15" name="Data icon circle"/>
          <p:cNvSpPr/>
          <p:nvPr/>
        </p:nvSpPr>
        <p:spPr>
          <a:xfrm>
            <a:off x="548640" y="4114800"/>
            <a:ext cx="594360" cy="594360"/>
          </a:xfrm>
          <a:prstGeom prst="ellipse">
            <a:avLst/>
          </a:prstGeom>
          <a:solidFill>
            <a:schemeClr val="accent3"/>
          </a:solidFill>
          <a:ln w="12700">
            <a:solidFill>
              <a:schemeClr val="accent3"/>
            </a:solidFill>
            <a:prstDash val="solid"/>
          </a:ln>
        </p:spPr>
      </p:sp>
      <p:pic>
        <p:nvPicPr>
          <p:cNvPr id="16" name="Data icon" descr="preencoded.png">    </p:cNvPr>
          <p:cNvPicPr>
            <a:picLocks noChangeAspect="1"/>
          </p:cNvPicPr>
          <p:nvPr/>
        </p:nvPicPr>
        <p:blipFill>
          <a:blip r:embed="rId4"/>
          <a:stretch>
            <a:fillRect/>
          </a:stretch>
        </p:blipFill>
        <p:spPr>
          <a:xfrm>
            <a:off x="691286" y="4257446"/>
            <a:ext cx="309067" cy="309067"/>
          </a:xfrm>
          <a:prstGeom prst="rect">
            <a:avLst/>
          </a:prstGeom>
        </p:spPr>
      </p:pic>
      <p:sp>
        <p:nvSpPr>
          <p:cNvPr id="17" name="Text 11"/>
          <p:cNvSpPr txBox="1"/>
          <p:nvPr/>
        </p:nvSpPr>
        <p:spPr>
          <a:xfrm>
            <a:off x="1325880" y="4133088"/>
            <a:ext cx="1737360" cy="548640"/>
          </a:xfrm>
          <a:prstGeom prst="rect">
            <a:avLst/>
          </a:prstGeom>
          <a:noFill/>
          <a:ln/>
        </p:spPr>
        <p:txBody>
          <a:bodyPr wrap="square" lIns="0" tIns="0" rIns="0" bIns="0" rtlCol="0" anchor="ctr"/>
          <a:lstStyle/>
          <a:p>
            <a:pPr indent="0" marL="0">
              <a:buNone/>
            </a:pPr>
            <a:r>
              <a:rPr lang="en-US" sz="1600" b="1" dirty="0">
                <a:solidFill>
                  <a:schemeClr val="accent1"/>
                </a:solidFill>
              </a:rPr>
              <a:t>Data</a:t>
            </a:r>
            <a:endParaRPr lang="en-US" sz="1600" dirty="0"/>
          </a:p>
        </p:txBody>
      </p:sp>
      <p:sp>
        <p:nvSpPr>
          <p:cNvPr id="18" name="Text 12"/>
          <p:cNvSpPr txBox="1"/>
          <p:nvPr/>
        </p:nvSpPr>
        <p:spPr>
          <a:xfrm>
            <a:off x="3017520" y="4133088"/>
            <a:ext cx="3200400" cy="548640"/>
          </a:xfrm>
          <a:prstGeom prst="rect">
            <a:avLst/>
          </a:prstGeom>
          <a:noFill/>
          <a:ln/>
        </p:spPr>
        <p:txBody>
          <a:bodyPr wrap="square" lIns="0" tIns="0" rIns="0" bIns="0" rtlCol="0" anchor="ctr"/>
          <a:lstStyle/>
          <a:p>
            <a:pPr indent="0" marL="0">
              <a:buNone/>
            </a:pPr>
            <a:r>
              <a:rPr lang="en-US" sz="1400" dirty="0">
                <a:solidFill>
                  <a:schemeClr val="tx1"/>
                </a:solidFill>
              </a:rPr>
              <a:t>PostgreSQL with pgvector; daily encrypted backups</a:t>
            </a:r>
            <a:endParaRPr lang="en-US" sz="1400" dirty="0"/>
          </a:p>
        </p:txBody>
      </p:sp>
      <p:sp>
        <p:nvSpPr>
          <p:cNvPr id="19" name="Hosting icon circle"/>
          <p:cNvSpPr/>
          <p:nvPr/>
        </p:nvSpPr>
        <p:spPr>
          <a:xfrm>
            <a:off x="548640" y="5029200"/>
            <a:ext cx="594360" cy="594360"/>
          </a:xfrm>
          <a:prstGeom prst="ellipse">
            <a:avLst/>
          </a:prstGeom>
          <a:solidFill>
            <a:schemeClr val="accent3"/>
          </a:solidFill>
          <a:ln w="12700">
            <a:solidFill>
              <a:schemeClr val="accent3"/>
            </a:solidFill>
            <a:prstDash val="solid"/>
          </a:ln>
        </p:spPr>
      </p:sp>
      <p:pic>
        <p:nvPicPr>
          <p:cNvPr id="20" name="Hosting icon" descr="preencoded.png">    </p:cNvPr>
          <p:cNvPicPr>
            <a:picLocks noChangeAspect="1"/>
          </p:cNvPicPr>
          <p:nvPr/>
        </p:nvPicPr>
        <p:blipFill>
          <a:blip r:embed="rId5"/>
          <a:stretch>
            <a:fillRect/>
          </a:stretch>
        </p:blipFill>
        <p:spPr>
          <a:xfrm>
            <a:off x="691286" y="5171846"/>
            <a:ext cx="309067" cy="309067"/>
          </a:xfrm>
          <a:prstGeom prst="rect">
            <a:avLst/>
          </a:prstGeom>
        </p:spPr>
      </p:pic>
      <p:sp>
        <p:nvSpPr>
          <p:cNvPr id="21" name="Text 14"/>
          <p:cNvSpPr txBox="1"/>
          <p:nvPr/>
        </p:nvSpPr>
        <p:spPr>
          <a:xfrm>
            <a:off x="1325880" y="5047488"/>
            <a:ext cx="1737360" cy="548640"/>
          </a:xfrm>
          <a:prstGeom prst="rect">
            <a:avLst/>
          </a:prstGeom>
          <a:noFill/>
          <a:ln/>
        </p:spPr>
        <p:txBody>
          <a:bodyPr wrap="square" lIns="0" tIns="0" rIns="0" bIns="0" rtlCol="0" anchor="ctr"/>
          <a:lstStyle/>
          <a:p>
            <a:pPr indent="0" marL="0">
              <a:buNone/>
            </a:pPr>
            <a:r>
              <a:rPr lang="en-US" sz="1600" b="1" dirty="0">
                <a:solidFill>
                  <a:schemeClr val="accent1"/>
                </a:solidFill>
              </a:rPr>
              <a:t>Hosting</a:t>
            </a:r>
            <a:endParaRPr lang="en-US" sz="1600" dirty="0"/>
          </a:p>
        </p:txBody>
      </p:sp>
      <p:sp>
        <p:nvSpPr>
          <p:cNvPr id="22" name="Text 15"/>
          <p:cNvSpPr txBox="1"/>
          <p:nvPr/>
        </p:nvSpPr>
        <p:spPr>
          <a:xfrm>
            <a:off x="3017520" y="5047488"/>
            <a:ext cx="3200400" cy="548640"/>
          </a:xfrm>
          <a:prstGeom prst="rect">
            <a:avLst/>
          </a:prstGeom>
          <a:noFill/>
          <a:ln/>
        </p:spPr>
        <p:txBody>
          <a:bodyPr wrap="square" lIns="0" tIns="0" rIns="0" bIns="0" rtlCol="0" anchor="ctr"/>
          <a:lstStyle/>
          <a:p>
            <a:pPr indent="0" marL="0">
              <a:buNone/>
            </a:pPr>
            <a:r>
              <a:rPr lang="en-US" sz="1400" dirty="0">
                <a:solidFill>
                  <a:schemeClr val="tx1"/>
                </a:solidFill>
              </a:rPr>
              <a:t>Cloud VM, about 2 vCPU and 4 GB RAM for the pilot</a:t>
            </a:r>
            <a:endParaRPr lang="en-US" sz="1400" dirty="0"/>
          </a:p>
        </p:txBody>
      </p:sp>
      <p:sp>
        <p:nvSpPr>
          <p:cNvPr id="23" name="security card"/>
          <p:cNvSpPr/>
          <p:nvPr/>
        </p:nvSpPr>
        <p:spPr>
          <a:xfrm>
            <a:off x="6583680" y="1325880"/>
            <a:ext cx="5029200" cy="4663440"/>
          </a:xfrm>
          <a:prstGeom prst="roundRect">
            <a:avLst>
              <a:gd name="adj" fmla="val 2353"/>
            </a:avLst>
          </a:prstGeom>
          <a:solidFill>
            <a:schemeClr val="accent1"/>
          </a:solidFill>
          <a:ln w="12700">
            <a:solidFill>
              <a:schemeClr val="accent1"/>
            </a:solidFill>
            <a:prstDash val="solid"/>
          </a:ln>
        </p:spPr>
      </p:sp>
      <p:sp>
        <p:nvSpPr>
          <p:cNvPr id="24" name="security icon circle"/>
          <p:cNvSpPr/>
          <p:nvPr/>
        </p:nvSpPr>
        <p:spPr>
          <a:xfrm>
            <a:off x="6858000" y="1600200"/>
            <a:ext cx="640080" cy="640080"/>
          </a:xfrm>
          <a:prstGeom prst="ellipse">
            <a:avLst/>
          </a:prstGeom>
          <a:solidFill>
            <a:schemeClr val="accent4"/>
          </a:solidFill>
          <a:ln w="12700">
            <a:solidFill>
              <a:schemeClr val="accent4"/>
            </a:solidFill>
            <a:prstDash val="solid"/>
          </a:ln>
        </p:spPr>
      </p:sp>
      <p:pic>
        <p:nvPicPr>
          <p:cNvPr id="25" name="security icon" descr="preencoded.png">    </p:cNvPr>
          <p:cNvPicPr>
            <a:picLocks noChangeAspect="1"/>
          </p:cNvPicPr>
          <p:nvPr/>
        </p:nvPicPr>
        <p:blipFill>
          <a:blip r:embed="rId6"/>
          <a:stretch>
            <a:fillRect/>
          </a:stretch>
        </p:blipFill>
        <p:spPr>
          <a:xfrm>
            <a:off x="7011619" y="1753819"/>
            <a:ext cx="332842" cy="332842"/>
          </a:xfrm>
          <a:prstGeom prst="rect">
            <a:avLst/>
          </a:prstGeom>
        </p:spPr>
      </p:pic>
      <p:sp>
        <p:nvSpPr>
          <p:cNvPr id="26" name="Text 18"/>
          <p:cNvSpPr txBox="1"/>
          <p:nvPr/>
        </p:nvSpPr>
        <p:spPr>
          <a:xfrm>
            <a:off x="7635240" y="1645920"/>
            <a:ext cx="3840480" cy="548640"/>
          </a:xfrm>
          <a:prstGeom prst="rect">
            <a:avLst/>
          </a:prstGeom>
          <a:noFill/>
          <a:ln/>
        </p:spPr>
        <p:txBody>
          <a:bodyPr wrap="square" lIns="0" tIns="0" rIns="0" bIns="0" rtlCol="0" anchor="ctr"/>
          <a:lstStyle/>
          <a:p>
            <a:pPr indent="0" marL="0">
              <a:buNone/>
            </a:pPr>
            <a:r>
              <a:rPr lang="en-US" sz="2000" b="1" dirty="0">
                <a:solidFill>
                  <a:schemeClr val="bg1"/>
                </a:solidFill>
              </a:rPr>
              <a:t>Security and privacy</a:t>
            </a:r>
            <a:endParaRPr lang="en-US" sz="2000" dirty="0"/>
          </a:p>
        </p:txBody>
      </p:sp>
      <p:sp>
        <p:nvSpPr>
          <p:cNvPr id="27" name="Text 19"/>
          <p:cNvSpPr txBox="1"/>
          <p:nvPr/>
        </p:nvSpPr>
        <p:spPr>
          <a:xfrm>
            <a:off x="6903720" y="2423160"/>
            <a:ext cx="4526280" cy="338328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bg1"/>
                </a:solidFill>
              </a:rPr>
              <a:t>HTTPS, hashed passwords, optional 2FA for owners</a:t>
            </a:r>
            <a:endParaRPr lang="en-US" sz="1500" dirty="0"/>
          </a:p>
          <a:p>
            <a:pPr marL="342900" indent="-342900">
              <a:spcAft>
                <a:spcPts val="600"/>
              </a:spcAft>
              <a:buSzPct val="100000"/>
              <a:buChar char="•"/>
            </a:pPr>
            <a:r>
              <a:rPr lang="en-US" sz="1500" dirty="0">
                <a:solidFill>
                  <a:schemeClr val="bg1"/>
                </a:solidFill>
              </a:rPr>
              <a:t>Customer text treated as data, never as instructions</a:t>
            </a:r>
            <a:endParaRPr lang="en-US" sz="1500" dirty="0"/>
          </a:p>
          <a:p>
            <a:pPr marL="342900" indent="-342900">
              <a:spcAft>
                <a:spcPts val="600"/>
              </a:spcAft>
              <a:buSzPct val="100000"/>
              <a:buChar char="•"/>
            </a:pPr>
            <a:r>
              <a:rPr lang="en-US" sz="1500" dirty="0">
                <a:solidFill>
                  <a:schemeClr val="bg1"/>
                </a:solidFill>
              </a:rPr>
              <a:t>Replies checked against the record before sending</a:t>
            </a:r>
            <a:endParaRPr lang="en-US" sz="1500" dirty="0"/>
          </a:p>
          <a:p>
            <a:pPr marL="342900" indent="-342900">
              <a:spcAft>
                <a:spcPts val="600"/>
              </a:spcAft>
              <a:buSzPct val="100000"/>
              <a:buChar char="•"/>
            </a:pPr>
            <a:r>
              <a:rPr lang="en-US" sz="1500" dirty="0">
                <a:solidFill>
                  <a:schemeClr val="bg1"/>
                </a:solidFill>
              </a:rPr>
              <a:t>Sensitive numbers masked; chats kept 90 days</a:t>
            </a:r>
            <a:endParaRPr lang="en-US" sz="1500" dirty="0"/>
          </a:p>
          <a:p>
            <a:pPr marL="342900" indent="-342900">
              <a:spcAft>
                <a:spcPts val="600"/>
              </a:spcAft>
              <a:buSzPct val="100000"/>
              <a:buChar char="•"/>
            </a:pPr>
            <a:r>
              <a:rPr lang="en-US" sz="1500" dirty="0">
                <a:solidFill>
                  <a:schemeClr val="bg1"/>
                </a:solidFill>
              </a:rPr>
              <a:t>Chats never used to train models</a:t>
            </a:r>
            <a:endParaRPr lang="en-US" sz="1500" dirty="0"/>
          </a:p>
          <a:p>
            <a:pPr marL="342900" indent="-342900">
              <a:spcAft>
                <a:spcPts val="600"/>
              </a:spcAft>
              <a:buSzPct val="100000"/>
              <a:buChar char="•"/>
            </a:pPr>
            <a:r>
              <a:rPr lang="en-US" sz="1500" dirty="0">
                <a:solidFill>
                  <a:schemeClr val="bg1"/>
                </a:solidFill>
              </a:rPr>
              <a:t>Follows RA 10173 and NPC Advisory 2024-04</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A8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accent1"/>
                </a:solidFill>
                <a:latin typeface="Cambria" pitchFamily="34" charset="0"/>
                <a:ea typeface="Cambria" pitchFamily="34" charset="-122"/>
                <a:cs typeface="Cambria" pitchFamily="34" charset="-120"/>
              </a:rPr>
              <a:t>Business and sustainability model</a:t>
            </a:r>
            <a:endParaRPr lang="en-US" sz="3200" dirty="0"/>
          </a:p>
        </p:txBody>
      </p:sp>
      <p:sp>
        <p:nvSpPr>
          <p:cNvPr id="3" name="Free tier card"/>
          <p:cNvSpPr/>
          <p:nvPr/>
        </p:nvSpPr>
        <p:spPr>
          <a:xfrm>
            <a:off x="548640" y="1371600"/>
            <a:ext cx="2331720" cy="3657600"/>
          </a:xfrm>
          <a:prstGeom prst="roundRect">
            <a:avLst>
              <a:gd name="adj" fmla="val 4706"/>
            </a:avLst>
          </a:prstGeom>
          <a:solidFill>
            <a:schemeClr val="bg2"/>
          </a:solidFill>
          <a:ln w="12700">
            <a:solidFill>
              <a:schemeClr val="bg2"/>
            </a:solidFill>
            <a:prstDash val="solid"/>
          </a:ln>
        </p:spPr>
      </p:sp>
      <p:sp>
        <p:nvSpPr>
          <p:cNvPr id="4" name="Text 2"/>
          <p:cNvSpPr txBox="1"/>
          <p:nvPr/>
        </p:nvSpPr>
        <p:spPr>
          <a:xfrm>
            <a:off x="777240" y="1554480"/>
            <a:ext cx="1920240" cy="411480"/>
          </a:xfrm>
          <a:prstGeom prst="rect">
            <a:avLst/>
          </a:prstGeom>
          <a:noFill/>
          <a:ln/>
        </p:spPr>
        <p:txBody>
          <a:bodyPr wrap="square" lIns="0" tIns="0" rIns="0" bIns="0" rtlCol="0" anchor="t"/>
          <a:lstStyle/>
          <a:p>
            <a:pPr indent="0" marL="0">
              <a:buNone/>
            </a:pPr>
            <a:r>
              <a:rPr lang="en-US" sz="1800" b="1" dirty="0">
                <a:solidFill>
                  <a:schemeClr val="accent1"/>
                </a:solidFill>
              </a:rPr>
              <a:t>Free</a:t>
            </a:r>
            <a:endParaRPr lang="en-US" sz="1800" dirty="0"/>
          </a:p>
        </p:txBody>
      </p:sp>
      <p:sp>
        <p:nvSpPr>
          <p:cNvPr id="5" name="Text 3"/>
          <p:cNvSpPr txBox="1"/>
          <p:nvPr/>
        </p:nvSpPr>
        <p:spPr>
          <a:xfrm>
            <a:off x="777240" y="1965960"/>
            <a:ext cx="1920240" cy="73152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₱0</a:t>
            </a:r>
            <a:endParaRPr lang="en-US" sz="3400" dirty="0"/>
          </a:p>
        </p:txBody>
      </p:sp>
      <p:sp>
        <p:nvSpPr>
          <p:cNvPr id="6" name="Text 4"/>
          <p:cNvSpPr txBox="1"/>
          <p:nvPr/>
        </p:nvSpPr>
        <p:spPr>
          <a:xfrm>
            <a:off x="777240" y="2697480"/>
            <a:ext cx="1920240" cy="274320"/>
          </a:xfrm>
          <a:prstGeom prst="rect">
            <a:avLst/>
          </a:prstGeom>
          <a:noFill/>
          <a:ln/>
        </p:spPr>
        <p:txBody>
          <a:bodyPr wrap="square" lIns="0" tIns="0" rIns="0" bIns="0" rtlCol="0" anchor="t"/>
          <a:lstStyle/>
          <a:p>
            <a:pPr indent="0" marL="0">
              <a:buNone/>
            </a:pPr>
            <a:r>
              <a:rPr lang="en-US" sz="1100" dirty="0">
                <a:solidFill>
                  <a:srgbClr val="5E6E66"/>
                </a:solidFill>
              </a:rPr>
              <a:t>per month</a:t>
            </a:r>
            <a:endParaRPr lang="en-US" sz="1100" dirty="0"/>
          </a:p>
        </p:txBody>
      </p:sp>
      <p:sp>
        <p:nvSpPr>
          <p:cNvPr id="7" name="Text 5"/>
          <p:cNvSpPr txBox="1"/>
          <p:nvPr/>
        </p:nvSpPr>
        <p:spPr>
          <a:xfrm>
            <a:off x="731520" y="3108960"/>
            <a:ext cx="2011680" cy="182880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Up to 100 AI-answered chats a month</a:t>
            </a:r>
            <a:endParaRPr lang="en-US" sz="1400" dirty="0"/>
          </a:p>
          <a:p>
            <a:pPr marL="342900" indent="-342900">
              <a:spcAft>
                <a:spcPts val="400"/>
              </a:spcAft>
              <a:buSzPct val="100000"/>
              <a:buChar char="•"/>
            </a:pPr>
            <a:r>
              <a:rPr lang="en-US" sz="1400" dirty="0">
                <a:solidFill>
                  <a:schemeClr val="tx1"/>
                </a:solidFill>
              </a:rPr>
              <a:t>1 staff account</a:t>
            </a:r>
            <a:endParaRPr lang="en-US" sz="1400" dirty="0"/>
          </a:p>
          <a:p>
            <a:pPr marL="342900" indent="-342900">
              <a:spcAft>
                <a:spcPts val="400"/>
              </a:spcAft>
              <a:buSzPct val="100000"/>
              <a:buChar char="•"/>
            </a:pPr>
            <a:r>
              <a:rPr lang="en-US" sz="1400" dirty="0">
                <a:solidFill>
                  <a:schemeClr val="tx1"/>
                </a:solidFill>
              </a:rPr>
              <a:t>Try with no risk</a:t>
            </a:r>
            <a:endParaRPr lang="en-US" sz="1400" dirty="0"/>
          </a:p>
        </p:txBody>
      </p:sp>
      <p:sp>
        <p:nvSpPr>
          <p:cNvPr id="8" name="Starter tier card"/>
          <p:cNvSpPr/>
          <p:nvPr/>
        </p:nvSpPr>
        <p:spPr>
          <a:xfrm>
            <a:off x="3063240" y="1371600"/>
            <a:ext cx="2331720" cy="3657600"/>
          </a:xfrm>
          <a:prstGeom prst="roundRect">
            <a:avLst>
              <a:gd name="adj" fmla="val 4706"/>
            </a:avLst>
          </a:prstGeom>
          <a:solidFill>
            <a:schemeClr val="accent1"/>
          </a:solidFill>
          <a:ln w="12700">
            <a:solidFill>
              <a:schemeClr val="accent1"/>
            </a:solidFill>
            <a:prstDash val="solid"/>
          </a:ln>
        </p:spPr>
      </p:sp>
      <p:sp>
        <p:nvSpPr>
          <p:cNvPr id="9" name="Text 7"/>
          <p:cNvSpPr txBox="1"/>
          <p:nvPr/>
        </p:nvSpPr>
        <p:spPr>
          <a:xfrm>
            <a:off x="3291840" y="1554480"/>
            <a:ext cx="1920240" cy="411480"/>
          </a:xfrm>
          <a:prstGeom prst="rect">
            <a:avLst/>
          </a:prstGeom>
          <a:noFill/>
          <a:ln/>
        </p:spPr>
        <p:txBody>
          <a:bodyPr wrap="square" lIns="0" tIns="0" rIns="0" bIns="0" rtlCol="0" anchor="t"/>
          <a:lstStyle/>
          <a:p>
            <a:pPr indent="0" marL="0">
              <a:buNone/>
            </a:pPr>
            <a:r>
              <a:rPr lang="en-US" sz="1800" b="1" dirty="0">
                <a:solidFill>
                  <a:schemeClr val="bg1"/>
                </a:solidFill>
              </a:rPr>
              <a:t>Starter</a:t>
            </a:r>
            <a:endParaRPr lang="en-US" sz="1800" dirty="0"/>
          </a:p>
        </p:txBody>
      </p:sp>
      <p:sp>
        <p:nvSpPr>
          <p:cNvPr id="10" name="Text 8"/>
          <p:cNvSpPr txBox="1"/>
          <p:nvPr/>
        </p:nvSpPr>
        <p:spPr>
          <a:xfrm>
            <a:off x="3291840" y="1965960"/>
            <a:ext cx="1920240" cy="731520"/>
          </a:xfrm>
          <a:prstGeom prst="rect">
            <a:avLst/>
          </a:prstGeom>
          <a:noFill/>
          <a:ln/>
        </p:spPr>
        <p:txBody>
          <a:bodyPr wrap="square" lIns="0" tIns="0" rIns="0" bIns="0" rtlCol="0" anchor="t"/>
          <a:lstStyle/>
          <a:p>
            <a:pPr indent="0" marL="0">
              <a:buNone/>
            </a:pPr>
            <a:r>
              <a:rPr lang="en-US" sz="3400" b="1" dirty="0">
                <a:solidFill>
                  <a:srgbClr val="F2C9BE"/>
                </a:solidFill>
                <a:latin typeface="Cambria" pitchFamily="34" charset="0"/>
                <a:ea typeface="Cambria" pitchFamily="34" charset="-122"/>
                <a:cs typeface="Cambria" pitchFamily="34" charset="-120"/>
              </a:rPr>
              <a:t>₱499</a:t>
            </a:r>
            <a:endParaRPr lang="en-US" sz="3400" dirty="0"/>
          </a:p>
        </p:txBody>
      </p:sp>
      <p:sp>
        <p:nvSpPr>
          <p:cNvPr id="11" name="Text 9"/>
          <p:cNvSpPr txBox="1"/>
          <p:nvPr/>
        </p:nvSpPr>
        <p:spPr>
          <a:xfrm>
            <a:off x="3291840" y="2697480"/>
            <a:ext cx="1920240" cy="274320"/>
          </a:xfrm>
          <a:prstGeom prst="rect">
            <a:avLst/>
          </a:prstGeom>
          <a:noFill/>
          <a:ln/>
        </p:spPr>
        <p:txBody>
          <a:bodyPr wrap="square" lIns="0" tIns="0" rIns="0" bIns="0" rtlCol="0" anchor="t"/>
          <a:lstStyle/>
          <a:p>
            <a:pPr indent="0" marL="0">
              <a:buNone/>
            </a:pPr>
            <a:r>
              <a:rPr lang="en-US" sz="1100" dirty="0">
                <a:solidFill>
                  <a:srgbClr val="DDEBE3"/>
                </a:solidFill>
              </a:rPr>
              <a:t>per month</a:t>
            </a:r>
            <a:endParaRPr lang="en-US" sz="1100" dirty="0"/>
          </a:p>
        </p:txBody>
      </p:sp>
      <p:sp>
        <p:nvSpPr>
          <p:cNvPr id="12" name="Text 10"/>
          <p:cNvSpPr txBox="1"/>
          <p:nvPr/>
        </p:nvSpPr>
        <p:spPr>
          <a:xfrm>
            <a:off x="3246120" y="3108960"/>
            <a:ext cx="2011680" cy="182880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bg1"/>
                </a:solidFill>
              </a:rPr>
              <a:t>1,000 chats a month</a:t>
            </a:r>
            <a:endParaRPr lang="en-US" sz="1400" dirty="0"/>
          </a:p>
          <a:p>
            <a:pPr marL="342900" indent="-342900">
              <a:spcAft>
                <a:spcPts val="400"/>
              </a:spcAft>
              <a:buSzPct val="100000"/>
              <a:buChar char="•"/>
            </a:pPr>
            <a:r>
              <a:rPr lang="en-US" sz="1400" dirty="0">
                <a:solidFill>
                  <a:schemeClr val="bg1"/>
                </a:solidFill>
              </a:rPr>
              <a:t>2 staff accounts</a:t>
            </a:r>
            <a:endParaRPr lang="en-US" sz="1400" dirty="0"/>
          </a:p>
          <a:p>
            <a:pPr marL="342900" indent="-342900">
              <a:spcAft>
                <a:spcPts val="400"/>
              </a:spcAft>
              <a:buSzPct val="100000"/>
              <a:buChar char="•"/>
            </a:pPr>
            <a:r>
              <a:rPr lang="en-US" sz="1400" dirty="0">
                <a:solidFill>
                  <a:schemeClr val="bg1"/>
                </a:solidFill>
              </a:rPr>
              <a:t>Fits most micro sellers</a:t>
            </a:r>
            <a:endParaRPr lang="en-US" sz="1400" dirty="0"/>
          </a:p>
        </p:txBody>
      </p:sp>
      <p:sp>
        <p:nvSpPr>
          <p:cNvPr id="13" name="Growth tier card"/>
          <p:cNvSpPr/>
          <p:nvPr/>
        </p:nvSpPr>
        <p:spPr>
          <a:xfrm>
            <a:off x="5577840" y="1371600"/>
            <a:ext cx="2331720" cy="3657600"/>
          </a:xfrm>
          <a:prstGeom prst="roundRect">
            <a:avLst>
              <a:gd name="adj" fmla="val 4706"/>
            </a:avLst>
          </a:prstGeom>
          <a:solidFill>
            <a:schemeClr val="bg2"/>
          </a:solidFill>
          <a:ln w="12700">
            <a:solidFill>
              <a:schemeClr val="bg2"/>
            </a:solidFill>
            <a:prstDash val="solid"/>
          </a:ln>
        </p:spPr>
      </p:sp>
      <p:sp>
        <p:nvSpPr>
          <p:cNvPr id="14" name="Text 12"/>
          <p:cNvSpPr txBox="1"/>
          <p:nvPr/>
        </p:nvSpPr>
        <p:spPr>
          <a:xfrm>
            <a:off x="5806440" y="1554480"/>
            <a:ext cx="1920240" cy="411480"/>
          </a:xfrm>
          <a:prstGeom prst="rect">
            <a:avLst/>
          </a:prstGeom>
          <a:noFill/>
          <a:ln/>
        </p:spPr>
        <p:txBody>
          <a:bodyPr wrap="square" lIns="0" tIns="0" rIns="0" bIns="0" rtlCol="0" anchor="t"/>
          <a:lstStyle/>
          <a:p>
            <a:pPr indent="0" marL="0">
              <a:buNone/>
            </a:pPr>
            <a:r>
              <a:rPr lang="en-US" sz="1800" b="1" dirty="0">
                <a:solidFill>
                  <a:schemeClr val="accent1"/>
                </a:solidFill>
              </a:rPr>
              <a:t>Growth</a:t>
            </a:r>
            <a:endParaRPr lang="en-US" sz="1800" dirty="0"/>
          </a:p>
        </p:txBody>
      </p:sp>
      <p:sp>
        <p:nvSpPr>
          <p:cNvPr id="15" name="Text 13"/>
          <p:cNvSpPr txBox="1"/>
          <p:nvPr/>
        </p:nvSpPr>
        <p:spPr>
          <a:xfrm>
            <a:off x="5806440" y="1965960"/>
            <a:ext cx="1920240" cy="73152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₱1,299</a:t>
            </a:r>
            <a:endParaRPr lang="en-US" sz="3400" dirty="0"/>
          </a:p>
        </p:txBody>
      </p:sp>
      <p:sp>
        <p:nvSpPr>
          <p:cNvPr id="16" name="Text 14"/>
          <p:cNvSpPr txBox="1"/>
          <p:nvPr/>
        </p:nvSpPr>
        <p:spPr>
          <a:xfrm>
            <a:off x="5806440" y="2697480"/>
            <a:ext cx="1920240" cy="274320"/>
          </a:xfrm>
          <a:prstGeom prst="rect">
            <a:avLst/>
          </a:prstGeom>
          <a:noFill/>
          <a:ln/>
        </p:spPr>
        <p:txBody>
          <a:bodyPr wrap="square" lIns="0" tIns="0" rIns="0" bIns="0" rtlCol="0" anchor="t"/>
          <a:lstStyle/>
          <a:p>
            <a:pPr indent="0" marL="0">
              <a:buNone/>
            </a:pPr>
            <a:r>
              <a:rPr lang="en-US" sz="1100" dirty="0">
                <a:solidFill>
                  <a:srgbClr val="5E6E66"/>
                </a:solidFill>
              </a:rPr>
              <a:t>per month</a:t>
            </a:r>
            <a:endParaRPr lang="en-US" sz="1100" dirty="0"/>
          </a:p>
        </p:txBody>
      </p:sp>
      <p:sp>
        <p:nvSpPr>
          <p:cNvPr id="17" name="Text 15"/>
          <p:cNvSpPr txBox="1"/>
          <p:nvPr/>
        </p:nvSpPr>
        <p:spPr>
          <a:xfrm>
            <a:off x="5760720" y="3108960"/>
            <a:ext cx="2011680" cy="182880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3,000 chats a month</a:t>
            </a:r>
            <a:endParaRPr lang="en-US" sz="1400" dirty="0"/>
          </a:p>
          <a:p>
            <a:pPr marL="342900" indent="-342900">
              <a:spcAft>
                <a:spcPts val="400"/>
              </a:spcAft>
              <a:buSzPct val="100000"/>
              <a:buChar char="•"/>
            </a:pPr>
            <a:r>
              <a:rPr lang="en-US" sz="1400" dirty="0">
                <a:solidFill>
                  <a:schemeClr val="tx1"/>
                </a:solidFill>
              </a:rPr>
              <a:t>5 staff accounts, reports</a:t>
            </a:r>
            <a:endParaRPr lang="en-US" sz="1400" dirty="0"/>
          </a:p>
          <a:p>
            <a:pPr marL="342900" indent="-342900">
              <a:spcAft>
                <a:spcPts val="400"/>
              </a:spcAft>
              <a:buSzPct val="100000"/>
              <a:buChar char="•"/>
            </a:pPr>
            <a:r>
              <a:rPr lang="en-US" sz="1400" dirty="0">
                <a:solidFill>
                  <a:schemeClr val="tx1"/>
                </a:solidFill>
              </a:rPr>
              <a:t>Messenger integration (future)</a:t>
            </a:r>
            <a:endParaRPr lang="en-US" sz="1400" dirty="0"/>
          </a:p>
        </p:txBody>
      </p:sp>
      <p:sp>
        <p:nvSpPr>
          <p:cNvPr id="18" name="Text 16"/>
          <p:cNvSpPr txBox="1"/>
          <p:nvPr/>
        </p:nvSpPr>
        <p:spPr>
          <a:xfrm>
            <a:off x="548640" y="5166360"/>
            <a:ext cx="7315200" cy="365760"/>
          </a:xfrm>
          <a:prstGeom prst="rect">
            <a:avLst/>
          </a:prstGeom>
          <a:noFill/>
          <a:ln/>
        </p:spPr>
        <p:txBody>
          <a:bodyPr wrap="square" lIns="0" tIns="0" rIns="0" bIns="0" rtlCol="0" anchor="t"/>
          <a:lstStyle/>
          <a:p>
            <a:pPr indent="0" marL="0">
              <a:buNone/>
            </a:pPr>
            <a:r>
              <a:rPr lang="en-US" sz="1200" i="1" dirty="0">
                <a:solidFill>
                  <a:srgbClr val="5E6E66"/>
                </a:solidFill>
              </a:rPr>
              <a:t>Planning figures; to be tested in the seller survey. Optional ₱1,500 one-time setup help.</a:t>
            </a:r>
            <a:endParaRPr lang="en-US" sz="1200" dirty="0"/>
          </a:p>
        </p:txBody>
      </p:sp>
      <p:sp>
        <p:nvSpPr>
          <p:cNvPr id="19" name="Model icon circle"/>
          <p:cNvSpPr/>
          <p:nvPr/>
        </p:nvSpPr>
        <p:spPr>
          <a:xfrm>
            <a:off x="8275320" y="1371600"/>
            <a:ext cx="548640" cy="548640"/>
          </a:xfrm>
          <a:prstGeom prst="ellipse">
            <a:avLst/>
          </a:prstGeom>
          <a:solidFill>
            <a:schemeClr val="accent2"/>
          </a:solidFill>
          <a:ln w="12700">
            <a:solidFill>
              <a:schemeClr val="accent2"/>
            </a:solidFill>
            <a:prstDash val="solid"/>
          </a:ln>
        </p:spPr>
      </p:sp>
      <p:pic>
        <p:nvPicPr>
          <p:cNvPr id="20" name="Model icon" descr="preencoded.png">    </p:cNvPr>
          <p:cNvPicPr>
            <a:picLocks noChangeAspect="1"/>
          </p:cNvPicPr>
          <p:nvPr/>
        </p:nvPicPr>
        <p:blipFill>
          <a:blip r:embed="rId1"/>
          <a:stretch>
            <a:fillRect/>
          </a:stretch>
        </p:blipFill>
        <p:spPr>
          <a:xfrm>
            <a:off x="8406994" y="1503274"/>
            <a:ext cx="285293" cy="285293"/>
          </a:xfrm>
          <a:prstGeom prst="rect">
            <a:avLst/>
          </a:prstGeom>
        </p:spPr>
      </p:pic>
      <p:sp>
        <p:nvSpPr>
          <p:cNvPr id="21" name="Text 18"/>
          <p:cNvSpPr txBox="1"/>
          <p:nvPr/>
        </p:nvSpPr>
        <p:spPr>
          <a:xfrm>
            <a:off x="8961120" y="1371600"/>
            <a:ext cx="2651760" cy="365760"/>
          </a:xfrm>
          <a:prstGeom prst="rect">
            <a:avLst/>
          </a:prstGeom>
          <a:noFill/>
          <a:ln/>
        </p:spPr>
        <p:txBody>
          <a:bodyPr wrap="square" lIns="0" tIns="0" rIns="0" bIns="0" rtlCol="0" anchor="t"/>
          <a:lstStyle/>
          <a:p>
            <a:pPr indent="0" marL="0">
              <a:buNone/>
            </a:pPr>
            <a:r>
              <a:rPr lang="en-US" sz="1600" b="1" dirty="0">
                <a:solidFill>
                  <a:schemeClr val="accent1"/>
                </a:solidFill>
              </a:rPr>
              <a:t>Model</a:t>
            </a:r>
            <a:endParaRPr lang="en-US" sz="1600" dirty="0"/>
          </a:p>
        </p:txBody>
      </p:sp>
      <p:sp>
        <p:nvSpPr>
          <p:cNvPr id="22" name="Text 19"/>
          <p:cNvSpPr txBox="1"/>
          <p:nvPr/>
        </p:nvSpPr>
        <p:spPr>
          <a:xfrm>
            <a:off x="8961120" y="1755648"/>
            <a:ext cx="2651760" cy="822960"/>
          </a:xfrm>
          <a:prstGeom prst="rect">
            <a:avLst/>
          </a:prstGeom>
          <a:noFill/>
          <a:ln/>
        </p:spPr>
        <p:txBody>
          <a:bodyPr wrap="square" lIns="0" tIns="0" rIns="0" bIns="0" rtlCol="0" anchor="t"/>
          <a:lstStyle/>
          <a:p>
            <a:pPr indent="0" marL="0">
              <a:buNone/>
            </a:pPr>
            <a:r>
              <a:rPr lang="en-US" sz="1300" dirty="0">
                <a:solidFill>
                  <a:schemeClr val="tx1"/>
                </a:solidFill>
              </a:rPr>
              <a:t>B2B software-as-a-service; the seller pays, not the buyer</a:t>
            </a:r>
            <a:endParaRPr lang="en-US" sz="1300" dirty="0"/>
          </a:p>
        </p:txBody>
      </p:sp>
      <p:sp>
        <p:nvSpPr>
          <p:cNvPr id="23" name="Channels icon circle"/>
          <p:cNvSpPr/>
          <p:nvPr/>
        </p:nvSpPr>
        <p:spPr>
          <a:xfrm>
            <a:off x="8275320" y="2651760"/>
            <a:ext cx="548640" cy="548640"/>
          </a:xfrm>
          <a:prstGeom prst="ellipse">
            <a:avLst/>
          </a:prstGeom>
          <a:solidFill>
            <a:schemeClr val="accent2"/>
          </a:solidFill>
          <a:ln w="12700">
            <a:solidFill>
              <a:schemeClr val="accent2"/>
            </a:solidFill>
            <a:prstDash val="solid"/>
          </a:ln>
        </p:spPr>
      </p:sp>
      <p:pic>
        <p:nvPicPr>
          <p:cNvPr id="24" name="Channels icon" descr="preencoded.png">    </p:cNvPr>
          <p:cNvPicPr>
            <a:picLocks noChangeAspect="1"/>
          </p:cNvPicPr>
          <p:nvPr/>
        </p:nvPicPr>
        <p:blipFill>
          <a:blip r:embed="rId2"/>
          <a:stretch>
            <a:fillRect/>
          </a:stretch>
        </p:blipFill>
        <p:spPr>
          <a:xfrm>
            <a:off x="8406994" y="2783434"/>
            <a:ext cx="285293" cy="285293"/>
          </a:xfrm>
          <a:prstGeom prst="rect">
            <a:avLst/>
          </a:prstGeom>
        </p:spPr>
      </p:pic>
      <p:sp>
        <p:nvSpPr>
          <p:cNvPr id="25" name="Text 21"/>
          <p:cNvSpPr txBox="1"/>
          <p:nvPr/>
        </p:nvSpPr>
        <p:spPr>
          <a:xfrm>
            <a:off x="8961120" y="2651760"/>
            <a:ext cx="2651760" cy="365760"/>
          </a:xfrm>
          <a:prstGeom prst="rect">
            <a:avLst/>
          </a:prstGeom>
          <a:noFill/>
          <a:ln/>
        </p:spPr>
        <p:txBody>
          <a:bodyPr wrap="square" lIns="0" tIns="0" rIns="0" bIns="0" rtlCol="0" anchor="t"/>
          <a:lstStyle/>
          <a:p>
            <a:pPr indent="0" marL="0">
              <a:buNone/>
            </a:pPr>
            <a:r>
              <a:rPr lang="en-US" sz="1600" b="1" dirty="0">
                <a:solidFill>
                  <a:schemeClr val="accent1"/>
                </a:solidFill>
              </a:rPr>
              <a:t>Channels</a:t>
            </a:r>
            <a:endParaRPr lang="en-US" sz="1600" dirty="0"/>
          </a:p>
        </p:txBody>
      </p:sp>
      <p:sp>
        <p:nvSpPr>
          <p:cNvPr id="26" name="Text 22"/>
          <p:cNvSpPr txBox="1"/>
          <p:nvPr/>
        </p:nvSpPr>
        <p:spPr>
          <a:xfrm>
            <a:off x="8961120" y="3035808"/>
            <a:ext cx="2651760" cy="822960"/>
          </a:xfrm>
          <a:prstGeom prst="rect">
            <a:avLst/>
          </a:prstGeom>
          <a:noFill/>
          <a:ln/>
        </p:spPr>
        <p:txBody>
          <a:bodyPr wrap="square" lIns="0" tIns="0" rIns="0" bIns="0" rtlCol="0" anchor="t"/>
          <a:lstStyle/>
          <a:p>
            <a:pPr indent="0" marL="0">
              <a:buNone/>
            </a:pPr>
            <a:r>
              <a:rPr lang="en-US" sz="1300" dirty="0">
                <a:solidFill>
                  <a:schemeClr val="tx1"/>
                </a:solidFill>
              </a:rPr>
              <a:t>DTI Negosyo Centers, DICT training cohorts, local seller groups</a:t>
            </a:r>
            <a:endParaRPr lang="en-US" sz="1300" dirty="0"/>
          </a:p>
        </p:txBody>
      </p:sp>
      <p:sp>
        <p:nvSpPr>
          <p:cNvPr id="27" name="Cost control icon circle"/>
          <p:cNvSpPr/>
          <p:nvPr/>
        </p:nvSpPr>
        <p:spPr>
          <a:xfrm>
            <a:off x="8275320" y="3931920"/>
            <a:ext cx="548640" cy="548640"/>
          </a:xfrm>
          <a:prstGeom prst="ellipse">
            <a:avLst/>
          </a:prstGeom>
          <a:solidFill>
            <a:schemeClr val="accent2"/>
          </a:solidFill>
          <a:ln w="12700">
            <a:solidFill>
              <a:schemeClr val="accent2"/>
            </a:solidFill>
            <a:prstDash val="solid"/>
          </a:ln>
        </p:spPr>
      </p:sp>
      <p:pic>
        <p:nvPicPr>
          <p:cNvPr id="28" name="Cost control icon" descr="preencoded.png">    </p:cNvPr>
          <p:cNvPicPr>
            <a:picLocks noChangeAspect="1"/>
          </p:cNvPicPr>
          <p:nvPr/>
        </p:nvPicPr>
        <p:blipFill>
          <a:blip r:embed="rId3"/>
          <a:stretch>
            <a:fillRect/>
          </a:stretch>
        </p:blipFill>
        <p:spPr>
          <a:xfrm>
            <a:off x="8406994" y="4063594"/>
            <a:ext cx="285293" cy="285293"/>
          </a:xfrm>
          <a:prstGeom prst="rect">
            <a:avLst/>
          </a:prstGeom>
        </p:spPr>
      </p:pic>
      <p:sp>
        <p:nvSpPr>
          <p:cNvPr id="29" name="Text 24"/>
          <p:cNvSpPr txBox="1"/>
          <p:nvPr/>
        </p:nvSpPr>
        <p:spPr>
          <a:xfrm>
            <a:off x="8961120" y="3931920"/>
            <a:ext cx="2651760" cy="365760"/>
          </a:xfrm>
          <a:prstGeom prst="rect">
            <a:avLst/>
          </a:prstGeom>
          <a:noFill/>
          <a:ln/>
        </p:spPr>
        <p:txBody>
          <a:bodyPr wrap="square" lIns="0" tIns="0" rIns="0" bIns="0" rtlCol="0" anchor="t"/>
          <a:lstStyle/>
          <a:p>
            <a:pPr indent="0" marL="0">
              <a:buNone/>
            </a:pPr>
            <a:r>
              <a:rPr lang="en-US" sz="1600" b="1" dirty="0">
                <a:solidFill>
                  <a:schemeClr val="accent1"/>
                </a:solidFill>
              </a:rPr>
              <a:t>Cost control</a:t>
            </a:r>
            <a:endParaRPr lang="en-US" sz="1600" dirty="0"/>
          </a:p>
        </p:txBody>
      </p:sp>
      <p:sp>
        <p:nvSpPr>
          <p:cNvPr id="30" name="Text 25"/>
          <p:cNvSpPr txBox="1"/>
          <p:nvPr/>
        </p:nvSpPr>
        <p:spPr>
          <a:xfrm>
            <a:off x="8961120" y="4315968"/>
            <a:ext cx="2651760" cy="822960"/>
          </a:xfrm>
          <a:prstGeom prst="rect">
            <a:avLst/>
          </a:prstGeom>
          <a:noFill/>
          <a:ln/>
        </p:spPr>
        <p:txBody>
          <a:bodyPr wrap="square" lIns="0" tIns="0" rIns="0" bIns="0" rtlCol="0" anchor="t"/>
          <a:lstStyle/>
          <a:p>
            <a:pPr indent="0" marL="0">
              <a:buNone/>
            </a:pPr>
            <a:r>
              <a:rPr lang="en-US" sz="1300" dirty="0">
                <a:solidFill>
                  <a:schemeClr val="tx1"/>
                </a:solidFill>
              </a:rPr>
              <a:t>Exact FAQ matches skip the AI; usage caps per tier</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A8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accent1"/>
                </a:solidFill>
                <a:latin typeface="Cambria" pitchFamily="34" charset="0"/>
                <a:ea typeface="Cambria" pitchFamily="34" charset="-122"/>
                <a:cs typeface="Cambria" pitchFamily="34" charset="-120"/>
              </a:rPr>
              <a:t>How the prototype will be judged</a:t>
            </a:r>
            <a:endParaRPr lang="en-US" sz="3200" dirty="0"/>
          </a:p>
        </p:txBody>
      </p:sp>
      <p:sp>
        <p:nvSpPr>
          <p:cNvPr id="3" name="target card 1"/>
          <p:cNvSpPr/>
          <p:nvPr/>
        </p:nvSpPr>
        <p:spPr>
          <a:xfrm>
            <a:off x="548640" y="1371600"/>
            <a:ext cx="3520440" cy="1965960"/>
          </a:xfrm>
          <a:prstGeom prst="roundRect">
            <a:avLst>
              <a:gd name="adj" fmla="val 5581"/>
            </a:avLst>
          </a:prstGeom>
          <a:solidFill>
            <a:schemeClr val="bg2"/>
          </a:solidFill>
          <a:ln w="12700">
            <a:solidFill>
              <a:schemeClr val="bg2"/>
            </a:solidFill>
            <a:prstDash val="solid"/>
          </a:ln>
        </p:spPr>
      </p:sp>
      <p:sp>
        <p:nvSpPr>
          <p:cNvPr id="4" name="Text 2"/>
          <p:cNvSpPr txBox="1"/>
          <p:nvPr/>
        </p:nvSpPr>
        <p:spPr>
          <a:xfrm>
            <a:off x="822960" y="1554480"/>
            <a:ext cx="3017520" cy="77724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 90%</a:t>
            </a:r>
            <a:endParaRPr lang="en-US" sz="4000" dirty="0"/>
          </a:p>
        </p:txBody>
      </p:sp>
      <p:sp>
        <p:nvSpPr>
          <p:cNvPr id="5" name="Text 3"/>
          <p:cNvSpPr txBox="1"/>
          <p:nvPr/>
        </p:nvSpPr>
        <p:spPr>
          <a:xfrm>
            <a:off x="822960" y="2331720"/>
            <a:ext cx="3017520" cy="365760"/>
          </a:xfrm>
          <a:prstGeom prst="rect">
            <a:avLst/>
          </a:prstGeom>
          <a:noFill/>
          <a:ln/>
        </p:spPr>
        <p:txBody>
          <a:bodyPr wrap="square" lIns="0" tIns="0" rIns="0" bIns="0" rtlCol="0" anchor="t"/>
          <a:lstStyle/>
          <a:p>
            <a:pPr indent="0" marL="0">
              <a:buNone/>
            </a:pPr>
            <a:r>
              <a:rPr lang="en-US" sz="1600" b="1" dirty="0">
                <a:solidFill>
                  <a:schemeClr val="tx1"/>
                </a:solidFill>
              </a:rPr>
              <a:t>Response accuracy</a:t>
            </a:r>
            <a:endParaRPr lang="en-US" sz="1600" dirty="0"/>
          </a:p>
        </p:txBody>
      </p:sp>
      <p:sp>
        <p:nvSpPr>
          <p:cNvPr id="6" name="Text 4"/>
          <p:cNvSpPr txBox="1"/>
          <p:nvPr/>
        </p:nvSpPr>
        <p:spPr>
          <a:xfrm>
            <a:off x="822960" y="2697480"/>
            <a:ext cx="3017520" cy="548640"/>
          </a:xfrm>
          <a:prstGeom prst="rect">
            <a:avLst/>
          </a:prstGeom>
          <a:noFill/>
          <a:ln/>
        </p:spPr>
        <p:txBody>
          <a:bodyPr wrap="square" lIns="0" tIns="0" rIns="0" bIns="0" rtlCol="0" anchor="t"/>
          <a:lstStyle/>
          <a:p>
            <a:pPr indent="0" marL="0">
              <a:buNone/>
            </a:pPr>
            <a:r>
              <a:rPr lang="en-US" sz="1300" dirty="0">
                <a:solidFill>
                  <a:srgbClr val="4A5A52"/>
                </a:solidFill>
              </a:rPr>
              <a:t>Correct, supported answers on the test set</a:t>
            </a:r>
            <a:endParaRPr lang="en-US" sz="1300" dirty="0"/>
          </a:p>
        </p:txBody>
      </p:sp>
      <p:sp>
        <p:nvSpPr>
          <p:cNvPr id="7" name="target card 2"/>
          <p:cNvSpPr/>
          <p:nvPr/>
        </p:nvSpPr>
        <p:spPr>
          <a:xfrm>
            <a:off x="4297680" y="1371600"/>
            <a:ext cx="3520440" cy="1965960"/>
          </a:xfrm>
          <a:prstGeom prst="roundRect">
            <a:avLst>
              <a:gd name="adj" fmla="val 5581"/>
            </a:avLst>
          </a:prstGeom>
          <a:solidFill>
            <a:schemeClr val="bg2"/>
          </a:solidFill>
          <a:ln w="12700">
            <a:solidFill>
              <a:schemeClr val="bg2"/>
            </a:solidFill>
            <a:prstDash val="solid"/>
          </a:ln>
        </p:spPr>
      </p:sp>
      <p:sp>
        <p:nvSpPr>
          <p:cNvPr id="8" name="Text 6"/>
          <p:cNvSpPr txBox="1"/>
          <p:nvPr/>
        </p:nvSpPr>
        <p:spPr>
          <a:xfrm>
            <a:off x="4572000" y="1554480"/>
            <a:ext cx="3017520" cy="77724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 5 s</a:t>
            </a:r>
            <a:endParaRPr lang="en-US" sz="4000" dirty="0"/>
          </a:p>
        </p:txBody>
      </p:sp>
      <p:sp>
        <p:nvSpPr>
          <p:cNvPr id="9" name="Text 7"/>
          <p:cNvSpPr txBox="1"/>
          <p:nvPr/>
        </p:nvSpPr>
        <p:spPr>
          <a:xfrm>
            <a:off x="4572000" y="2331720"/>
            <a:ext cx="3017520" cy="365760"/>
          </a:xfrm>
          <a:prstGeom prst="rect">
            <a:avLst/>
          </a:prstGeom>
          <a:noFill/>
          <a:ln/>
        </p:spPr>
        <p:txBody>
          <a:bodyPr wrap="square" lIns="0" tIns="0" rIns="0" bIns="0" rtlCol="0" anchor="t"/>
          <a:lstStyle/>
          <a:p>
            <a:pPr indent="0" marL="0">
              <a:buNone/>
            </a:pPr>
            <a:r>
              <a:rPr lang="en-US" sz="1600" b="1" dirty="0">
                <a:solidFill>
                  <a:schemeClr val="tx1"/>
                </a:solidFill>
              </a:rPr>
              <a:t>Response time</a:t>
            </a:r>
            <a:endParaRPr lang="en-US" sz="1600" dirty="0"/>
          </a:p>
        </p:txBody>
      </p:sp>
      <p:sp>
        <p:nvSpPr>
          <p:cNvPr id="10" name="Text 8"/>
          <p:cNvSpPr txBox="1"/>
          <p:nvPr/>
        </p:nvSpPr>
        <p:spPr>
          <a:xfrm>
            <a:off x="4572000" y="2697480"/>
            <a:ext cx="3017520" cy="548640"/>
          </a:xfrm>
          <a:prstGeom prst="rect">
            <a:avLst/>
          </a:prstGeom>
          <a:noFill/>
          <a:ln/>
        </p:spPr>
        <p:txBody>
          <a:bodyPr wrap="square" lIns="0" tIns="0" rIns="0" bIns="0" rtlCol="0" anchor="t"/>
          <a:lstStyle/>
          <a:p>
            <a:pPr indent="0" marL="0">
              <a:buNone/>
            </a:pPr>
            <a:r>
              <a:rPr lang="en-US" sz="1300" dirty="0">
                <a:solidFill>
                  <a:srgbClr val="4A5A52"/>
                </a:solidFill>
              </a:rPr>
              <a:t>Median time from message to reply</a:t>
            </a:r>
            <a:endParaRPr lang="en-US" sz="1300" dirty="0"/>
          </a:p>
        </p:txBody>
      </p:sp>
      <p:sp>
        <p:nvSpPr>
          <p:cNvPr id="11" name="target card 3"/>
          <p:cNvSpPr/>
          <p:nvPr/>
        </p:nvSpPr>
        <p:spPr>
          <a:xfrm>
            <a:off x="8046720" y="1371600"/>
            <a:ext cx="3520440" cy="1965960"/>
          </a:xfrm>
          <a:prstGeom prst="roundRect">
            <a:avLst>
              <a:gd name="adj" fmla="val 5581"/>
            </a:avLst>
          </a:prstGeom>
          <a:solidFill>
            <a:schemeClr val="bg2"/>
          </a:solidFill>
          <a:ln w="12700">
            <a:solidFill>
              <a:schemeClr val="bg2"/>
            </a:solidFill>
            <a:prstDash val="solid"/>
          </a:ln>
        </p:spPr>
      </p:sp>
      <p:sp>
        <p:nvSpPr>
          <p:cNvPr id="12" name="Text 10"/>
          <p:cNvSpPr txBox="1"/>
          <p:nvPr/>
        </p:nvSpPr>
        <p:spPr>
          <a:xfrm>
            <a:off x="8321040" y="1554480"/>
            <a:ext cx="3017520" cy="77724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 70</a:t>
            </a:r>
            <a:endParaRPr lang="en-US" sz="4000" dirty="0"/>
          </a:p>
        </p:txBody>
      </p:sp>
      <p:sp>
        <p:nvSpPr>
          <p:cNvPr id="13" name="Text 11"/>
          <p:cNvSpPr txBox="1"/>
          <p:nvPr/>
        </p:nvSpPr>
        <p:spPr>
          <a:xfrm>
            <a:off x="8321040" y="2331720"/>
            <a:ext cx="3017520" cy="365760"/>
          </a:xfrm>
          <a:prstGeom prst="rect">
            <a:avLst/>
          </a:prstGeom>
          <a:noFill/>
          <a:ln/>
        </p:spPr>
        <p:txBody>
          <a:bodyPr wrap="square" lIns="0" tIns="0" rIns="0" bIns="0" rtlCol="0" anchor="t"/>
          <a:lstStyle/>
          <a:p>
            <a:pPr indent="0" marL="0">
              <a:buNone/>
            </a:pPr>
            <a:r>
              <a:rPr lang="en-US" sz="1600" b="1" dirty="0">
                <a:solidFill>
                  <a:schemeClr val="tx1"/>
                </a:solidFill>
              </a:rPr>
              <a:t>Usability (SUS)</a:t>
            </a:r>
            <a:endParaRPr lang="en-US" sz="1600" dirty="0"/>
          </a:p>
        </p:txBody>
      </p:sp>
      <p:sp>
        <p:nvSpPr>
          <p:cNvPr id="14" name="Text 12"/>
          <p:cNvSpPr txBox="1"/>
          <p:nvPr/>
        </p:nvSpPr>
        <p:spPr>
          <a:xfrm>
            <a:off x="8321040" y="2697480"/>
            <a:ext cx="3017520" cy="548640"/>
          </a:xfrm>
          <a:prstGeom prst="rect">
            <a:avLst/>
          </a:prstGeom>
          <a:noFill/>
          <a:ln/>
        </p:spPr>
        <p:txBody>
          <a:bodyPr wrap="square" lIns="0" tIns="0" rIns="0" bIns="0" rtlCol="0" anchor="t"/>
          <a:lstStyle/>
          <a:p>
            <a:pPr indent="0" marL="0">
              <a:buNone/>
            </a:pPr>
            <a:r>
              <a:rPr lang="en-US" sz="1300" dirty="0">
                <a:solidFill>
                  <a:srgbClr val="4A5A52"/>
                </a:solidFill>
              </a:rPr>
              <a:t>System Usability Scale score</a:t>
            </a:r>
            <a:endParaRPr lang="en-US" sz="1300" dirty="0"/>
          </a:p>
        </p:txBody>
      </p:sp>
      <p:sp>
        <p:nvSpPr>
          <p:cNvPr id="15" name="target card 4"/>
          <p:cNvSpPr/>
          <p:nvPr/>
        </p:nvSpPr>
        <p:spPr>
          <a:xfrm>
            <a:off x="548640" y="3520440"/>
            <a:ext cx="3520440" cy="1965960"/>
          </a:xfrm>
          <a:prstGeom prst="roundRect">
            <a:avLst>
              <a:gd name="adj" fmla="val 5581"/>
            </a:avLst>
          </a:prstGeom>
          <a:solidFill>
            <a:schemeClr val="bg2"/>
          </a:solidFill>
          <a:ln w="12700">
            <a:solidFill>
              <a:schemeClr val="bg2"/>
            </a:solidFill>
            <a:prstDash val="solid"/>
          </a:ln>
        </p:spPr>
      </p:sp>
      <p:sp>
        <p:nvSpPr>
          <p:cNvPr id="16" name="Text 14"/>
          <p:cNvSpPr txBox="1"/>
          <p:nvPr/>
        </p:nvSpPr>
        <p:spPr>
          <a:xfrm>
            <a:off x="822960" y="3703320"/>
            <a:ext cx="3017520" cy="77724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 4.0</a:t>
            </a:r>
            <a:endParaRPr lang="en-US" sz="4000" dirty="0"/>
          </a:p>
        </p:txBody>
      </p:sp>
      <p:sp>
        <p:nvSpPr>
          <p:cNvPr id="17" name="Text 15"/>
          <p:cNvSpPr txBox="1"/>
          <p:nvPr/>
        </p:nvSpPr>
        <p:spPr>
          <a:xfrm>
            <a:off x="822960" y="4480560"/>
            <a:ext cx="3017520" cy="365760"/>
          </a:xfrm>
          <a:prstGeom prst="rect">
            <a:avLst/>
          </a:prstGeom>
          <a:noFill/>
          <a:ln/>
        </p:spPr>
        <p:txBody>
          <a:bodyPr wrap="square" lIns="0" tIns="0" rIns="0" bIns="0" rtlCol="0" anchor="t"/>
          <a:lstStyle/>
          <a:p>
            <a:pPr indent="0" marL="0">
              <a:buNone/>
            </a:pPr>
            <a:r>
              <a:rPr lang="en-US" sz="1600" b="1" dirty="0">
                <a:solidFill>
                  <a:schemeClr val="tx1"/>
                </a:solidFill>
              </a:rPr>
              <a:t>Satisfaction</a:t>
            </a:r>
            <a:endParaRPr lang="en-US" sz="1600" dirty="0"/>
          </a:p>
        </p:txBody>
      </p:sp>
      <p:sp>
        <p:nvSpPr>
          <p:cNvPr id="18" name="Text 16"/>
          <p:cNvSpPr txBox="1"/>
          <p:nvPr/>
        </p:nvSpPr>
        <p:spPr>
          <a:xfrm>
            <a:off x="822960" y="4846320"/>
            <a:ext cx="3017520" cy="548640"/>
          </a:xfrm>
          <a:prstGeom prst="rect">
            <a:avLst/>
          </a:prstGeom>
          <a:noFill/>
          <a:ln/>
        </p:spPr>
        <p:txBody>
          <a:bodyPr wrap="square" lIns="0" tIns="0" rIns="0" bIns="0" rtlCol="0" anchor="t"/>
          <a:lstStyle/>
          <a:p>
            <a:pPr indent="0" marL="0">
              <a:buNone/>
            </a:pPr>
            <a:r>
              <a:rPr lang="en-US" sz="1300" dirty="0">
                <a:solidFill>
                  <a:srgbClr val="4A5A52"/>
                </a:solidFill>
              </a:rPr>
              <a:t>Relevance and satisfaction ratings, out of 5</a:t>
            </a:r>
            <a:endParaRPr lang="en-US" sz="1300" dirty="0"/>
          </a:p>
        </p:txBody>
      </p:sp>
      <p:sp>
        <p:nvSpPr>
          <p:cNvPr id="19" name="target card 5"/>
          <p:cNvSpPr/>
          <p:nvPr/>
        </p:nvSpPr>
        <p:spPr>
          <a:xfrm>
            <a:off x="4297680" y="3520440"/>
            <a:ext cx="3520440" cy="1965960"/>
          </a:xfrm>
          <a:prstGeom prst="roundRect">
            <a:avLst>
              <a:gd name="adj" fmla="val 5581"/>
            </a:avLst>
          </a:prstGeom>
          <a:solidFill>
            <a:schemeClr val="bg2"/>
          </a:solidFill>
          <a:ln w="12700">
            <a:solidFill>
              <a:schemeClr val="bg2"/>
            </a:solidFill>
            <a:prstDash val="solid"/>
          </a:ln>
        </p:spPr>
      </p:sp>
      <p:sp>
        <p:nvSpPr>
          <p:cNvPr id="20" name="Text 18"/>
          <p:cNvSpPr txBox="1"/>
          <p:nvPr/>
        </p:nvSpPr>
        <p:spPr>
          <a:xfrm>
            <a:off x="4572000" y="3703320"/>
            <a:ext cx="3017520" cy="777240"/>
          </a:xfrm>
          <a:prstGeom prst="rect">
            <a:avLst/>
          </a:prstGeom>
          <a:noFill/>
          <a:ln/>
        </p:spPr>
        <p:txBody>
          <a:bodyPr wrap="square" lIns="0" tIns="0" rIns="0" bIns="0" rtlCol="0" anchor="t"/>
          <a:lstStyle/>
          <a:p>
            <a:pPr indent="0" marL="0">
              <a:buNone/>
            </a:pPr>
            <a:r>
              <a:rPr lang="en-US" sz="4000" b="1" dirty="0">
                <a:solidFill>
                  <a:schemeClr val="accent2"/>
                </a:solidFill>
                <a:latin typeface="Cambria" pitchFamily="34" charset="0"/>
                <a:ea typeface="Cambria" pitchFamily="34" charset="-122"/>
                <a:cs typeface="Cambria" pitchFamily="34" charset="-120"/>
              </a:rPr>
              <a:t>100%</a:t>
            </a:r>
            <a:endParaRPr lang="en-US" sz="4000" dirty="0"/>
          </a:p>
        </p:txBody>
      </p:sp>
      <p:sp>
        <p:nvSpPr>
          <p:cNvPr id="21" name="Text 19"/>
          <p:cNvSpPr txBox="1"/>
          <p:nvPr/>
        </p:nvSpPr>
        <p:spPr>
          <a:xfrm>
            <a:off x="4572000" y="4480560"/>
            <a:ext cx="3017520" cy="365760"/>
          </a:xfrm>
          <a:prstGeom prst="rect">
            <a:avLst/>
          </a:prstGeom>
          <a:noFill/>
          <a:ln/>
        </p:spPr>
        <p:txBody>
          <a:bodyPr wrap="square" lIns="0" tIns="0" rIns="0" bIns="0" rtlCol="0" anchor="t"/>
          <a:lstStyle/>
          <a:p>
            <a:pPr indent="0" marL="0">
              <a:buNone/>
            </a:pPr>
            <a:r>
              <a:rPr lang="en-US" sz="1600" b="1" dirty="0">
                <a:solidFill>
                  <a:schemeClr val="tx1"/>
                </a:solidFill>
              </a:rPr>
              <a:t>Escalation safety</a:t>
            </a:r>
            <a:endParaRPr lang="en-US" sz="1600" dirty="0"/>
          </a:p>
        </p:txBody>
      </p:sp>
      <p:sp>
        <p:nvSpPr>
          <p:cNvPr id="22" name="Text 20"/>
          <p:cNvSpPr txBox="1"/>
          <p:nvPr/>
        </p:nvSpPr>
        <p:spPr>
          <a:xfrm>
            <a:off x="4572000" y="4846320"/>
            <a:ext cx="3017520" cy="548640"/>
          </a:xfrm>
          <a:prstGeom prst="rect">
            <a:avLst/>
          </a:prstGeom>
          <a:noFill/>
          <a:ln/>
        </p:spPr>
        <p:txBody>
          <a:bodyPr wrap="square" lIns="0" tIns="0" rIns="0" bIns="0" rtlCol="0" anchor="t"/>
          <a:lstStyle/>
          <a:p>
            <a:pPr indent="0" marL="0">
              <a:buNone/>
            </a:pPr>
            <a:r>
              <a:rPr lang="en-US" sz="1300" dirty="0">
                <a:solidFill>
                  <a:srgbClr val="4A5A52"/>
                </a:solidFill>
              </a:rPr>
              <a:t>Critical cases never answered by the bot</a:t>
            </a:r>
            <a:endParaRPr lang="en-US" sz="1300" dirty="0"/>
          </a:p>
        </p:txBody>
      </p:sp>
      <p:sp>
        <p:nvSpPr>
          <p:cNvPr id="23" name="target card 6"/>
          <p:cNvSpPr/>
          <p:nvPr/>
        </p:nvSpPr>
        <p:spPr>
          <a:xfrm>
            <a:off x="8046720" y="3520440"/>
            <a:ext cx="3520440" cy="1965960"/>
          </a:xfrm>
          <a:prstGeom prst="roundRect">
            <a:avLst>
              <a:gd name="adj" fmla="val 5581"/>
            </a:avLst>
          </a:prstGeom>
          <a:solidFill>
            <a:schemeClr val="bg2"/>
          </a:solidFill>
          <a:ln w="12700">
            <a:solidFill>
              <a:schemeClr val="bg2"/>
            </a:solidFill>
            <a:prstDash val="solid"/>
          </a:ln>
        </p:spPr>
      </p:sp>
      <p:sp>
        <p:nvSpPr>
          <p:cNvPr id="24" name="Text 22"/>
          <p:cNvSpPr txBox="1"/>
          <p:nvPr/>
        </p:nvSpPr>
        <p:spPr>
          <a:xfrm>
            <a:off x="8321040" y="3703320"/>
            <a:ext cx="3017520" cy="77724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 10 pts</a:t>
            </a:r>
            <a:endParaRPr lang="en-US" sz="4000" dirty="0"/>
          </a:p>
        </p:txBody>
      </p:sp>
      <p:sp>
        <p:nvSpPr>
          <p:cNvPr id="25" name="Text 23"/>
          <p:cNvSpPr txBox="1"/>
          <p:nvPr/>
        </p:nvSpPr>
        <p:spPr>
          <a:xfrm>
            <a:off x="8321040" y="4480560"/>
            <a:ext cx="3017520" cy="365760"/>
          </a:xfrm>
          <a:prstGeom prst="rect">
            <a:avLst/>
          </a:prstGeom>
          <a:noFill/>
          <a:ln/>
        </p:spPr>
        <p:txBody>
          <a:bodyPr wrap="square" lIns="0" tIns="0" rIns="0" bIns="0" rtlCol="0" anchor="t"/>
          <a:lstStyle/>
          <a:p>
            <a:pPr indent="0" marL="0">
              <a:buNone/>
            </a:pPr>
            <a:r>
              <a:rPr lang="en-US" sz="1600" b="1" dirty="0">
                <a:solidFill>
                  <a:schemeClr val="tx1"/>
                </a:solidFill>
              </a:rPr>
              <a:t>Language parity</a:t>
            </a:r>
            <a:endParaRPr lang="en-US" sz="1600" dirty="0"/>
          </a:p>
        </p:txBody>
      </p:sp>
      <p:sp>
        <p:nvSpPr>
          <p:cNvPr id="26" name="Text 24"/>
          <p:cNvSpPr txBox="1"/>
          <p:nvPr/>
        </p:nvSpPr>
        <p:spPr>
          <a:xfrm>
            <a:off x="8321040" y="4846320"/>
            <a:ext cx="3017520" cy="548640"/>
          </a:xfrm>
          <a:prstGeom prst="rect">
            <a:avLst/>
          </a:prstGeom>
          <a:noFill/>
          <a:ln/>
        </p:spPr>
        <p:txBody>
          <a:bodyPr wrap="square" lIns="0" tIns="0" rIns="0" bIns="0" rtlCol="0" anchor="t"/>
          <a:lstStyle/>
          <a:p>
            <a:pPr indent="0" marL="0">
              <a:buNone/>
            </a:pPr>
            <a:r>
              <a:rPr lang="en-US" sz="1300" dirty="0">
                <a:solidFill>
                  <a:srgbClr val="4A5A52"/>
                </a:solidFill>
              </a:rPr>
              <a:t>Accuracy gap across English, Filipino, Taglish</a:t>
            </a:r>
            <a:endParaRPr lang="en-US" sz="1300" dirty="0"/>
          </a:p>
        </p:txBody>
      </p:sp>
      <p:sp>
        <p:nvSpPr>
          <p:cNvPr id="27" name="Text 25"/>
          <p:cNvSpPr txBox="1"/>
          <p:nvPr/>
        </p:nvSpPr>
        <p:spPr>
          <a:xfrm>
            <a:off x="548640" y="5715000"/>
            <a:ext cx="11064240" cy="502920"/>
          </a:xfrm>
          <a:prstGeom prst="rect">
            <a:avLst/>
          </a:prstGeom>
          <a:noFill/>
          <a:ln/>
        </p:spPr>
        <p:txBody>
          <a:bodyPr wrap="square" lIns="0" tIns="0" rIns="0" bIns="0" rtlCol="0" anchor="t"/>
          <a:lstStyle/>
          <a:p>
            <a:pPr indent="0" marL="0">
              <a:buNone/>
            </a:pPr>
            <a:r>
              <a:rPr lang="en-US" sz="1300" i="1" dirty="0">
                <a:solidFill>
                  <a:srgbClr val="4A5A52"/>
                </a:solidFill>
              </a:rPr>
              <a:t>Test set: 120 inquiries (40 English, 40 Filipino, 40 Taglish), expected answers fixed before testing. No results are claimed until the prototype is tested.</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A8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accent1"/>
                </a:solidFill>
                <a:latin typeface="Cambria" pitchFamily="34" charset="0"/>
                <a:ea typeface="Cambria" pitchFamily="34" charset="-122"/>
                <a:cs typeface="Cambria" pitchFamily="34" charset="-120"/>
              </a:rPr>
              <a:t>Data collection plan</a:t>
            </a:r>
            <a:endParaRPr lang="en-US" sz="3200" dirty="0"/>
          </a:p>
        </p:txBody>
      </p:sp>
      <p:sp>
        <p:nvSpPr>
          <p:cNvPr id="3" name="survey card 1"/>
          <p:cNvSpPr/>
          <p:nvPr/>
        </p:nvSpPr>
        <p:spPr>
          <a:xfrm>
            <a:off x="548640" y="1371600"/>
            <a:ext cx="5440680" cy="2514600"/>
          </a:xfrm>
          <a:prstGeom prst="roundRect">
            <a:avLst>
              <a:gd name="adj" fmla="val 4364"/>
            </a:avLst>
          </a:prstGeom>
          <a:solidFill>
            <a:schemeClr val="bg2"/>
          </a:solidFill>
          <a:ln w="12700">
            <a:solidFill>
              <a:schemeClr val="bg2"/>
            </a:solidFill>
            <a:prstDash val="solid"/>
          </a:ln>
        </p:spPr>
      </p:sp>
      <p:sp>
        <p:nvSpPr>
          <p:cNvPr id="4" name="survey icon 1 circle"/>
          <p:cNvSpPr/>
          <p:nvPr/>
        </p:nvSpPr>
        <p:spPr>
          <a:xfrm>
            <a:off x="822960" y="1600200"/>
            <a:ext cx="640080" cy="640080"/>
          </a:xfrm>
          <a:prstGeom prst="ellipse">
            <a:avLst/>
          </a:prstGeom>
          <a:solidFill>
            <a:schemeClr val="accent1"/>
          </a:solidFill>
          <a:ln w="12700">
            <a:solidFill>
              <a:schemeClr val="accent1"/>
            </a:solidFill>
            <a:prstDash val="solid"/>
          </a:ln>
        </p:spPr>
      </p:sp>
      <p:pic>
        <p:nvPicPr>
          <p:cNvPr id="5" name="survey icon 1" descr="preencoded.png">    </p:cNvPr>
          <p:cNvPicPr>
            <a:picLocks noChangeAspect="1"/>
          </p:cNvPicPr>
          <p:nvPr/>
        </p:nvPicPr>
        <p:blipFill>
          <a:blip r:embed="rId1"/>
          <a:stretch>
            <a:fillRect/>
          </a:stretch>
        </p:blipFill>
        <p:spPr>
          <a:xfrm>
            <a:off x="976579" y="1753819"/>
            <a:ext cx="332842" cy="332842"/>
          </a:xfrm>
          <a:prstGeom prst="rect">
            <a:avLst/>
          </a:prstGeom>
        </p:spPr>
      </p:pic>
      <p:sp>
        <p:nvSpPr>
          <p:cNvPr id="6" name="Text 3"/>
          <p:cNvSpPr txBox="1"/>
          <p:nvPr/>
        </p:nvSpPr>
        <p:spPr>
          <a:xfrm>
            <a:off x="1645920" y="1645920"/>
            <a:ext cx="4114800" cy="548640"/>
          </a:xfrm>
          <a:prstGeom prst="rect">
            <a:avLst/>
          </a:prstGeom>
          <a:noFill/>
          <a:ln/>
        </p:spPr>
        <p:txBody>
          <a:bodyPr wrap="square" lIns="0" tIns="0" rIns="0" bIns="0" rtlCol="0" anchor="ctr"/>
          <a:lstStyle/>
          <a:p>
            <a:pPr indent="0" marL="0">
              <a:buNone/>
            </a:pPr>
            <a:r>
              <a:rPr lang="en-US" sz="1800" b="1" dirty="0">
                <a:solidFill>
                  <a:schemeClr val="accent1"/>
                </a:solidFill>
              </a:rPr>
              <a:t>Survey A: Seller needs</a:t>
            </a:r>
            <a:endParaRPr lang="en-US" sz="1800" dirty="0"/>
          </a:p>
        </p:txBody>
      </p:sp>
      <p:sp>
        <p:nvSpPr>
          <p:cNvPr id="7" name="Text 4"/>
          <p:cNvSpPr txBox="1"/>
          <p:nvPr/>
        </p:nvSpPr>
        <p:spPr>
          <a:xfrm>
            <a:off x="822960" y="2377440"/>
            <a:ext cx="4937760" cy="914400"/>
          </a:xfrm>
          <a:prstGeom prst="rect">
            <a:avLst/>
          </a:prstGeom>
          <a:noFill/>
          <a:ln/>
        </p:spPr>
        <p:txBody>
          <a:bodyPr wrap="square" lIns="0" tIns="0" rIns="0" bIns="0" rtlCol="0" anchor="t"/>
          <a:lstStyle/>
          <a:p>
            <a:pPr indent="0" marL="0">
              <a:buNone/>
            </a:pPr>
            <a:r>
              <a:rPr lang="en-US" sz="1400" dirty="0">
                <a:solidFill>
                  <a:schemeClr val="tx1"/>
                </a:solidFill>
              </a:rPr>
              <a:t>Before building. Screening question, 28 items: profile, current practices, views on AI, willingness to pay, open questions.</a:t>
            </a:r>
            <a:endParaRPr lang="en-US" sz="1400" dirty="0"/>
          </a:p>
        </p:txBody>
      </p:sp>
      <p:sp>
        <p:nvSpPr>
          <p:cNvPr id="8" name="Text 5"/>
          <p:cNvSpPr txBox="1"/>
          <p:nvPr/>
        </p:nvSpPr>
        <p:spPr>
          <a:xfrm>
            <a:off x="822960" y="3337560"/>
            <a:ext cx="4937760" cy="365760"/>
          </a:xfrm>
          <a:prstGeom prst="rect">
            <a:avLst/>
          </a:prstGeom>
          <a:noFill/>
          <a:ln/>
        </p:spPr>
        <p:txBody>
          <a:bodyPr wrap="square" lIns="0" tIns="0" rIns="0" bIns="0" rtlCol="0" anchor="t"/>
          <a:lstStyle/>
          <a:p>
            <a:pPr indent="0" marL="0">
              <a:buNone/>
            </a:pPr>
            <a:r>
              <a:rPr lang="en-US" sz="1400" b="1" dirty="0">
                <a:solidFill>
                  <a:schemeClr val="accent2"/>
                </a:solidFill>
              </a:rPr>
              <a:t>Target: 30+ sellers; 8–12 interviews</a:t>
            </a:r>
            <a:endParaRPr lang="en-US" sz="1400" dirty="0"/>
          </a:p>
        </p:txBody>
      </p:sp>
      <p:sp>
        <p:nvSpPr>
          <p:cNvPr id="9" name="survey card 2"/>
          <p:cNvSpPr/>
          <p:nvPr/>
        </p:nvSpPr>
        <p:spPr>
          <a:xfrm>
            <a:off x="6172200" y="1371600"/>
            <a:ext cx="5440680" cy="2514600"/>
          </a:xfrm>
          <a:prstGeom prst="roundRect">
            <a:avLst>
              <a:gd name="adj" fmla="val 4364"/>
            </a:avLst>
          </a:prstGeom>
          <a:solidFill>
            <a:schemeClr val="bg2"/>
          </a:solidFill>
          <a:ln w="12700">
            <a:solidFill>
              <a:schemeClr val="bg2"/>
            </a:solidFill>
            <a:prstDash val="solid"/>
          </a:ln>
        </p:spPr>
      </p:sp>
      <p:sp>
        <p:nvSpPr>
          <p:cNvPr id="10" name="survey icon 2 circle"/>
          <p:cNvSpPr/>
          <p:nvPr/>
        </p:nvSpPr>
        <p:spPr>
          <a:xfrm>
            <a:off x="6446520" y="1600200"/>
            <a:ext cx="640080" cy="640080"/>
          </a:xfrm>
          <a:prstGeom prst="ellipse">
            <a:avLst/>
          </a:prstGeom>
          <a:solidFill>
            <a:schemeClr val="accent1"/>
          </a:solidFill>
          <a:ln w="12700">
            <a:solidFill>
              <a:schemeClr val="accent1"/>
            </a:solidFill>
            <a:prstDash val="solid"/>
          </a:ln>
        </p:spPr>
      </p:sp>
      <p:pic>
        <p:nvPicPr>
          <p:cNvPr id="11" name="survey icon 2" descr="preencoded.png">    </p:cNvPr>
          <p:cNvPicPr>
            <a:picLocks noChangeAspect="1"/>
          </p:cNvPicPr>
          <p:nvPr/>
        </p:nvPicPr>
        <p:blipFill>
          <a:blip r:embed="rId2"/>
          <a:stretch>
            <a:fillRect/>
          </a:stretch>
        </p:blipFill>
        <p:spPr>
          <a:xfrm>
            <a:off x="6600139" y="1753819"/>
            <a:ext cx="332842" cy="332842"/>
          </a:xfrm>
          <a:prstGeom prst="rect">
            <a:avLst/>
          </a:prstGeom>
        </p:spPr>
      </p:pic>
      <p:sp>
        <p:nvSpPr>
          <p:cNvPr id="12" name="Text 8"/>
          <p:cNvSpPr txBox="1"/>
          <p:nvPr/>
        </p:nvSpPr>
        <p:spPr>
          <a:xfrm>
            <a:off x="7269480" y="1645920"/>
            <a:ext cx="4114800" cy="548640"/>
          </a:xfrm>
          <a:prstGeom prst="rect">
            <a:avLst/>
          </a:prstGeom>
          <a:noFill/>
          <a:ln/>
        </p:spPr>
        <p:txBody>
          <a:bodyPr wrap="square" lIns="0" tIns="0" rIns="0" bIns="0" rtlCol="0" anchor="ctr"/>
          <a:lstStyle/>
          <a:p>
            <a:pPr indent="0" marL="0">
              <a:buNone/>
            </a:pPr>
            <a:r>
              <a:rPr lang="en-US" sz="1800" b="1" dirty="0">
                <a:solidFill>
                  <a:schemeClr val="accent1"/>
                </a:solidFill>
              </a:rPr>
              <a:t>Survey B: Prototype evaluation</a:t>
            </a:r>
            <a:endParaRPr lang="en-US" sz="1800" dirty="0"/>
          </a:p>
        </p:txBody>
      </p:sp>
      <p:sp>
        <p:nvSpPr>
          <p:cNvPr id="13" name="Text 9"/>
          <p:cNvSpPr txBox="1"/>
          <p:nvPr/>
        </p:nvSpPr>
        <p:spPr>
          <a:xfrm>
            <a:off x="6446520" y="2377440"/>
            <a:ext cx="4937760" cy="914400"/>
          </a:xfrm>
          <a:prstGeom prst="rect">
            <a:avLst/>
          </a:prstGeom>
          <a:noFill/>
          <a:ln/>
        </p:spPr>
        <p:txBody>
          <a:bodyPr wrap="square" lIns="0" tIns="0" rIns="0" bIns="0" rtlCol="0" anchor="t"/>
          <a:lstStyle/>
          <a:p>
            <a:pPr indent="0" marL="0">
              <a:buNone/>
            </a:pPr>
            <a:r>
              <a:rPr lang="en-US" sz="1400" dirty="0">
                <a:solidFill>
                  <a:schemeClr val="tx1"/>
                </a:solidFill>
              </a:rPr>
              <a:t>After testing. Accuracy, response time, SUS usability, trust and escalation, dashboard, satisfaction.</a:t>
            </a:r>
            <a:endParaRPr lang="en-US" sz="1400" dirty="0"/>
          </a:p>
        </p:txBody>
      </p:sp>
      <p:sp>
        <p:nvSpPr>
          <p:cNvPr id="14" name="Text 10"/>
          <p:cNvSpPr txBox="1"/>
          <p:nvPr/>
        </p:nvSpPr>
        <p:spPr>
          <a:xfrm>
            <a:off x="6446520" y="3337560"/>
            <a:ext cx="4937760" cy="365760"/>
          </a:xfrm>
          <a:prstGeom prst="rect">
            <a:avLst/>
          </a:prstGeom>
          <a:noFill/>
          <a:ln/>
        </p:spPr>
        <p:txBody>
          <a:bodyPr wrap="square" lIns="0" tIns="0" rIns="0" bIns="0" rtlCol="0" anchor="t"/>
          <a:lstStyle/>
          <a:p>
            <a:pPr indent="0" marL="0">
              <a:buNone/>
            </a:pPr>
            <a:r>
              <a:rPr lang="en-US" sz="1400" b="1" dirty="0">
                <a:solidFill>
                  <a:schemeClr val="accent2"/>
                </a:solidFill>
              </a:rPr>
              <a:t>Target: 15–20 pilot users</a:t>
            </a:r>
            <a:endParaRPr lang="en-US" sz="1400" dirty="0"/>
          </a:p>
        </p:txBody>
      </p:sp>
      <p:sp>
        <p:nvSpPr>
          <p:cNvPr id="15" name="Text 11"/>
          <p:cNvSpPr txBox="1"/>
          <p:nvPr/>
        </p:nvSpPr>
        <p:spPr>
          <a:xfrm>
            <a:off x="548640" y="4160520"/>
            <a:ext cx="10972800" cy="411480"/>
          </a:xfrm>
          <a:prstGeom prst="rect">
            <a:avLst/>
          </a:prstGeom>
          <a:noFill/>
          <a:ln/>
        </p:spPr>
        <p:txBody>
          <a:bodyPr wrap="square" lIns="0" tIns="0" rIns="0" bIns="0" rtlCol="0" anchor="t"/>
          <a:lstStyle/>
          <a:p>
            <a:pPr indent="0" marL="0">
              <a:buNone/>
            </a:pPr>
            <a:r>
              <a:rPr lang="en-US" sz="1700" b="1" dirty="0">
                <a:solidFill>
                  <a:schemeClr val="accent1"/>
                </a:solidFill>
              </a:rPr>
              <a:t>Recruitment channels (purposive and referral sampling)</a:t>
            </a:r>
            <a:endParaRPr lang="en-US" sz="1700" dirty="0"/>
          </a:p>
        </p:txBody>
      </p:sp>
      <p:sp>
        <p:nvSpPr>
          <p:cNvPr id="16" name="channel chip 1"/>
          <p:cNvSpPr/>
          <p:nvPr/>
        </p:nvSpPr>
        <p:spPr>
          <a:xfrm>
            <a:off x="548640" y="4663440"/>
            <a:ext cx="3657600" cy="457200"/>
          </a:xfrm>
          <a:prstGeom prst="roundRect">
            <a:avLst>
              <a:gd name="adj" fmla="val 50000"/>
            </a:avLst>
          </a:prstGeom>
          <a:solidFill>
            <a:schemeClr val="bg2"/>
          </a:solidFill>
          <a:ln w="12700">
            <a:solidFill>
              <a:schemeClr val="accent3"/>
            </a:solidFill>
            <a:prstDash val="solid"/>
          </a:ln>
        </p:spPr>
      </p:sp>
      <p:sp>
        <p:nvSpPr>
          <p:cNvPr id="17" name="Text 13"/>
          <p:cNvSpPr txBox="1"/>
          <p:nvPr/>
        </p:nvSpPr>
        <p:spPr>
          <a:xfrm>
            <a:off x="548640" y="4663440"/>
            <a:ext cx="3657600" cy="457200"/>
          </a:xfrm>
          <a:prstGeom prst="rect">
            <a:avLst/>
          </a:prstGeom>
          <a:noFill/>
          <a:ln/>
        </p:spPr>
        <p:txBody>
          <a:bodyPr wrap="square" lIns="0" tIns="0" rIns="0" bIns="0" rtlCol="0" anchor="ctr"/>
          <a:lstStyle/>
          <a:p>
            <a:pPr algn="ctr" indent="0" marL="0">
              <a:buNone/>
            </a:pPr>
            <a:r>
              <a:rPr lang="en-US" sz="1300" dirty="0">
                <a:solidFill>
                  <a:schemeClr val="tx1"/>
                </a:solidFill>
              </a:rPr>
              <a:t>DTI Baguio-Benguet / Negosyo Centers</a:t>
            </a:r>
            <a:endParaRPr lang="en-US" sz="1300" dirty="0"/>
          </a:p>
        </p:txBody>
      </p:sp>
      <p:sp>
        <p:nvSpPr>
          <p:cNvPr id="18" name="channel chip 2"/>
          <p:cNvSpPr/>
          <p:nvPr/>
        </p:nvSpPr>
        <p:spPr>
          <a:xfrm>
            <a:off x="4370832" y="4663440"/>
            <a:ext cx="2286000" cy="457200"/>
          </a:xfrm>
          <a:prstGeom prst="roundRect">
            <a:avLst>
              <a:gd name="adj" fmla="val 50000"/>
            </a:avLst>
          </a:prstGeom>
          <a:solidFill>
            <a:schemeClr val="bg2"/>
          </a:solidFill>
          <a:ln w="12700">
            <a:solidFill>
              <a:schemeClr val="accent3"/>
            </a:solidFill>
            <a:prstDash val="solid"/>
          </a:ln>
        </p:spPr>
      </p:sp>
      <p:sp>
        <p:nvSpPr>
          <p:cNvPr id="19" name="Text 15"/>
          <p:cNvSpPr txBox="1"/>
          <p:nvPr/>
        </p:nvSpPr>
        <p:spPr>
          <a:xfrm>
            <a:off x="4370832" y="4663440"/>
            <a:ext cx="2286000" cy="457200"/>
          </a:xfrm>
          <a:prstGeom prst="rect">
            <a:avLst/>
          </a:prstGeom>
          <a:noFill/>
          <a:ln/>
        </p:spPr>
        <p:txBody>
          <a:bodyPr wrap="square" lIns="0" tIns="0" rIns="0" bIns="0" rtlCol="0" anchor="ctr"/>
          <a:lstStyle/>
          <a:p>
            <a:pPr algn="ctr" indent="0" marL="0">
              <a:buNone/>
            </a:pPr>
            <a:r>
              <a:rPr lang="en-US" sz="1300" dirty="0">
                <a:solidFill>
                  <a:schemeClr val="tx1"/>
                </a:solidFill>
              </a:rPr>
              <a:t>DICT-CAR SPARK cohort</a:t>
            </a:r>
            <a:endParaRPr lang="en-US" sz="1300" dirty="0"/>
          </a:p>
        </p:txBody>
      </p:sp>
      <p:sp>
        <p:nvSpPr>
          <p:cNvPr id="20" name="channel chip 3"/>
          <p:cNvSpPr/>
          <p:nvPr/>
        </p:nvSpPr>
        <p:spPr>
          <a:xfrm>
            <a:off x="6821424" y="4663440"/>
            <a:ext cx="2834640" cy="457200"/>
          </a:xfrm>
          <a:prstGeom prst="roundRect">
            <a:avLst>
              <a:gd name="adj" fmla="val 50000"/>
            </a:avLst>
          </a:prstGeom>
          <a:solidFill>
            <a:schemeClr val="bg2"/>
          </a:solidFill>
          <a:ln w="12700">
            <a:solidFill>
              <a:schemeClr val="accent3"/>
            </a:solidFill>
            <a:prstDash val="solid"/>
          </a:ln>
        </p:spPr>
      </p:sp>
      <p:sp>
        <p:nvSpPr>
          <p:cNvPr id="21" name="Text 17"/>
          <p:cNvSpPr txBox="1"/>
          <p:nvPr/>
        </p:nvSpPr>
        <p:spPr>
          <a:xfrm>
            <a:off x="6821424" y="4663440"/>
            <a:ext cx="2834640" cy="457200"/>
          </a:xfrm>
          <a:prstGeom prst="rect">
            <a:avLst/>
          </a:prstGeom>
          <a:noFill/>
          <a:ln/>
        </p:spPr>
        <p:txBody>
          <a:bodyPr wrap="square" lIns="0" tIns="0" rIns="0" bIns="0" rtlCol="0" anchor="ctr"/>
          <a:lstStyle/>
          <a:p>
            <a:pPr algn="ctr" indent="0" marL="0">
              <a:buNone/>
            </a:pPr>
            <a:r>
              <a:rPr lang="en-US" sz="1300" dirty="0">
                <a:solidFill>
                  <a:schemeClr val="tx1"/>
                </a:solidFill>
              </a:rPr>
              <a:t>Baguio City business office</a:t>
            </a:r>
            <a:endParaRPr lang="en-US" sz="1300" dirty="0"/>
          </a:p>
        </p:txBody>
      </p:sp>
      <p:sp>
        <p:nvSpPr>
          <p:cNvPr id="22" name="channel chip 4"/>
          <p:cNvSpPr/>
          <p:nvPr/>
        </p:nvSpPr>
        <p:spPr>
          <a:xfrm>
            <a:off x="548640" y="5230368"/>
            <a:ext cx="2926080" cy="457200"/>
          </a:xfrm>
          <a:prstGeom prst="roundRect">
            <a:avLst>
              <a:gd name="adj" fmla="val 50000"/>
            </a:avLst>
          </a:prstGeom>
          <a:solidFill>
            <a:schemeClr val="bg2"/>
          </a:solidFill>
          <a:ln w="12700">
            <a:solidFill>
              <a:schemeClr val="accent3"/>
            </a:solidFill>
            <a:prstDash val="solid"/>
          </a:ln>
        </p:spPr>
      </p:sp>
      <p:sp>
        <p:nvSpPr>
          <p:cNvPr id="23" name="Text 19"/>
          <p:cNvSpPr txBox="1"/>
          <p:nvPr/>
        </p:nvSpPr>
        <p:spPr>
          <a:xfrm>
            <a:off x="548640" y="5230368"/>
            <a:ext cx="2926080" cy="457200"/>
          </a:xfrm>
          <a:prstGeom prst="rect">
            <a:avLst/>
          </a:prstGeom>
          <a:noFill/>
          <a:ln/>
        </p:spPr>
        <p:txBody>
          <a:bodyPr wrap="square" lIns="0" tIns="0" rIns="0" bIns="0" rtlCol="0" anchor="ctr"/>
          <a:lstStyle/>
          <a:p>
            <a:pPr algn="ctr" indent="0" marL="0">
              <a:buNone/>
            </a:pPr>
            <a:r>
              <a:rPr lang="en-US" sz="1300" dirty="0">
                <a:solidFill>
                  <a:schemeClr val="tx1"/>
                </a:solidFill>
              </a:rPr>
              <a:t>Local Facebook seller groups</a:t>
            </a:r>
            <a:endParaRPr lang="en-US" sz="1300" dirty="0"/>
          </a:p>
        </p:txBody>
      </p:sp>
      <p:sp>
        <p:nvSpPr>
          <p:cNvPr id="24" name="channel chip 5"/>
          <p:cNvSpPr/>
          <p:nvPr/>
        </p:nvSpPr>
        <p:spPr>
          <a:xfrm>
            <a:off x="3639312" y="5230368"/>
            <a:ext cx="2468880" cy="457200"/>
          </a:xfrm>
          <a:prstGeom prst="roundRect">
            <a:avLst>
              <a:gd name="adj" fmla="val 50000"/>
            </a:avLst>
          </a:prstGeom>
          <a:solidFill>
            <a:schemeClr val="bg2"/>
          </a:solidFill>
          <a:ln w="12700">
            <a:solidFill>
              <a:schemeClr val="accent3"/>
            </a:solidFill>
            <a:prstDash val="solid"/>
          </a:ln>
        </p:spPr>
      </p:sp>
      <p:sp>
        <p:nvSpPr>
          <p:cNvPr id="25" name="Text 21"/>
          <p:cNvSpPr txBox="1"/>
          <p:nvPr/>
        </p:nvSpPr>
        <p:spPr>
          <a:xfrm>
            <a:off x="3639312" y="5230368"/>
            <a:ext cx="2468880" cy="457200"/>
          </a:xfrm>
          <a:prstGeom prst="rect">
            <a:avLst/>
          </a:prstGeom>
          <a:noFill/>
          <a:ln/>
        </p:spPr>
        <p:txBody>
          <a:bodyPr wrap="square" lIns="0" tIns="0" rIns="0" bIns="0" rtlCol="0" anchor="ctr"/>
          <a:lstStyle/>
          <a:p>
            <a:pPr algn="ctr" indent="0" marL="0">
              <a:buNone/>
            </a:pPr>
            <a:r>
              <a:rPr lang="en-US" sz="1300" dirty="0">
                <a:solidFill>
                  <a:schemeClr val="tx1"/>
                </a:solidFill>
              </a:rPr>
              <a:t>Bazaars and trade fairs</a:t>
            </a:r>
            <a:endParaRPr lang="en-US" sz="1300" dirty="0"/>
          </a:p>
        </p:txBody>
      </p:sp>
      <p:sp>
        <p:nvSpPr>
          <p:cNvPr id="26" name="Text 22"/>
          <p:cNvSpPr txBox="1"/>
          <p:nvPr/>
        </p:nvSpPr>
        <p:spPr>
          <a:xfrm>
            <a:off x="548640" y="5806440"/>
            <a:ext cx="11064240" cy="502920"/>
          </a:xfrm>
          <a:prstGeom prst="rect">
            <a:avLst/>
          </a:prstGeom>
          <a:noFill/>
          <a:ln/>
        </p:spPr>
        <p:txBody>
          <a:bodyPr wrap="square" lIns="0" tIns="0" rIns="0" bIns="0" rtlCol="0" anchor="t"/>
          <a:lstStyle/>
          <a:p>
            <a:pPr indent="0" marL="0">
              <a:buNone/>
            </a:pPr>
            <a:r>
              <a:rPr lang="en-US" sz="1400" i="1" dirty="0">
                <a:solidFill>
                  <a:srgbClr val="4A5A52"/>
                </a:solidFill>
              </a:rPr>
              <a:t>Next step: adviser approval of the instruments and request letter, then send letters and open the survey. Data handled under RA 10173.</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A8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accent1"/>
                </a:solidFill>
                <a:latin typeface="Cambria" pitchFamily="34" charset="0"/>
                <a:ea typeface="Cambria" pitchFamily="34" charset="-122"/>
                <a:cs typeface="Cambria" pitchFamily="34" charset="-120"/>
              </a:rPr>
              <a:t>Conclusion and recommendations</a:t>
            </a:r>
            <a:endParaRPr lang="en-US" sz="3200" dirty="0"/>
          </a:p>
        </p:txBody>
      </p:sp>
      <p:sp>
        <p:nvSpPr>
          <p:cNvPr id="3" name="conclusion card"/>
          <p:cNvSpPr/>
          <p:nvPr/>
        </p:nvSpPr>
        <p:spPr>
          <a:xfrm>
            <a:off x="548640" y="1371600"/>
            <a:ext cx="5120640" cy="4572000"/>
          </a:xfrm>
          <a:prstGeom prst="roundRect">
            <a:avLst>
              <a:gd name="adj" fmla="val 2400"/>
            </a:avLst>
          </a:prstGeom>
          <a:solidFill>
            <a:schemeClr val="accent1"/>
          </a:solidFill>
          <a:ln w="12700">
            <a:solidFill>
              <a:schemeClr val="accent1"/>
            </a:solidFill>
            <a:prstDash val="solid"/>
          </a:ln>
        </p:spPr>
      </p:sp>
      <p:sp>
        <p:nvSpPr>
          <p:cNvPr id="4" name="Text 2"/>
          <p:cNvSpPr txBox="1"/>
          <p:nvPr/>
        </p:nvSpPr>
        <p:spPr>
          <a:xfrm>
            <a:off x="868680" y="1600200"/>
            <a:ext cx="4572000" cy="457200"/>
          </a:xfrm>
          <a:prstGeom prst="rect">
            <a:avLst/>
          </a:prstGeom>
          <a:noFill/>
          <a:ln/>
        </p:spPr>
        <p:txBody>
          <a:bodyPr wrap="square" lIns="0" tIns="0" rIns="0" bIns="0" rtlCol="0" anchor="t"/>
          <a:lstStyle/>
          <a:p>
            <a:pPr indent="0" marL="0">
              <a:buNone/>
            </a:pPr>
            <a:r>
              <a:rPr lang="en-US" sz="2000" b="1" dirty="0">
                <a:solidFill>
                  <a:schemeClr val="bg1"/>
                </a:solidFill>
              </a:rPr>
              <a:t>Conclusion</a:t>
            </a:r>
            <a:endParaRPr lang="en-US" sz="2000" dirty="0"/>
          </a:p>
        </p:txBody>
      </p:sp>
      <p:sp>
        <p:nvSpPr>
          <p:cNvPr id="5" name="Text 3"/>
          <p:cNvSpPr txBox="1"/>
          <p:nvPr/>
        </p:nvSpPr>
        <p:spPr>
          <a:xfrm>
            <a:off x="868680" y="2148840"/>
            <a:ext cx="4572000" cy="35661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bg1"/>
                </a:solidFill>
              </a:rPr>
              <a:t>Small sellers in Baguio and Benguet are moving online, and answering customers is becoming a daily burden.</a:t>
            </a:r>
            <a:endParaRPr lang="en-US" sz="1500" dirty="0"/>
          </a:p>
          <a:p>
            <a:pPr marL="342900" indent="-342900">
              <a:spcAft>
                <a:spcPts val="1000"/>
              </a:spcAft>
              <a:buSzPct val="100000"/>
              <a:buChar char="•"/>
            </a:pPr>
            <a:r>
              <a:rPr lang="en-US" sz="1500" dirty="0">
                <a:solidFill>
                  <a:schemeClr val="bg1"/>
                </a:solidFill>
              </a:rPr>
              <a:t>The design answers only from the owner's records, works in Taglish, and hands off to staff.</a:t>
            </a:r>
            <a:endParaRPr lang="en-US" sz="1500" dirty="0"/>
          </a:p>
          <a:p>
            <a:pPr marL="342900" indent="-342900">
              <a:spcAft>
                <a:spcPts val="1000"/>
              </a:spcAft>
              <a:buSzPct val="100000"/>
              <a:buChar char="•"/>
            </a:pPr>
            <a:r>
              <a:rPr lang="en-US" sz="1500" dirty="0">
                <a:solidFill>
                  <a:schemeClr val="bg1"/>
                </a:solidFill>
              </a:rPr>
              <a:t>Of four options, it was the only one that gave owners control over the facts while still cutting their workload.</a:t>
            </a:r>
            <a:endParaRPr lang="en-US" sz="1500" dirty="0"/>
          </a:p>
        </p:txBody>
      </p:sp>
      <p:sp>
        <p:nvSpPr>
          <p:cNvPr id="6" name="Text 4"/>
          <p:cNvSpPr txBox="1"/>
          <p:nvPr/>
        </p:nvSpPr>
        <p:spPr>
          <a:xfrm>
            <a:off x="6035040" y="1371600"/>
            <a:ext cx="5486400" cy="457200"/>
          </a:xfrm>
          <a:prstGeom prst="rect">
            <a:avLst/>
          </a:prstGeom>
          <a:noFill/>
          <a:ln/>
        </p:spPr>
        <p:txBody>
          <a:bodyPr wrap="square" lIns="0" tIns="0" rIns="0" bIns="0" rtlCol="0" anchor="t"/>
          <a:lstStyle/>
          <a:p>
            <a:pPr indent="0" marL="0">
              <a:buNone/>
            </a:pPr>
            <a:r>
              <a:rPr lang="en-US" sz="2000" b="1" dirty="0">
                <a:solidFill>
                  <a:schemeClr val="accent1"/>
                </a:solidFill>
              </a:rPr>
              <a:t>Recommendations</a:t>
            </a:r>
            <a:endParaRPr lang="en-US" sz="2000" dirty="0"/>
          </a:p>
        </p:txBody>
      </p:sp>
      <p:sp>
        <p:nvSpPr>
          <p:cNvPr id="7" name="recommendation number 1"/>
          <p:cNvSpPr/>
          <p:nvPr/>
        </p:nvSpPr>
        <p:spPr>
          <a:xfrm>
            <a:off x="6035040" y="1965960"/>
            <a:ext cx="502920" cy="502920"/>
          </a:xfrm>
          <a:prstGeom prst="ellipse">
            <a:avLst/>
          </a:prstGeom>
          <a:solidFill>
            <a:schemeClr val="accent2"/>
          </a:solidFill>
          <a:ln w="12700">
            <a:solidFill>
              <a:schemeClr val="accent2"/>
            </a:solidFill>
            <a:prstDash val="solid"/>
          </a:ln>
        </p:spPr>
      </p:sp>
      <p:sp>
        <p:nvSpPr>
          <p:cNvPr id="8" name="Text 6"/>
          <p:cNvSpPr txBox="1"/>
          <p:nvPr/>
        </p:nvSpPr>
        <p:spPr>
          <a:xfrm>
            <a:off x="6035040" y="1965960"/>
            <a:ext cx="502920" cy="502920"/>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9" name="Text 7"/>
          <p:cNvSpPr txBox="1"/>
          <p:nvPr/>
        </p:nvSpPr>
        <p:spPr>
          <a:xfrm>
            <a:off x="6720840" y="1920240"/>
            <a:ext cx="4892040" cy="640080"/>
          </a:xfrm>
          <a:prstGeom prst="rect">
            <a:avLst/>
          </a:prstGeom>
          <a:noFill/>
          <a:ln/>
        </p:spPr>
        <p:txBody>
          <a:bodyPr wrap="square" lIns="0" tIns="0" rIns="0" bIns="0" rtlCol="0" anchor="ctr"/>
          <a:lstStyle/>
          <a:p>
            <a:pPr indent="0" marL="0">
              <a:buNone/>
            </a:pPr>
            <a:r>
              <a:rPr lang="en-US" sz="1500" dirty="0">
                <a:solidFill>
                  <a:schemeClr val="tx1"/>
                </a:solidFill>
              </a:rPr>
              <a:t>Build and test the prototype; report results only after testing</a:t>
            </a:r>
            <a:endParaRPr lang="en-US" sz="1500" dirty="0"/>
          </a:p>
        </p:txBody>
      </p:sp>
      <p:sp>
        <p:nvSpPr>
          <p:cNvPr id="10" name="recommendation number 2"/>
          <p:cNvSpPr/>
          <p:nvPr/>
        </p:nvSpPr>
        <p:spPr>
          <a:xfrm>
            <a:off x="6035040" y="2752344"/>
            <a:ext cx="502920" cy="502920"/>
          </a:xfrm>
          <a:prstGeom prst="ellipse">
            <a:avLst/>
          </a:prstGeom>
          <a:solidFill>
            <a:schemeClr val="accent2"/>
          </a:solidFill>
          <a:ln w="12700">
            <a:solidFill>
              <a:schemeClr val="accent2"/>
            </a:solidFill>
            <a:prstDash val="solid"/>
          </a:ln>
        </p:spPr>
      </p:sp>
      <p:sp>
        <p:nvSpPr>
          <p:cNvPr id="11" name="Text 9"/>
          <p:cNvSpPr txBox="1"/>
          <p:nvPr/>
        </p:nvSpPr>
        <p:spPr>
          <a:xfrm>
            <a:off x="6035040" y="2752344"/>
            <a:ext cx="502920" cy="502920"/>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2" name="Text 10"/>
          <p:cNvSpPr txBox="1"/>
          <p:nvPr/>
        </p:nvSpPr>
        <p:spPr>
          <a:xfrm>
            <a:off x="6720840" y="2706624"/>
            <a:ext cx="4892040" cy="640080"/>
          </a:xfrm>
          <a:prstGeom prst="rect">
            <a:avLst/>
          </a:prstGeom>
          <a:noFill/>
          <a:ln/>
        </p:spPr>
        <p:txBody>
          <a:bodyPr wrap="square" lIns="0" tIns="0" rIns="0" bIns="0" rtlCol="0" anchor="ctr"/>
          <a:lstStyle/>
          <a:p>
            <a:pPr indent="0" marL="0">
              <a:buNone/>
            </a:pPr>
            <a:r>
              <a:rPr lang="en-US" sz="1500" dirty="0">
                <a:solidFill>
                  <a:schemeClr val="tx1"/>
                </a:solidFill>
              </a:rPr>
              <a:t>Confirm requirements through seller interviews before Sprint 2</a:t>
            </a:r>
            <a:endParaRPr lang="en-US" sz="1500" dirty="0"/>
          </a:p>
        </p:txBody>
      </p:sp>
      <p:sp>
        <p:nvSpPr>
          <p:cNvPr id="13" name="recommendation number 3"/>
          <p:cNvSpPr/>
          <p:nvPr/>
        </p:nvSpPr>
        <p:spPr>
          <a:xfrm>
            <a:off x="6035040" y="3538728"/>
            <a:ext cx="502920" cy="502920"/>
          </a:xfrm>
          <a:prstGeom prst="ellipse">
            <a:avLst/>
          </a:prstGeom>
          <a:solidFill>
            <a:schemeClr val="accent2"/>
          </a:solidFill>
          <a:ln w="12700">
            <a:solidFill>
              <a:schemeClr val="accent2"/>
            </a:solidFill>
            <a:prstDash val="solid"/>
          </a:ln>
        </p:spPr>
      </p:sp>
      <p:sp>
        <p:nvSpPr>
          <p:cNvPr id="14" name="Text 12"/>
          <p:cNvSpPr txBox="1"/>
          <p:nvPr/>
        </p:nvSpPr>
        <p:spPr>
          <a:xfrm>
            <a:off x="6035040" y="3538728"/>
            <a:ext cx="502920" cy="502920"/>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5" name="Text 13"/>
          <p:cNvSpPr txBox="1"/>
          <p:nvPr/>
        </p:nvSpPr>
        <p:spPr>
          <a:xfrm>
            <a:off x="6720840" y="3493008"/>
            <a:ext cx="4892040" cy="640080"/>
          </a:xfrm>
          <a:prstGeom prst="rect">
            <a:avLst/>
          </a:prstGeom>
          <a:noFill/>
          <a:ln/>
        </p:spPr>
        <p:txBody>
          <a:bodyPr wrap="square" lIns="0" tIns="0" rIns="0" bIns="0" rtlCol="0" anchor="ctr"/>
          <a:lstStyle/>
          <a:p>
            <a:pPr indent="0" marL="0">
              <a:buNone/>
            </a:pPr>
            <a:r>
              <a:rPr lang="en-US" sz="1500" dirty="0">
                <a:solidFill>
                  <a:schemeClr val="tx1"/>
                </a:solidFill>
              </a:rPr>
              <a:t>Keep escalation rules strict at launch; relax only with evidence</a:t>
            </a:r>
            <a:endParaRPr lang="en-US" sz="1500" dirty="0"/>
          </a:p>
        </p:txBody>
      </p:sp>
      <p:sp>
        <p:nvSpPr>
          <p:cNvPr id="16" name="recommendation number 4"/>
          <p:cNvSpPr/>
          <p:nvPr/>
        </p:nvSpPr>
        <p:spPr>
          <a:xfrm>
            <a:off x="6035040" y="4325112"/>
            <a:ext cx="502920" cy="502920"/>
          </a:xfrm>
          <a:prstGeom prst="ellipse">
            <a:avLst/>
          </a:prstGeom>
          <a:solidFill>
            <a:schemeClr val="accent2"/>
          </a:solidFill>
          <a:ln w="12700">
            <a:solidFill>
              <a:schemeClr val="accent2"/>
            </a:solidFill>
            <a:prstDash val="solid"/>
          </a:ln>
        </p:spPr>
      </p:sp>
      <p:sp>
        <p:nvSpPr>
          <p:cNvPr id="17" name="Text 15"/>
          <p:cNvSpPr txBox="1"/>
          <p:nvPr/>
        </p:nvSpPr>
        <p:spPr>
          <a:xfrm>
            <a:off x="6035040" y="4325112"/>
            <a:ext cx="502920" cy="502920"/>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18" name="Text 16"/>
          <p:cNvSpPr txBox="1"/>
          <p:nvPr/>
        </p:nvSpPr>
        <p:spPr>
          <a:xfrm>
            <a:off x="6720840" y="4279392"/>
            <a:ext cx="4892040" cy="640080"/>
          </a:xfrm>
          <a:prstGeom prst="rect">
            <a:avLst/>
          </a:prstGeom>
          <a:noFill/>
          <a:ln/>
        </p:spPr>
        <p:txBody>
          <a:bodyPr wrap="square" lIns="0" tIns="0" rIns="0" bIns="0" rtlCol="0" anchor="ctr"/>
          <a:lstStyle/>
          <a:p>
            <a:pPr indent="0" marL="0">
              <a:buNone/>
            </a:pPr>
            <a:r>
              <a:rPr lang="en-US" sz="1500" dirty="0">
                <a:solidFill>
                  <a:schemeClr val="tx1"/>
                </a:solidFill>
              </a:rPr>
              <a:t>Add Facebook Messenger integration next</a:t>
            </a:r>
            <a:endParaRPr lang="en-US" sz="1500" dirty="0"/>
          </a:p>
        </p:txBody>
      </p:sp>
      <p:sp>
        <p:nvSpPr>
          <p:cNvPr id="19" name="recommendation number 5"/>
          <p:cNvSpPr/>
          <p:nvPr/>
        </p:nvSpPr>
        <p:spPr>
          <a:xfrm>
            <a:off x="6035040" y="5111496"/>
            <a:ext cx="502920" cy="502920"/>
          </a:xfrm>
          <a:prstGeom prst="ellipse">
            <a:avLst/>
          </a:prstGeom>
          <a:solidFill>
            <a:schemeClr val="accent2"/>
          </a:solidFill>
          <a:ln w="12700">
            <a:solidFill>
              <a:schemeClr val="accent2"/>
            </a:solidFill>
            <a:prstDash val="solid"/>
          </a:ln>
        </p:spPr>
      </p:sp>
      <p:sp>
        <p:nvSpPr>
          <p:cNvPr id="20" name="Text 18"/>
          <p:cNvSpPr txBox="1"/>
          <p:nvPr/>
        </p:nvSpPr>
        <p:spPr>
          <a:xfrm>
            <a:off x="6035040" y="5111496"/>
            <a:ext cx="502920" cy="502920"/>
          </a:xfrm>
          <a:prstGeom prst="rect">
            <a:avLst/>
          </a:prstGeom>
          <a:noFill/>
          <a:ln/>
        </p:spPr>
        <p:txBody>
          <a:bodyPr wrap="square" lIns="0" tIns="0" rIns="0" bIns="0" rtlCol="0" anchor="ctr"/>
          <a:lstStyle/>
          <a:p>
            <a:pPr algn="ctr" indent="0" marL="0">
              <a:buNone/>
            </a:pPr>
            <a:r>
              <a:rPr lang="en-US" sz="1500" b="1" dirty="0">
                <a:solidFill>
                  <a:schemeClr val="bg1"/>
                </a:solidFill>
              </a:rPr>
              <a:t>5</a:t>
            </a:r>
            <a:endParaRPr lang="en-US" sz="1500" dirty="0"/>
          </a:p>
        </p:txBody>
      </p:sp>
      <p:sp>
        <p:nvSpPr>
          <p:cNvPr id="21" name="Text 19"/>
          <p:cNvSpPr txBox="1"/>
          <p:nvPr/>
        </p:nvSpPr>
        <p:spPr>
          <a:xfrm>
            <a:off x="6720840" y="5065776"/>
            <a:ext cx="4892040" cy="640080"/>
          </a:xfrm>
          <a:prstGeom prst="rect">
            <a:avLst/>
          </a:prstGeom>
          <a:noFill/>
          <a:ln/>
        </p:spPr>
        <p:txBody>
          <a:bodyPr wrap="square" lIns="0" tIns="0" rIns="0" bIns="0" rtlCol="0" anchor="ctr"/>
          <a:lstStyle/>
          <a:p>
            <a:pPr indent="0" marL="0">
              <a:buNone/>
            </a:pPr>
            <a:r>
              <a:rPr lang="en-US" sz="1500" dirty="0">
                <a:solidFill>
                  <a:schemeClr val="tx1"/>
                </a:solidFill>
              </a:rPr>
              <a:t>Partner with DTI-CAR and DICT-CAR as a follow-up to their training</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A8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accent1"/>
                </a:solidFill>
                <a:latin typeface="Cambria" pitchFamily="34" charset="0"/>
                <a:ea typeface="Cambria" pitchFamily="34" charset="-122"/>
                <a:cs typeface="Cambria" pitchFamily="34" charset="-120"/>
              </a:rPr>
              <a:t>Selected references</a:t>
            </a:r>
            <a:endParaRPr lang="en-US" sz="3200" dirty="0"/>
          </a:p>
        </p:txBody>
      </p:sp>
      <p:sp>
        <p:nvSpPr>
          <p:cNvPr id="3" name="Text 1"/>
          <p:cNvSpPr txBox="1"/>
          <p:nvPr/>
        </p:nvSpPr>
        <p:spPr>
          <a:xfrm>
            <a:off x="548640" y="1371600"/>
            <a:ext cx="11064240" cy="47548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Department of Trade and Industry. 2024. 2023 Philippine MSME Statistics in Brief.</a:t>
            </a:r>
            <a:endParaRPr lang="en-US" sz="1400" dirty="0"/>
          </a:p>
          <a:p>
            <a:pPr marL="342900" indent="-342900">
              <a:spcAft>
                <a:spcPts val="600"/>
              </a:spcAft>
              <a:buSzPct val="100000"/>
              <a:buChar char="•"/>
            </a:pPr>
            <a:r>
              <a:rPr lang="en-US" sz="1400" dirty="0">
                <a:solidFill>
                  <a:schemeClr val="tx1"/>
                </a:solidFill>
              </a:rPr>
              <a:t>Philippine Statistics Authority. 2025. 2024 NICTHS: E-Commerce; 2026. Digital Economy Satellite Account.</a:t>
            </a:r>
            <a:endParaRPr lang="en-US" sz="1400" dirty="0"/>
          </a:p>
          <a:p>
            <a:pPr marL="342900" indent="-342900">
              <a:spcAft>
                <a:spcPts val="600"/>
              </a:spcAft>
              <a:buSzPct val="100000"/>
              <a:buChar char="•"/>
            </a:pPr>
            <a:r>
              <a:rPr lang="en-US" sz="1400" dirty="0">
                <a:solidFill>
                  <a:schemeClr val="tx1"/>
                </a:solidFill>
              </a:rPr>
              <a:t>D. Huang, D. G. Markovitch, R. A. Stough. 2024. Can chatbot customer service match human service agents on customer satisfaction? J. Retail. Consum. Serv. 76.</a:t>
            </a:r>
            <a:endParaRPr lang="en-US" sz="1400" dirty="0"/>
          </a:p>
          <a:p>
            <a:pPr marL="342900" indent="-342900">
              <a:spcAft>
                <a:spcPts val="600"/>
              </a:spcAft>
              <a:buSzPct val="100000"/>
              <a:buChar char="•"/>
            </a:pPr>
            <a:r>
              <a:rPr lang="en-US" sz="1400" dirty="0">
                <a:solidFill>
                  <a:schemeClr val="tx1"/>
                </a:solidFill>
              </a:rPr>
              <a:t>Y. Zhang, C. Liang, X. Li. 2024. Understanding virtual agents' service quality in the context of customer service. Electron. Commer. Res. Appl. 65.</a:t>
            </a:r>
            <a:endParaRPr lang="en-US" sz="1400" dirty="0"/>
          </a:p>
          <a:p>
            <a:pPr marL="342900" indent="-342900">
              <a:spcAft>
                <a:spcPts val="600"/>
              </a:spcAft>
              <a:buSzPct val="100000"/>
              <a:buChar char="•"/>
            </a:pPr>
            <a:r>
              <a:rPr lang="en-US" sz="1400" dirty="0">
                <a:solidFill>
                  <a:schemeClr val="tx1"/>
                </a:solidFill>
              </a:rPr>
              <a:t>J. R. Montalan et al. 2025. Batayan: A Filipino NLP benchmark for evaluating large language models. ACL 2025.</a:t>
            </a:r>
            <a:endParaRPr lang="en-US" sz="1400" dirty="0"/>
          </a:p>
          <a:p>
            <a:pPr marL="342900" indent="-342900">
              <a:spcAft>
                <a:spcPts val="600"/>
              </a:spcAft>
              <a:buSzPct val="100000"/>
              <a:buChar char="•"/>
            </a:pPr>
            <a:r>
              <a:rPr lang="en-US" sz="1400" dirty="0">
                <a:solidFill>
                  <a:schemeClr val="tx1"/>
                </a:solidFill>
              </a:rPr>
              <a:t>DLSU Senior High School Research Congress. 2024. Optimizing customer support: AI chatbots of Shopee and Lazada in the Philippines.</a:t>
            </a:r>
            <a:endParaRPr lang="en-US" sz="1400" dirty="0"/>
          </a:p>
          <a:p>
            <a:pPr marL="342900" indent="-342900">
              <a:spcAft>
                <a:spcPts val="600"/>
              </a:spcAft>
              <a:buSzPct val="100000"/>
              <a:buChar char="•"/>
            </a:pPr>
            <a:r>
              <a:rPr lang="en-US" sz="1400" dirty="0">
                <a:solidFill>
                  <a:schemeClr val="tx1"/>
                </a:solidFill>
              </a:rPr>
              <a:t>National Privacy Commission. 2024. NPC Advisory No. 2024-04 on AI systems processing personal data.</a:t>
            </a:r>
            <a:endParaRPr lang="en-US" sz="1400" dirty="0"/>
          </a:p>
          <a:p>
            <a:pPr marL="342900" indent="-342900">
              <a:spcAft>
                <a:spcPts val="600"/>
              </a:spcAft>
              <a:buSzPct val="100000"/>
              <a:buChar char="•"/>
            </a:pPr>
            <a:r>
              <a:rPr lang="en-US" sz="1400" dirty="0">
                <a:solidFill>
                  <a:schemeClr val="tx1"/>
                </a:solidFill>
              </a:rPr>
              <a:t>OWASP Foundation. 2025. OWASP Top 10 for LLM Applications; E. Tabassi. 2023. NIST AI RMF 1.0.</a:t>
            </a:r>
            <a:endParaRPr lang="en-US" sz="1400" dirty="0"/>
          </a:p>
          <a:p>
            <a:pPr marL="342900" indent="-342900">
              <a:spcAft>
                <a:spcPts val="600"/>
              </a:spcAft>
              <a:buSzPct val="100000"/>
              <a:buChar char="•"/>
            </a:pPr>
            <a:r>
              <a:rPr lang="en-US" sz="1400" dirty="0">
                <a:solidFill>
                  <a:schemeClr val="tx1"/>
                </a:solidFill>
              </a:rPr>
              <a:t>Philippine Information Agency. 2026. Reports on DICT, DTI and Tatak Pinoy MSME programs in Baguio and the Cordillera.</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A8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8778240" cy="1828800"/>
          </a:xfrm>
          <a:prstGeom prst="rect">
            <a:avLst/>
          </a:prstGeom>
          <a:noFill/>
          <a:ln/>
        </p:spPr>
        <p:txBody>
          <a:bodyPr wrap="square"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Maraming salamat po!</a:t>
            </a:r>
            <a:endParaRPr lang="en-US" sz="4000" dirty="0"/>
          </a:p>
        </p:txBody>
      </p:sp>
      <p:sp>
        <p:nvSpPr>
          <p:cNvPr id="3" name="Text 0"/>
          <p:cNvSpPr/>
          <p:nvPr>
            <p:ph idx="101" type="body" hasCustomPrompt="1"/>
          </p:nvPr>
        </p:nvSpPr>
        <p:spPr>
          <a:xfrm>
            <a:off x="731520" y="3794760"/>
            <a:ext cx="10698480" cy="2011680"/>
          </a:xfrm>
          <a:prstGeom prst="rect">
            <a:avLst/>
          </a:prstGeom>
          <a:noFill/>
          <a:ln/>
        </p:spPr>
        <p:txBody>
          <a:bodyPr wrap="square" rtlCol="0" anchor="t"/>
          <a:lstStyle/>
          <a:p>
            <a:pPr algn="l" indent="0" marL="0">
              <a:buNone/>
            </a:pPr>
            <a:r>
              <a:rPr lang="en-US" sz="1800" i="1" dirty="0">
                <a:solidFill>
                  <a:srgbClr val="FFFFFF"/>
                </a:solidFill>
              </a:rPr>
              <a:t>“The owner's records, not the AI's general knowledge, decide what customers are told.”</a:t>
            </a:r>
            <a:endParaRPr lang="en-US" sz="1800" dirty="0"/>
          </a:p>
          <a:p>
            <a:pPr algn="l" indent="0" marL="0">
              <a:buNone/>
            </a:pPr>
            <a:r>
              <a:rPr lang="en-US" sz="1800" dirty="0">
                <a:solidFill>
                  <a:srgbClr val="CFE0D6"/>
                </a:solidFill>
              </a:rPr>
              <a:t> </a:t>
            </a:r>
            <a:endParaRPr lang="en-US" sz="1800" dirty="0"/>
          </a:p>
          <a:p>
            <a:pPr algn="l" indent="0" marL="0">
              <a:buNone/>
            </a:pPr>
            <a:r>
              <a:rPr lang="en-US" sz="1800" dirty="0">
                <a:solidFill>
                  <a:srgbClr val="CFE0D6"/>
                </a:solidFill>
              </a:rPr>
              <a:t>Questions and suggestions are welcome.  |  jeanalynlagera123@gmail.com</a:t>
            </a:r>
            <a:endParaRPr lang="en-US" sz="1800" dirty="0"/>
          </a:p>
        </p:txBody>
      </p:sp>
      <p:pic>
        <p:nvPicPr>
          <p:cNvPr id="4" name="chat icon decoration" descr="preencoded.png">    </p:cNvPr>
          <p:cNvPicPr>
            <a:picLocks noChangeAspect="1"/>
          </p:cNvPicPr>
          <p:nvPr/>
        </p:nvPicPr>
        <p:blipFill>
          <a:blip r:embed="rId1"/>
          <a:stretch>
            <a:fillRect/>
          </a:stretch>
        </p:blipFill>
        <p:spPr>
          <a:xfrm>
            <a:off x="9692640" y="457200"/>
            <a:ext cx="1828800" cy="1828800"/>
          </a:xfrm>
          <a:prstGeom prst="rect">
            <a:avLst/>
          </a:prstGeom>
        </p:spPr>
      </p:pic>
    </p:spTree>
  </p:cSld>
  <p:clrMapOvr>
    <a:masterClrMapping/>
  </p:clrMapOvr>
</p:sld>
</file>

<file path=ppt/theme/theme1.xml><?xml version="1.0" encoding="utf-8"?>
<a:theme xmlns:a="http://schemas.openxmlformats.org/drawingml/2006/main" name="Baguio Pine">
  <a:themeElements>
    <a:clrScheme name="Baguio Pine">
      <a:dk1>
        <a:srgbClr val="1B2A24"/>
      </a:dk1>
      <a:lt1>
        <a:srgbClr val="FFFFFF"/>
      </a:lt1>
      <a:dk2>
        <a:srgbClr val="1F4D3A"/>
      </a:dk2>
      <a:lt2>
        <a:srgbClr val="EEF3EF"/>
      </a:lt2>
      <a:accent1>
        <a:srgbClr val="1F4D3A"/>
      </a:accent1>
      <a:accent2>
        <a:srgbClr val="C8553D"/>
      </a:accent2>
      <a:accent3>
        <a:srgbClr val="6A8F7A"/>
      </a:accent3>
      <a:accent4>
        <a:srgbClr val="D9A441"/>
      </a:accent4>
      <a:accent5>
        <a:srgbClr val="3F6E8C"/>
      </a:accent5>
      <a:accent6>
        <a:srgbClr val="8C6A4F"/>
      </a:accent6>
      <a:hlink>
        <a:srgbClr val="3F6E8C"/>
      </a:hlink>
      <a:folHlink>
        <a:srgbClr val="8C6A4F"/>
      </a:folHlink>
    </a:clrScheme>
    <a:fontScheme name="Baguio Pin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AI-Assisted Customer Support System for Baguio and Benguet MSMEs</dc:title>
  <dc:subject>PptxGenJS Presentation</dc:subject>
  <dc:creator>Jeanalyn Marie B. Lagera</dc:creator>
  <cp:lastModifiedBy>Jeanalyn Marie B. Lagera</cp:lastModifiedBy>
  <cp:revision>1</cp:revision>
  <dcterms:created xsi:type="dcterms:W3CDTF">2026-10-07T11:59:35Z</dcterms:created>
  <dcterms:modified xsi:type="dcterms:W3CDTF">2026-10-07T11:59:35Z</dcterms:modified>
</cp:coreProperties>
</file>