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a660ae6-7c1d-65e1-6d94-057c684ac048}">
          <p14:sldIdLst>
            <p14:sldId id="256"/>
            <p14:sldId id="257"/>
            <p14:sldId id="258"/>
            <p14:sldId id="259"/>
            <p14:sldId id="260"/>
            <p14:sldId id="261"/>
          </p14:sldIdLst>
        </p14:section>
        <p14:section name="Literature" id="{8c0f3f13-0dcb-c2f9-38c7-addb970ca974}">
          <p14:sldIdLst>
            <p14:sldId id="262"/>
            <p14:sldId id="263"/>
          </p14:sldIdLst>
        </p14:section>
        <p14:section name="Methodology" id="{4734ae7f-7f33-9f0b-fd9b-ec8568c75096}">
          <p14:sldIdLst>
            <p14:sldId id="264"/>
            <p14:sldId id="265"/>
          </p14:sldIdLst>
        </p14:section>
        <p14:section name="System Design" id="{e76e99ce-f5cf-c592-c444-ba22672d83b3}">
          <p14:sldIdLst>
            <p14:sldId id="266"/>
            <p14:sldId id="267"/>
            <p14:sldId id="268"/>
            <p14:sldId id="269"/>
            <p14:sldId id="270"/>
            <p14:sldId id="271"/>
            <p14:sldId id="272"/>
            <p14:sldId id="273"/>
          </p14:sldIdLst>
        </p14:section>
        <p14:section name="Evaluation" id="{ea4a56e8-de0c-1ea8-79de-58d721082055}">
          <p14:sldIdLst>
            <p14:sldId id="274"/>
            <p14:sldId id="275"/>
          </p14:sldIdLst>
        </p14:section>
        <p14:section name="Conclusion" id="{406a0fb4-309b-ff26-a9e6-86cadf6e73da}">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Stand, smile, wait for the room to settle.
Good morning po. My name is Jeanalyn Marie Lagera, and today I will present my design project for MITO 611, titled "Design of an AI-Assisted Customer Support System for Micro and Small E-Commerce Businesses in Baguio City and Benguet."
In short, I am designing a tool that helps small online sellers answer their customers' routine questions, using only information the seller has approved, and passing the difficult conversations to a real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Point to the inbox on the left.
Let me start with a picture many of us know. This is a typical inbox of a small online shop. "Hi po, avail pa?" "hm po?" "COD po ba?" "Ilang days delivery sa La Trinidad?"
In most small shops, the person answering these messages is the owner, who is also packing orders, restocking, and booking couriers. So the first problem is time. The second is consistency: prices and stock change, and a reply typed from memory can easily be wrong. The third is after-hours messages. Customers message at night, and a late reply can mean a lost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Pause briefly on each number.
This is not a small issue. According to DTI, 99.63 percent of business establishments in the country are MSMEs. The PSA estimates that the digital economy is 9.8 percent of our GDP, and about a third of that is e-commerce.
The last two numbers matter most for my design. 94.4 percent of online sellers sell through social media, and 87.9 percent accept cash on delivery. This tells us that for a typical small seller, customer questions come through Messenger and Facebook, not through a big platform with its own help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Move left to right along the timeline.
Here in the Cordillera, the government is actively helping MSMEs go online. In February, DICT-CAR and DTI-CAR aligned their digital programs. In April, DTI-CAR released its MSME agenda. In July, 50 Baguio MSMEs joined the Tatak Pinoy workshop with Shopee. And in September, 25 sellers from Baguio and Benguet finished DICT's SPARK training on social media marketing.
These programs teach sellers how to open and promote their stores. But very little attention goes to what happens next, when the messages start coming in. That is the gap where my study begins. I want to be clear that these reports describe the setting; my seller survey will confirm the actual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Left side first, then the objective box.
So the problem has five parts: repeated questions take the owner's time, typed replies are not always consistent, business information keeps changing, customers write in English, Filipino, or Taglish, and some cases, like complaints and refunds, really need a person.
My general objective is to design and develop a prototype customer support system that answers routine questions quickly and correctly, never states a fact the owner has not approved, and hands difficult cases to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Read the short labels, not every word.
Five research questions guide the study. First, what do local sellers actually need? Second, how should the business information be stored so every answer can be traced to approved data? Third, how do we handle English, Filipino, and Taglish? Fourth, how does the system recognize when to pass a chat to staff? And fifth, how do we measure whether the prototype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Spend the most time on the top-right card.
From the literature, four lessons shaped my design.
First, customers value correct, concrete answers more than speed alone. A fast wrong answer is worse than a slower correct one.
Second, and this is the most important one for me: Huang and colleagues ran three studies with 643 participants and found that a chatbot with light human help matched human-only service on most outcomes. So we don't need to choose between full automation and doing everything by hand.
Third, a Philippine study of the Shopee and Lazada chatbots found that Filipino users struggled with how the bots understood them.
And fourth, AI models still perform unevenly in Tagalog and Taglish, so language must be tested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Point to the 'Used in the PH?' column, then the red box.
Has something like this been done in the Philippines? Partly. Online shops in Nueva Ecija already use chatbots. Shopee and Lazada have them. DOST-ASTI's iTANONG answers in Taglish from approved government data. And ChatGenie helps MSMEs sell through chat apps. In Ecuador, a similar MSME chatbot study reported high usability.
But none of these combines three things: answers controlled by the owner, testing in Taglish, and a built-in hand-off to a person, for micro sellers. And none is in Baguio or Benguet. That is the gap this study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Top row, then the sprint boxes.
Methodologically, this is a design project following the design-science pattern: identify the problem, build the artifact, then evaluate it.
Development follows Agile, adapted from Scrum, in six two-week sprints. Sprint zero is for seller interviews and requirements. I chose Agile because what sellers tell me may change the design along the way, for example the fields in the knowledge base or the escalation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Walk across the columns, end on the red column.
Before choosing a design, I compared four options.
Option A is what many sellers do now: type replies or use saved replies. It's free, but it doesn't save time.
Option B is a keyword bot. It's cheap, but it breaks easily with Taglish spellings like "hm po" or "mgkano."
Option C is a general AI chatbot. It understands Taglish well, but it answers from general knowledge, so it might quote a price or a return period that the shop never set.
Option D is my proposal. It keeps the language ability of AI, but every answer must come from the owner's own records, and there is a clear hand-off to staff. That is why I chose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Trace input, process, output with your hand.
This is the conceptual framework. The inputs are the customer's message, the owner's approved records, and the escalation rules. The process detects the language and intent, retrieves the right record, writes a short answer, and checks its confidence. The output is either an answer that can be traced to a record, or a hand-off to staff.
At the bottom are the controls that apply everywhere: privacy, security, human oversight, and transparency. And at the top is the feedback loop. When a question has no matching record, the owner simply adds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Use the three example cards to walk the flowchart.
Here is how each message actually moves through the system.
First, sensitive data like card numbers is masked. Then the system detects the language and the intent.
Take the first example: "Available pa po ba ang Arabica 250g?" The system sees a stock question, finds the product record, and answers: "Yes po, in stock, 380 pesos."
Second example: "Wrong item po ang dumating, I want a refund." That is a complaint, so it goes straight to the staff queue. The bot doesn't try to handle it.
Third: if no record is a good enough match, the system does not guess. It escalates. And when staff answer, the owner can save that answer as a new FAQ for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Point to the right-side points one by one.
The architecture has four layers: presentation, application, AI orchestration, and data.
The key design choice is this: the AI owns no data and cannot take any action. It receives text and returns text. The application code decides which records the AI can see, filtered by business, and whether a reply is sent. And the AI provider can be switched later without rebuilding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Left diagram, then right diagram.
On the left is the use case diagram. Customers ask questions, choose quick topics, request a person, and rate answers. Owners and staff manage products, FAQs, and policies, and handle escalated chats. The AI service only takes part in retrieving and answering.
On the right is the data model. The important detail is that every message stores which knowledge record it used, so every automated answer can be checked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Point to BR3 last.
These are the business rules, BR one to eight. They are written in the application code, so the AI cannot override them. For example, only active records are used, one seller's data never reaches another seller's customers, prices quoted must match the record exactly, and card numbers are masked.
The most important is BR3: refunds, complaints, and discounts not in the policy always go to a real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Left mockup, then right mockup.
On the left is the customer chat, designed for mobile because most buyers message from their phones. It says clearly that replies are automated, it shows which record each answer came from, it replies in the customer's language, here in Taglish, and there is always a Staff button.
On the right is the owner dashboard. It shows weekly counts, the chats waiting for staff, the most common questions, and a reminder when stock hasn't been updated. The numbers here are sample values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Left list briefly, then the security box.
Technically, the system is small and affordable: a web app, a REST API, a hosted AI model, and PostgreSQL with vector search on one small cloud server.
For security and privacy: customer messages are treated as data, never as instructions; replies are checked against the record before sending; sensitive numbers are masked; chats are kept for 90 days and are never used to train models. The design follows the Data Privacy Act and NPC Advisory 2024-04.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Point to the Starter tier.
The business model is B2B software-as-a-service. The seller pays, not the buyer. There is a free tier so sellers can try it, a Starter tier at 499 pesos a month for most micro sellers, and a Growth tier at 1,299 pesos for busier shops. These are planning figures, and my survey asks sellers what they would actually pay.
To keep it sustainable, simple FAQ matches skip the AI completely, and each tier has a usage limit. The first market would be sellers who finished DTI and DICT digital-selling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Point to 90% and 100%.
These are my evaluation targets. At least 90 percent accuracy, replies within five seconds, a usability score of at least 70, satisfaction of at least 4 out of 5, and 100 percent of critical cases sent to a person. I also set a language target: the accuracy gap between English, Filipino, and Taglish should be no more than 10 points.
I will test with 120 questions, 40 per language, and the correct answers are written down before testing. I want to be clear: these are targets. No results are claimed until the prototype is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Survey A, Survey B, then the channels.
For data collection, I prepared two instruments. Survey A is for sellers, before building. It starts with a screening question so only businesses that sell online are included. Survey B is the evaluation after testing, including the System Usability Scale.
To reach sellers, I prepared a request letter to DTI, DICT-CAR, and the Baguio City office, asking them to forward the survey. I am not asking for any participant lists, in line with the Data Privacy Act. I'll also reach sellers through local Facebook groups, bazaars, and referrals. The next step is your approval of these instruments, 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Slow down here.
To conclude. Small sellers in Baguio and Benguet are being encouraged to sell online, and answering customers is becoming a daily burden for one- or two-person shops. My design answers only from the owner's records, works in Taglish, and hands off to staff when it should. Of the four options, it was the only one that gave owners control over the facts while still reducing their workload. The AI is a helper, not a decision-maker.
My recommendations are: build and test the prototype, and report results only after testing; confirm the requirements with sellers before the second sprint; keep the escalation rules strict at the start; add Messenger integration next; and work with DTI and DICT as a follow-up to their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Do not read this slide.
These are my main references. The complete list of thirty sources, in ACM format, is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Say the quote slowly, then open the floor.
I'll end with the one idea behind the whole design: the owner's records, not the AI's general knowledge, decide what customers are told.
Maraming salamat po. I'm happy to answer your questions and hear your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877824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94760"/>
            <a:ext cx="10698480" cy="2011680"/>
          </a:xfrm>
          <a:prstGeom prst="rect">
            <a:avLst/>
          </a:prstGeom>
          <a:noFill/>
          <a:ln/>
        </p:spPr>
        <p:txBody>
          <a:bodyPr wrap="square" rtlCol="0"/>
          <a:lstStyle>
            <a:lvl1pPr algn="l" indent="0" marL="0">
              <a:buNone/>
              <a:defRPr lang="en-US" sz="1800" dirty="0">
                <a:solidFill>
                  <a:srgbClr val="CFE0D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rgbClr val="7A8A82"/>
                </a:solidFill>
              </a:rPr>
              <a:t>Lagera  |  MITO 611 Research Project</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8778240" cy="182880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Design of an AI-Assisted Customer Support System for Micro and Small E-Commerce Businesses in Baguio City and Benguet</a:t>
            </a:r>
            <a:endParaRPr lang="en-US" sz="4000" dirty="0"/>
          </a:p>
        </p:txBody>
      </p:sp>
      <p:sp>
        <p:nvSpPr>
          <p:cNvPr id="3" name="Text 0"/>
          <p:cNvSpPr/>
          <p:nvPr>
            <p:ph idx="101" type="body" hasCustomPrompt="1"/>
          </p:nvPr>
        </p:nvSpPr>
        <p:spPr>
          <a:xfrm>
            <a:off x="731520" y="3794760"/>
            <a:ext cx="10698480" cy="2011680"/>
          </a:xfrm>
          <a:prstGeom prst="rect">
            <a:avLst/>
          </a:prstGeom>
          <a:noFill/>
          <a:ln/>
        </p:spPr>
        <p:txBody>
          <a:bodyPr wrap="square" rtlCol="0" anchor="t"/>
          <a:lstStyle/>
          <a:p>
            <a:pPr algn="l" indent="0" marL="0">
              <a:buNone/>
            </a:pPr>
            <a:r>
              <a:rPr lang="en-US" sz="1800" b="1" dirty="0">
                <a:solidFill>
                  <a:srgbClr val="FFFFFF"/>
                </a:solidFill>
              </a:rPr>
              <a:t>Jeanalyn Marie B. Lagera</a:t>
            </a:r>
            <a:endParaRPr lang="en-US" sz="1800" dirty="0"/>
          </a:p>
          <a:p>
            <a:pPr algn="l" indent="0" marL="0">
              <a:buNone/>
            </a:pPr>
            <a:r>
              <a:rPr lang="en-US" sz="1800" dirty="0">
                <a:solidFill>
                  <a:srgbClr val="CFE0D6"/>
                </a:solidFill>
              </a:rPr>
              <a:t>Mapúa University  |  MITO 611 – Advanced Web Systems and Technologies</a:t>
            </a:r>
            <a:endParaRPr lang="en-US" sz="1800" dirty="0"/>
          </a:p>
          <a:p>
            <a:pPr algn="l" indent="0" marL="0">
              <a:buNone/>
            </a:pPr>
            <a:r>
              <a:rPr lang="en-US" sz="1800" i="1" dirty="0">
                <a:solidFill>
                  <a:srgbClr val="CFE0D6"/>
                </a:solidFill>
              </a:rPr>
              <a:t>Design Project</a:t>
            </a:r>
            <a:endParaRPr lang="en-US" sz="1800" dirty="0"/>
          </a:p>
        </p:txBody>
      </p:sp>
      <p:pic>
        <p:nvPicPr>
          <p:cNvPr id="4" name="chat icon decoration" descr="preencoded.png">    </p:cNvPr>
          <p:cNvPicPr>
            <a:picLocks noChangeAspect="1"/>
          </p:cNvPicPr>
          <p:nvPr/>
        </p:nvPicPr>
        <p:blipFill>
          <a:blip r:embed="rId1"/>
          <a:stretch>
            <a:fillRect/>
          </a:stretch>
        </p:blipFill>
        <p:spPr>
          <a:xfrm>
            <a:off x="9692640" y="45720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One owner, many chats, the same questions</a:t>
            </a:r>
            <a:endParaRPr lang="en-US" sz="3200" dirty="0"/>
          </a:p>
        </p:txBody>
      </p:sp>
      <p:sp>
        <p:nvSpPr>
          <p:cNvPr id="3" name="inbox mock"/>
          <p:cNvSpPr/>
          <p:nvPr/>
        </p:nvSpPr>
        <p:spPr>
          <a:xfrm>
            <a:off x="548640" y="1371600"/>
            <a:ext cx="5120640" cy="4754880"/>
          </a:xfrm>
          <a:prstGeom prst="roundRect">
            <a:avLst>
              <a:gd name="adj" fmla="val 2308"/>
            </a:avLst>
          </a:prstGeom>
          <a:solidFill>
            <a:srgbClr val="F4F6F5"/>
          </a:solidFill>
          <a:ln w="12700">
            <a:solidFill>
              <a:srgbClr val="D5DED9"/>
            </a:solidFill>
            <a:prstDash val="solid"/>
          </a:ln>
        </p:spPr>
      </p:sp>
      <p:sp>
        <p:nvSpPr>
          <p:cNvPr id="4" name="Text 2"/>
          <p:cNvSpPr txBox="1"/>
          <p:nvPr/>
        </p:nvSpPr>
        <p:spPr>
          <a:xfrm>
            <a:off x="822960" y="1554480"/>
            <a:ext cx="4114800" cy="365760"/>
          </a:xfrm>
          <a:prstGeom prst="rect">
            <a:avLst/>
          </a:prstGeom>
          <a:noFill/>
          <a:ln/>
        </p:spPr>
        <p:txBody>
          <a:bodyPr wrap="square" lIns="0" tIns="0" rIns="0" bIns="0" rtlCol="0" anchor="t"/>
          <a:lstStyle/>
          <a:p>
            <a:pPr indent="0" marL="0">
              <a:buNone/>
            </a:pPr>
            <a:r>
              <a:rPr lang="en-US" sz="1400" b="1" dirty="0">
                <a:solidFill>
                  <a:schemeClr val="accent1"/>
                </a:solidFill>
              </a:rPr>
              <a:t>Shop page inbox</a:t>
            </a:r>
            <a:endParaRPr lang="en-US" sz="1400" dirty="0"/>
          </a:p>
        </p:txBody>
      </p:sp>
      <p:sp>
        <p:nvSpPr>
          <p:cNvPr id="5" name="message 1"/>
          <p:cNvSpPr/>
          <p:nvPr/>
        </p:nvSpPr>
        <p:spPr>
          <a:xfrm>
            <a:off x="822960" y="2057400"/>
            <a:ext cx="4480560" cy="530352"/>
          </a:xfrm>
          <a:prstGeom prst="roundRect">
            <a:avLst>
              <a:gd name="adj" fmla="val 17241"/>
            </a:avLst>
          </a:prstGeom>
          <a:solidFill>
            <a:srgbClr val="FFFFFF"/>
          </a:solidFill>
          <a:ln w="12700">
            <a:solidFill>
              <a:srgbClr val="D5DED9"/>
            </a:solidFill>
            <a:prstDash val="solid"/>
          </a:ln>
        </p:spPr>
      </p:sp>
      <p:sp>
        <p:nvSpPr>
          <p:cNvPr id="6" name="Text 4"/>
          <p:cNvSpPr txBox="1"/>
          <p:nvPr/>
        </p:nvSpPr>
        <p:spPr>
          <a:xfrm>
            <a:off x="1005840" y="2112264"/>
            <a:ext cx="3291840" cy="420624"/>
          </a:xfrm>
          <a:prstGeom prst="rect">
            <a:avLst/>
          </a:prstGeom>
          <a:noFill/>
          <a:ln/>
        </p:spPr>
        <p:txBody>
          <a:bodyPr wrap="square" lIns="0" tIns="0" rIns="0" bIns="0" rtlCol="0" anchor="ctr"/>
          <a:lstStyle/>
          <a:p>
            <a:pPr indent="0" marL="0">
              <a:buNone/>
            </a:pPr>
            <a:r>
              <a:rPr lang="en-US" sz="1400" dirty="0">
                <a:solidFill>
                  <a:schemeClr val="tx1"/>
                </a:solidFill>
              </a:rPr>
              <a:t>Hi po, avail pa?</a:t>
            </a:r>
            <a:endParaRPr lang="en-US" sz="1400" dirty="0"/>
          </a:p>
        </p:txBody>
      </p:sp>
      <p:sp>
        <p:nvSpPr>
          <p:cNvPr id="7" name="Text 5"/>
          <p:cNvSpPr txBox="1"/>
          <p:nvPr/>
        </p:nvSpPr>
        <p:spPr>
          <a:xfrm>
            <a:off x="4389120" y="2112264"/>
            <a:ext cx="777240" cy="420624"/>
          </a:xfrm>
          <a:prstGeom prst="rect">
            <a:avLst/>
          </a:prstGeom>
          <a:noFill/>
          <a:ln/>
        </p:spPr>
        <p:txBody>
          <a:bodyPr wrap="square" lIns="0" tIns="0" rIns="0" bIns="0" rtlCol="0" anchor="ctr"/>
          <a:lstStyle/>
          <a:p>
            <a:pPr algn="r" indent="0" marL="0">
              <a:buNone/>
            </a:pPr>
            <a:r>
              <a:rPr lang="en-US" sz="1000" b="1" dirty="0">
                <a:solidFill>
                  <a:schemeClr val="accent2"/>
                </a:solidFill>
              </a:rPr>
              <a:t>unread</a:t>
            </a:r>
            <a:endParaRPr lang="en-US" sz="1000" dirty="0"/>
          </a:p>
        </p:txBody>
      </p:sp>
      <p:sp>
        <p:nvSpPr>
          <p:cNvPr id="8" name="message 2"/>
          <p:cNvSpPr/>
          <p:nvPr/>
        </p:nvSpPr>
        <p:spPr>
          <a:xfrm>
            <a:off x="822960" y="2715768"/>
            <a:ext cx="4480560" cy="530352"/>
          </a:xfrm>
          <a:prstGeom prst="roundRect">
            <a:avLst>
              <a:gd name="adj" fmla="val 17241"/>
            </a:avLst>
          </a:prstGeom>
          <a:solidFill>
            <a:srgbClr val="FFFFFF"/>
          </a:solidFill>
          <a:ln w="12700">
            <a:solidFill>
              <a:srgbClr val="D5DED9"/>
            </a:solidFill>
            <a:prstDash val="solid"/>
          </a:ln>
        </p:spPr>
      </p:sp>
      <p:sp>
        <p:nvSpPr>
          <p:cNvPr id="9" name="Text 7"/>
          <p:cNvSpPr txBox="1"/>
          <p:nvPr/>
        </p:nvSpPr>
        <p:spPr>
          <a:xfrm>
            <a:off x="1005840" y="2770632"/>
            <a:ext cx="3291840" cy="420624"/>
          </a:xfrm>
          <a:prstGeom prst="rect">
            <a:avLst/>
          </a:prstGeom>
          <a:noFill/>
          <a:ln/>
        </p:spPr>
        <p:txBody>
          <a:bodyPr wrap="square" lIns="0" tIns="0" rIns="0" bIns="0" rtlCol="0" anchor="ctr"/>
          <a:lstStyle/>
          <a:p>
            <a:pPr indent="0" marL="0">
              <a:buNone/>
            </a:pPr>
            <a:r>
              <a:rPr lang="en-US" sz="1400" dirty="0">
                <a:solidFill>
                  <a:schemeClr val="tx1"/>
                </a:solidFill>
              </a:rPr>
              <a:t>hm po?</a:t>
            </a:r>
            <a:endParaRPr lang="en-US" sz="1400" dirty="0"/>
          </a:p>
        </p:txBody>
      </p:sp>
      <p:sp>
        <p:nvSpPr>
          <p:cNvPr id="10" name="Text 8"/>
          <p:cNvSpPr txBox="1"/>
          <p:nvPr/>
        </p:nvSpPr>
        <p:spPr>
          <a:xfrm>
            <a:off x="4389120" y="2770632"/>
            <a:ext cx="777240" cy="420624"/>
          </a:xfrm>
          <a:prstGeom prst="rect">
            <a:avLst/>
          </a:prstGeom>
          <a:noFill/>
          <a:ln/>
        </p:spPr>
        <p:txBody>
          <a:bodyPr wrap="square" lIns="0" tIns="0" rIns="0" bIns="0" rtlCol="0" anchor="ctr"/>
          <a:lstStyle/>
          <a:p>
            <a:pPr algn="r" indent="0" marL="0">
              <a:buNone/>
            </a:pPr>
            <a:r>
              <a:rPr lang="en-US" sz="1000" b="1" dirty="0">
                <a:solidFill>
                  <a:schemeClr val="accent2"/>
                </a:solidFill>
              </a:rPr>
              <a:t>unread</a:t>
            </a:r>
            <a:endParaRPr lang="en-US" sz="1000" dirty="0"/>
          </a:p>
        </p:txBody>
      </p:sp>
      <p:sp>
        <p:nvSpPr>
          <p:cNvPr id="11" name="message 3"/>
          <p:cNvSpPr/>
          <p:nvPr/>
        </p:nvSpPr>
        <p:spPr>
          <a:xfrm>
            <a:off x="822960" y="3374136"/>
            <a:ext cx="4480560" cy="530352"/>
          </a:xfrm>
          <a:prstGeom prst="roundRect">
            <a:avLst>
              <a:gd name="adj" fmla="val 17241"/>
            </a:avLst>
          </a:prstGeom>
          <a:solidFill>
            <a:srgbClr val="FFFFFF"/>
          </a:solidFill>
          <a:ln w="12700">
            <a:solidFill>
              <a:srgbClr val="D5DED9"/>
            </a:solidFill>
            <a:prstDash val="solid"/>
          </a:ln>
        </p:spPr>
      </p:sp>
      <p:sp>
        <p:nvSpPr>
          <p:cNvPr id="12" name="Text 10"/>
          <p:cNvSpPr txBox="1"/>
          <p:nvPr/>
        </p:nvSpPr>
        <p:spPr>
          <a:xfrm>
            <a:off x="1005840" y="3429000"/>
            <a:ext cx="3291840" cy="420624"/>
          </a:xfrm>
          <a:prstGeom prst="rect">
            <a:avLst/>
          </a:prstGeom>
          <a:noFill/>
          <a:ln/>
        </p:spPr>
        <p:txBody>
          <a:bodyPr wrap="square" lIns="0" tIns="0" rIns="0" bIns="0" rtlCol="0" anchor="ctr"/>
          <a:lstStyle/>
          <a:p>
            <a:pPr indent="0" marL="0">
              <a:buNone/>
            </a:pPr>
            <a:r>
              <a:rPr lang="en-US" sz="1400" dirty="0">
                <a:solidFill>
                  <a:schemeClr val="tx1"/>
                </a:solidFill>
              </a:rPr>
              <a:t>COD po ba?</a:t>
            </a:r>
            <a:endParaRPr lang="en-US" sz="1400" dirty="0"/>
          </a:p>
        </p:txBody>
      </p:sp>
      <p:sp>
        <p:nvSpPr>
          <p:cNvPr id="13" name="Text 11"/>
          <p:cNvSpPr txBox="1"/>
          <p:nvPr/>
        </p:nvSpPr>
        <p:spPr>
          <a:xfrm>
            <a:off x="4389120" y="3429000"/>
            <a:ext cx="777240" cy="420624"/>
          </a:xfrm>
          <a:prstGeom prst="rect">
            <a:avLst/>
          </a:prstGeom>
          <a:noFill/>
          <a:ln/>
        </p:spPr>
        <p:txBody>
          <a:bodyPr wrap="square" lIns="0" tIns="0" rIns="0" bIns="0" rtlCol="0" anchor="ctr"/>
          <a:lstStyle/>
          <a:p>
            <a:pPr algn="r" indent="0" marL="0">
              <a:buNone/>
            </a:pPr>
            <a:r>
              <a:rPr lang="en-US" sz="1000" b="1" dirty="0">
                <a:solidFill>
                  <a:schemeClr val="accent2"/>
                </a:solidFill>
              </a:rPr>
              <a:t>unread</a:t>
            </a:r>
            <a:endParaRPr lang="en-US" sz="1000" dirty="0"/>
          </a:p>
        </p:txBody>
      </p:sp>
      <p:sp>
        <p:nvSpPr>
          <p:cNvPr id="14" name="message 4"/>
          <p:cNvSpPr/>
          <p:nvPr/>
        </p:nvSpPr>
        <p:spPr>
          <a:xfrm>
            <a:off x="822960" y="4032504"/>
            <a:ext cx="4480560" cy="530352"/>
          </a:xfrm>
          <a:prstGeom prst="roundRect">
            <a:avLst>
              <a:gd name="adj" fmla="val 17241"/>
            </a:avLst>
          </a:prstGeom>
          <a:solidFill>
            <a:srgbClr val="FFFFFF"/>
          </a:solidFill>
          <a:ln w="12700">
            <a:solidFill>
              <a:srgbClr val="D5DED9"/>
            </a:solidFill>
            <a:prstDash val="solid"/>
          </a:ln>
        </p:spPr>
      </p:sp>
      <p:sp>
        <p:nvSpPr>
          <p:cNvPr id="15" name="Text 13"/>
          <p:cNvSpPr txBox="1"/>
          <p:nvPr/>
        </p:nvSpPr>
        <p:spPr>
          <a:xfrm>
            <a:off x="1005840" y="4087368"/>
            <a:ext cx="3291840" cy="420624"/>
          </a:xfrm>
          <a:prstGeom prst="rect">
            <a:avLst/>
          </a:prstGeom>
          <a:noFill/>
          <a:ln/>
        </p:spPr>
        <p:txBody>
          <a:bodyPr wrap="square" lIns="0" tIns="0" rIns="0" bIns="0" rtlCol="0" anchor="ctr"/>
          <a:lstStyle/>
          <a:p>
            <a:pPr indent="0" marL="0">
              <a:buNone/>
            </a:pPr>
            <a:r>
              <a:rPr lang="en-US" sz="1400" dirty="0">
                <a:solidFill>
                  <a:schemeClr val="tx1"/>
                </a:solidFill>
              </a:rPr>
              <a:t>Ilang days delivery sa La Trinidad?</a:t>
            </a:r>
            <a:endParaRPr lang="en-US" sz="1400" dirty="0"/>
          </a:p>
        </p:txBody>
      </p:sp>
      <p:sp>
        <p:nvSpPr>
          <p:cNvPr id="16" name="Text 14"/>
          <p:cNvSpPr txBox="1"/>
          <p:nvPr/>
        </p:nvSpPr>
        <p:spPr>
          <a:xfrm>
            <a:off x="4389120" y="4087368"/>
            <a:ext cx="777240" cy="420624"/>
          </a:xfrm>
          <a:prstGeom prst="rect">
            <a:avLst/>
          </a:prstGeom>
          <a:noFill/>
          <a:ln/>
        </p:spPr>
        <p:txBody>
          <a:bodyPr wrap="square" lIns="0" tIns="0" rIns="0" bIns="0" rtlCol="0" anchor="ctr"/>
          <a:lstStyle/>
          <a:p>
            <a:pPr algn="r" indent="0" marL="0">
              <a:buNone/>
            </a:pPr>
            <a:r>
              <a:rPr lang="en-US" sz="1000" b="1" dirty="0">
                <a:solidFill>
                  <a:schemeClr val="accent2"/>
                </a:solidFill>
              </a:rPr>
              <a:t>unread</a:t>
            </a:r>
            <a:endParaRPr lang="en-US" sz="1000" dirty="0"/>
          </a:p>
        </p:txBody>
      </p:sp>
      <p:sp>
        <p:nvSpPr>
          <p:cNvPr id="17" name="message 5"/>
          <p:cNvSpPr/>
          <p:nvPr/>
        </p:nvSpPr>
        <p:spPr>
          <a:xfrm>
            <a:off x="822960" y="4690872"/>
            <a:ext cx="4480560" cy="530352"/>
          </a:xfrm>
          <a:prstGeom prst="roundRect">
            <a:avLst>
              <a:gd name="adj" fmla="val 17241"/>
            </a:avLst>
          </a:prstGeom>
          <a:solidFill>
            <a:srgbClr val="FFFFFF"/>
          </a:solidFill>
          <a:ln w="12700">
            <a:solidFill>
              <a:srgbClr val="D5DED9"/>
            </a:solidFill>
            <a:prstDash val="solid"/>
          </a:ln>
        </p:spPr>
      </p:sp>
      <p:sp>
        <p:nvSpPr>
          <p:cNvPr id="18" name="Text 16"/>
          <p:cNvSpPr txBox="1"/>
          <p:nvPr/>
        </p:nvSpPr>
        <p:spPr>
          <a:xfrm>
            <a:off x="1005840" y="4745736"/>
            <a:ext cx="3291840" cy="420624"/>
          </a:xfrm>
          <a:prstGeom prst="rect">
            <a:avLst/>
          </a:prstGeom>
          <a:noFill/>
          <a:ln/>
        </p:spPr>
        <p:txBody>
          <a:bodyPr wrap="square" lIns="0" tIns="0" rIns="0" bIns="0" rtlCol="0" anchor="ctr"/>
          <a:lstStyle/>
          <a:p>
            <a:pPr indent="0" marL="0">
              <a:buNone/>
            </a:pPr>
            <a:r>
              <a:rPr lang="en-US" sz="1400" dirty="0">
                <a:solidFill>
                  <a:schemeClr val="tx1"/>
                </a:solidFill>
              </a:rPr>
              <a:t>Pwede po ba i-return?</a:t>
            </a:r>
            <a:endParaRPr lang="en-US" sz="1400" dirty="0"/>
          </a:p>
        </p:txBody>
      </p:sp>
      <p:sp>
        <p:nvSpPr>
          <p:cNvPr id="19" name="Text 17"/>
          <p:cNvSpPr txBox="1"/>
          <p:nvPr/>
        </p:nvSpPr>
        <p:spPr>
          <a:xfrm>
            <a:off x="4389120" y="4745736"/>
            <a:ext cx="777240" cy="420624"/>
          </a:xfrm>
          <a:prstGeom prst="rect">
            <a:avLst/>
          </a:prstGeom>
          <a:noFill/>
          <a:ln/>
        </p:spPr>
        <p:txBody>
          <a:bodyPr wrap="square" lIns="0" tIns="0" rIns="0" bIns="0" rtlCol="0" anchor="ctr"/>
          <a:lstStyle/>
          <a:p>
            <a:pPr algn="r" indent="0" marL="0">
              <a:buNone/>
            </a:pPr>
            <a:r>
              <a:rPr lang="en-US" sz="1000" b="1" dirty="0">
                <a:solidFill>
                  <a:schemeClr val="accent2"/>
                </a:solidFill>
              </a:rPr>
              <a:t>unread</a:t>
            </a:r>
            <a:endParaRPr lang="en-US" sz="1000" dirty="0"/>
          </a:p>
        </p:txBody>
      </p:sp>
      <p:sp>
        <p:nvSpPr>
          <p:cNvPr id="20" name="message 6"/>
          <p:cNvSpPr/>
          <p:nvPr/>
        </p:nvSpPr>
        <p:spPr>
          <a:xfrm>
            <a:off x="822960" y="5349240"/>
            <a:ext cx="4480560" cy="530352"/>
          </a:xfrm>
          <a:prstGeom prst="roundRect">
            <a:avLst>
              <a:gd name="adj" fmla="val 17241"/>
            </a:avLst>
          </a:prstGeom>
          <a:solidFill>
            <a:srgbClr val="FFFFFF"/>
          </a:solidFill>
          <a:ln w="12700">
            <a:solidFill>
              <a:srgbClr val="D5DED9"/>
            </a:solidFill>
            <a:prstDash val="solid"/>
          </a:ln>
        </p:spPr>
      </p:sp>
      <p:sp>
        <p:nvSpPr>
          <p:cNvPr id="21" name="Text 19"/>
          <p:cNvSpPr txBox="1"/>
          <p:nvPr/>
        </p:nvSpPr>
        <p:spPr>
          <a:xfrm>
            <a:off x="1005840" y="5404104"/>
            <a:ext cx="3291840" cy="420624"/>
          </a:xfrm>
          <a:prstGeom prst="rect">
            <a:avLst/>
          </a:prstGeom>
          <a:noFill/>
          <a:ln/>
        </p:spPr>
        <p:txBody>
          <a:bodyPr wrap="square" lIns="0" tIns="0" rIns="0" bIns="0" rtlCol="0" anchor="ctr"/>
          <a:lstStyle/>
          <a:p>
            <a:pPr indent="0" marL="0">
              <a:buNone/>
            </a:pPr>
            <a:r>
              <a:rPr lang="en-US" sz="1400" dirty="0">
                <a:solidFill>
                  <a:schemeClr val="tx1"/>
                </a:solidFill>
              </a:rPr>
              <a:t>avail pa po medium?</a:t>
            </a:r>
            <a:endParaRPr lang="en-US" sz="1400" dirty="0"/>
          </a:p>
        </p:txBody>
      </p:sp>
      <p:sp>
        <p:nvSpPr>
          <p:cNvPr id="22" name="Text 20"/>
          <p:cNvSpPr txBox="1"/>
          <p:nvPr/>
        </p:nvSpPr>
        <p:spPr>
          <a:xfrm>
            <a:off x="4389120" y="5404104"/>
            <a:ext cx="777240" cy="420624"/>
          </a:xfrm>
          <a:prstGeom prst="rect">
            <a:avLst/>
          </a:prstGeom>
          <a:noFill/>
          <a:ln/>
        </p:spPr>
        <p:txBody>
          <a:bodyPr wrap="square" lIns="0" tIns="0" rIns="0" bIns="0" rtlCol="0" anchor="ctr"/>
          <a:lstStyle/>
          <a:p>
            <a:pPr algn="r" indent="0" marL="0">
              <a:buNone/>
            </a:pPr>
            <a:r>
              <a:rPr lang="en-US" sz="1000" b="1" dirty="0">
                <a:solidFill>
                  <a:schemeClr val="accent2"/>
                </a:solidFill>
              </a:rPr>
              <a:t>unread</a:t>
            </a:r>
            <a:endParaRPr lang="en-US" sz="1000" dirty="0"/>
          </a:p>
        </p:txBody>
      </p:sp>
      <p:sp>
        <p:nvSpPr>
          <p:cNvPr id="23" name="Time icon circle"/>
          <p:cNvSpPr/>
          <p:nvPr/>
        </p:nvSpPr>
        <p:spPr>
          <a:xfrm>
            <a:off x="6217920" y="1463040"/>
            <a:ext cx="685800" cy="685800"/>
          </a:xfrm>
          <a:prstGeom prst="ellipse">
            <a:avLst/>
          </a:prstGeom>
          <a:solidFill>
            <a:schemeClr val="accent2"/>
          </a:solidFill>
          <a:ln w="12700">
            <a:solidFill>
              <a:schemeClr val="accent2"/>
            </a:solidFill>
            <a:prstDash val="solid"/>
          </a:ln>
        </p:spPr>
      </p:sp>
      <p:pic>
        <p:nvPicPr>
          <p:cNvPr id="24" name="Time icon" descr="preencoded.png">    </p:cNvPr>
          <p:cNvPicPr>
            <a:picLocks noChangeAspect="1"/>
          </p:cNvPicPr>
          <p:nvPr/>
        </p:nvPicPr>
        <p:blipFill>
          <a:blip r:embed="rId1"/>
          <a:stretch>
            <a:fillRect/>
          </a:stretch>
        </p:blipFill>
        <p:spPr>
          <a:xfrm>
            <a:off x="6382512" y="1627632"/>
            <a:ext cx="356616" cy="356616"/>
          </a:xfrm>
          <a:prstGeom prst="rect">
            <a:avLst/>
          </a:prstGeom>
        </p:spPr>
      </p:pic>
      <p:sp>
        <p:nvSpPr>
          <p:cNvPr id="25" name="Text 22"/>
          <p:cNvSpPr txBox="1"/>
          <p:nvPr/>
        </p:nvSpPr>
        <p:spPr>
          <a:xfrm>
            <a:off x="7132320" y="146304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Time</a:t>
            </a:r>
            <a:endParaRPr lang="en-US" sz="1800" dirty="0"/>
          </a:p>
        </p:txBody>
      </p:sp>
      <p:sp>
        <p:nvSpPr>
          <p:cNvPr id="26" name="Text 23"/>
          <p:cNvSpPr txBox="1"/>
          <p:nvPr/>
        </p:nvSpPr>
        <p:spPr>
          <a:xfrm>
            <a:off x="7132320" y="1874520"/>
            <a:ext cx="4480560" cy="822960"/>
          </a:xfrm>
          <a:prstGeom prst="rect">
            <a:avLst/>
          </a:prstGeom>
          <a:noFill/>
          <a:ln/>
        </p:spPr>
        <p:txBody>
          <a:bodyPr wrap="square" lIns="0" tIns="0" rIns="0" bIns="0" rtlCol="0" anchor="t"/>
          <a:lstStyle/>
          <a:p>
            <a:pPr indent="0" marL="0">
              <a:buNone/>
            </a:pPr>
            <a:r>
              <a:rPr lang="en-US" sz="1500" dirty="0">
                <a:solidFill>
                  <a:schemeClr val="tx1"/>
                </a:solidFill>
              </a:rPr>
              <a:t>The owner who packs, restocks and books couriers also types the same answers all day.</a:t>
            </a:r>
            <a:endParaRPr lang="en-US" sz="1500" dirty="0"/>
          </a:p>
        </p:txBody>
      </p:sp>
      <p:sp>
        <p:nvSpPr>
          <p:cNvPr id="27" name="Consistency icon circle"/>
          <p:cNvSpPr/>
          <p:nvPr/>
        </p:nvSpPr>
        <p:spPr>
          <a:xfrm>
            <a:off x="6217920" y="2880360"/>
            <a:ext cx="685800" cy="685800"/>
          </a:xfrm>
          <a:prstGeom prst="ellipse">
            <a:avLst/>
          </a:prstGeom>
          <a:solidFill>
            <a:schemeClr val="accent2"/>
          </a:solidFill>
          <a:ln w="12700">
            <a:solidFill>
              <a:schemeClr val="accent2"/>
            </a:solidFill>
            <a:prstDash val="solid"/>
          </a:ln>
        </p:spPr>
      </p:sp>
      <p:pic>
        <p:nvPicPr>
          <p:cNvPr id="28" name="Consistency icon" descr="preencoded.png">    </p:cNvPr>
          <p:cNvPicPr>
            <a:picLocks noChangeAspect="1"/>
          </p:cNvPicPr>
          <p:nvPr/>
        </p:nvPicPr>
        <p:blipFill>
          <a:blip r:embed="rId2"/>
          <a:stretch>
            <a:fillRect/>
          </a:stretch>
        </p:blipFill>
        <p:spPr>
          <a:xfrm>
            <a:off x="6382512" y="3044952"/>
            <a:ext cx="356616" cy="356616"/>
          </a:xfrm>
          <a:prstGeom prst="rect">
            <a:avLst/>
          </a:prstGeom>
        </p:spPr>
      </p:pic>
      <p:sp>
        <p:nvSpPr>
          <p:cNvPr id="29" name="Text 25"/>
          <p:cNvSpPr txBox="1"/>
          <p:nvPr/>
        </p:nvSpPr>
        <p:spPr>
          <a:xfrm>
            <a:off x="7132320" y="288036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Consistency</a:t>
            </a:r>
            <a:endParaRPr lang="en-US" sz="1800" dirty="0"/>
          </a:p>
        </p:txBody>
      </p:sp>
      <p:sp>
        <p:nvSpPr>
          <p:cNvPr id="30" name="Text 26"/>
          <p:cNvSpPr txBox="1"/>
          <p:nvPr/>
        </p:nvSpPr>
        <p:spPr>
          <a:xfrm>
            <a:off x="7132320" y="3291840"/>
            <a:ext cx="4480560" cy="822960"/>
          </a:xfrm>
          <a:prstGeom prst="rect">
            <a:avLst/>
          </a:prstGeom>
          <a:noFill/>
          <a:ln/>
        </p:spPr>
        <p:txBody>
          <a:bodyPr wrap="square" lIns="0" tIns="0" rIns="0" bIns="0" rtlCol="0" anchor="t"/>
          <a:lstStyle/>
          <a:p>
            <a:pPr indent="0" marL="0">
              <a:buNone/>
            </a:pPr>
            <a:r>
              <a:rPr lang="en-US" sz="1500" dirty="0">
                <a:solidFill>
                  <a:schemeClr val="tx1"/>
                </a:solidFill>
              </a:rPr>
              <a:t>Prices, stock and rules change. Replies typed from memory go out of date.</a:t>
            </a:r>
            <a:endParaRPr lang="en-US" sz="1500" dirty="0"/>
          </a:p>
        </p:txBody>
      </p:sp>
      <p:sp>
        <p:nvSpPr>
          <p:cNvPr id="31" name="After hours icon circle"/>
          <p:cNvSpPr/>
          <p:nvPr/>
        </p:nvSpPr>
        <p:spPr>
          <a:xfrm>
            <a:off x="6217920" y="4297680"/>
            <a:ext cx="685800" cy="685800"/>
          </a:xfrm>
          <a:prstGeom prst="ellipse">
            <a:avLst/>
          </a:prstGeom>
          <a:solidFill>
            <a:schemeClr val="accent2"/>
          </a:solidFill>
          <a:ln w="12700">
            <a:solidFill>
              <a:schemeClr val="accent2"/>
            </a:solidFill>
            <a:prstDash val="solid"/>
          </a:ln>
        </p:spPr>
      </p:sp>
      <p:pic>
        <p:nvPicPr>
          <p:cNvPr id="32" name="After hours icon" descr="preencoded.png">    </p:cNvPr>
          <p:cNvPicPr>
            <a:picLocks noChangeAspect="1"/>
          </p:cNvPicPr>
          <p:nvPr/>
        </p:nvPicPr>
        <p:blipFill>
          <a:blip r:embed="rId3"/>
          <a:stretch>
            <a:fillRect/>
          </a:stretch>
        </p:blipFill>
        <p:spPr>
          <a:xfrm>
            <a:off x="6382512" y="4462272"/>
            <a:ext cx="356616" cy="356616"/>
          </a:xfrm>
          <a:prstGeom prst="rect">
            <a:avLst/>
          </a:prstGeom>
        </p:spPr>
      </p:pic>
      <p:sp>
        <p:nvSpPr>
          <p:cNvPr id="33" name="Text 28"/>
          <p:cNvSpPr txBox="1"/>
          <p:nvPr/>
        </p:nvSpPr>
        <p:spPr>
          <a:xfrm>
            <a:off x="7132320" y="429768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After hours</a:t>
            </a:r>
            <a:endParaRPr lang="en-US" sz="1800" dirty="0"/>
          </a:p>
        </p:txBody>
      </p:sp>
      <p:sp>
        <p:nvSpPr>
          <p:cNvPr id="34" name="Text 29"/>
          <p:cNvSpPr txBox="1"/>
          <p:nvPr/>
        </p:nvSpPr>
        <p:spPr>
          <a:xfrm>
            <a:off x="7132320" y="4709160"/>
            <a:ext cx="4480560" cy="822960"/>
          </a:xfrm>
          <a:prstGeom prst="rect">
            <a:avLst/>
          </a:prstGeom>
          <a:noFill/>
          <a:ln/>
        </p:spPr>
        <p:txBody>
          <a:bodyPr wrap="square" lIns="0" tIns="0" rIns="0" bIns="0" rtlCol="0" anchor="t"/>
          <a:lstStyle/>
          <a:p>
            <a:pPr indent="0" marL="0">
              <a:buNone/>
            </a:pPr>
            <a:r>
              <a:rPr lang="en-US" sz="1500" dirty="0">
                <a:solidFill>
                  <a:schemeClr val="tx1"/>
                </a:solidFill>
              </a:rPr>
              <a:t>Customers message at night. Late replies can mean lost sales.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Online selling is now ordinary in the Philippines</a:t>
            </a:r>
            <a:endParaRPr lang="en-US" sz="3200" dirty="0"/>
          </a:p>
        </p:txBody>
      </p:sp>
      <p:sp>
        <p:nvSpPr>
          <p:cNvPr id="3" name="stat card 1"/>
          <p:cNvSpPr/>
          <p:nvPr/>
        </p:nvSpPr>
        <p:spPr>
          <a:xfrm>
            <a:off x="548640" y="1417320"/>
            <a:ext cx="5440680" cy="219456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868680" y="1645920"/>
            <a:ext cx="484632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99.63%</a:t>
            </a:r>
            <a:endParaRPr lang="en-US" sz="5400" dirty="0"/>
          </a:p>
        </p:txBody>
      </p:sp>
      <p:sp>
        <p:nvSpPr>
          <p:cNvPr id="5" name="Text 3"/>
          <p:cNvSpPr txBox="1"/>
          <p:nvPr/>
        </p:nvSpPr>
        <p:spPr>
          <a:xfrm>
            <a:off x="868680" y="2560320"/>
            <a:ext cx="4846320" cy="640080"/>
          </a:xfrm>
          <a:prstGeom prst="rect">
            <a:avLst/>
          </a:prstGeom>
          <a:noFill/>
          <a:ln/>
        </p:spPr>
        <p:txBody>
          <a:bodyPr wrap="square" lIns="0" tIns="0" rIns="0" bIns="0" rtlCol="0" anchor="t"/>
          <a:lstStyle/>
          <a:p>
            <a:pPr indent="0" marL="0">
              <a:buNone/>
            </a:pPr>
            <a:r>
              <a:rPr lang="en-US" sz="1600" dirty="0">
                <a:solidFill>
                  <a:schemeClr val="tx1"/>
                </a:solidFill>
              </a:rPr>
              <a:t>of business establishments are MSMEs</a:t>
            </a:r>
            <a:endParaRPr lang="en-US" sz="1600" dirty="0"/>
          </a:p>
        </p:txBody>
      </p:sp>
      <p:sp>
        <p:nvSpPr>
          <p:cNvPr id="6" name="Text 4"/>
          <p:cNvSpPr txBox="1"/>
          <p:nvPr/>
        </p:nvSpPr>
        <p:spPr>
          <a:xfrm>
            <a:off x="868680" y="3200400"/>
            <a:ext cx="4846320" cy="274320"/>
          </a:xfrm>
          <a:prstGeom prst="rect">
            <a:avLst/>
          </a:prstGeom>
          <a:noFill/>
          <a:ln/>
        </p:spPr>
        <p:txBody>
          <a:bodyPr wrap="square" lIns="0" tIns="0" rIns="0" bIns="0" rtlCol="0" anchor="t"/>
          <a:lstStyle/>
          <a:p>
            <a:pPr indent="0" marL="0">
              <a:buNone/>
            </a:pPr>
            <a:r>
              <a:rPr lang="en-US" sz="1100" i="1" dirty="0">
                <a:solidFill>
                  <a:srgbClr val="5E6E66"/>
                </a:solidFill>
              </a:rPr>
              <a:t>DTI, 2023 MSME Statistics</a:t>
            </a:r>
            <a:endParaRPr lang="en-US" sz="1100" dirty="0"/>
          </a:p>
        </p:txBody>
      </p:sp>
      <p:sp>
        <p:nvSpPr>
          <p:cNvPr id="7" name="stat card 2"/>
          <p:cNvSpPr/>
          <p:nvPr/>
        </p:nvSpPr>
        <p:spPr>
          <a:xfrm>
            <a:off x="6172200" y="1417320"/>
            <a:ext cx="5440680" cy="2194560"/>
          </a:xfrm>
          <a:prstGeom prst="roundRect">
            <a:avLst>
              <a:gd name="adj" fmla="val 5000"/>
            </a:avLst>
          </a:prstGeom>
          <a:solidFill>
            <a:schemeClr val="bg2"/>
          </a:solidFill>
          <a:ln w="12700">
            <a:solidFill>
              <a:schemeClr val="bg2"/>
            </a:solidFill>
            <a:prstDash val="solid"/>
          </a:ln>
        </p:spPr>
      </p:sp>
      <p:sp>
        <p:nvSpPr>
          <p:cNvPr id="8" name="Text 6"/>
          <p:cNvSpPr txBox="1"/>
          <p:nvPr/>
        </p:nvSpPr>
        <p:spPr>
          <a:xfrm>
            <a:off x="6492240" y="1645920"/>
            <a:ext cx="484632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9.8%</a:t>
            </a:r>
            <a:endParaRPr lang="en-US" sz="5400" dirty="0"/>
          </a:p>
        </p:txBody>
      </p:sp>
      <p:sp>
        <p:nvSpPr>
          <p:cNvPr id="9" name="Text 7"/>
          <p:cNvSpPr txBox="1"/>
          <p:nvPr/>
        </p:nvSpPr>
        <p:spPr>
          <a:xfrm>
            <a:off x="6492240" y="2560320"/>
            <a:ext cx="4846320" cy="640080"/>
          </a:xfrm>
          <a:prstGeom prst="rect">
            <a:avLst/>
          </a:prstGeom>
          <a:noFill/>
          <a:ln/>
        </p:spPr>
        <p:txBody>
          <a:bodyPr wrap="square" lIns="0" tIns="0" rIns="0" bIns="0" rtlCol="0" anchor="t"/>
          <a:lstStyle/>
          <a:p>
            <a:pPr indent="0" marL="0">
              <a:buNone/>
            </a:pPr>
            <a:r>
              <a:rPr lang="en-US" sz="1600" dirty="0">
                <a:solidFill>
                  <a:schemeClr val="tx1"/>
                </a:solidFill>
              </a:rPr>
              <a:t>of GDP from the digital economy; 32.2% of it is e-commerce</a:t>
            </a:r>
            <a:endParaRPr lang="en-US" sz="1600" dirty="0"/>
          </a:p>
        </p:txBody>
      </p:sp>
      <p:sp>
        <p:nvSpPr>
          <p:cNvPr id="10" name="Text 8"/>
          <p:cNvSpPr txBox="1"/>
          <p:nvPr/>
        </p:nvSpPr>
        <p:spPr>
          <a:xfrm>
            <a:off x="6492240" y="3200400"/>
            <a:ext cx="4846320" cy="274320"/>
          </a:xfrm>
          <a:prstGeom prst="rect">
            <a:avLst/>
          </a:prstGeom>
          <a:noFill/>
          <a:ln/>
        </p:spPr>
        <p:txBody>
          <a:bodyPr wrap="square" lIns="0" tIns="0" rIns="0" bIns="0" rtlCol="0" anchor="t"/>
          <a:lstStyle/>
          <a:p>
            <a:pPr indent="0" marL="0">
              <a:buNone/>
            </a:pPr>
            <a:r>
              <a:rPr lang="en-US" sz="1100" i="1" dirty="0">
                <a:solidFill>
                  <a:srgbClr val="5E6E66"/>
                </a:solidFill>
              </a:rPr>
              <a:t>PSA, 2025 estimates</a:t>
            </a:r>
            <a:endParaRPr lang="en-US" sz="1100" dirty="0"/>
          </a:p>
        </p:txBody>
      </p:sp>
      <p:sp>
        <p:nvSpPr>
          <p:cNvPr id="11" name="stat card 3"/>
          <p:cNvSpPr/>
          <p:nvPr/>
        </p:nvSpPr>
        <p:spPr>
          <a:xfrm>
            <a:off x="548640" y="3840480"/>
            <a:ext cx="5440680" cy="2194560"/>
          </a:xfrm>
          <a:prstGeom prst="roundRect">
            <a:avLst>
              <a:gd name="adj" fmla="val 5000"/>
            </a:avLst>
          </a:prstGeom>
          <a:solidFill>
            <a:schemeClr val="bg2"/>
          </a:solidFill>
          <a:ln w="12700">
            <a:solidFill>
              <a:schemeClr val="bg2"/>
            </a:solidFill>
            <a:prstDash val="solid"/>
          </a:ln>
        </p:spPr>
      </p:sp>
      <p:sp>
        <p:nvSpPr>
          <p:cNvPr id="12" name="Text 10"/>
          <p:cNvSpPr txBox="1"/>
          <p:nvPr/>
        </p:nvSpPr>
        <p:spPr>
          <a:xfrm>
            <a:off x="868680" y="4069080"/>
            <a:ext cx="484632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94.4%</a:t>
            </a:r>
            <a:endParaRPr lang="en-US" sz="5400" dirty="0"/>
          </a:p>
        </p:txBody>
      </p:sp>
      <p:sp>
        <p:nvSpPr>
          <p:cNvPr id="13" name="Text 11"/>
          <p:cNvSpPr txBox="1"/>
          <p:nvPr/>
        </p:nvSpPr>
        <p:spPr>
          <a:xfrm>
            <a:off x="868680" y="4983480"/>
            <a:ext cx="4846320" cy="640080"/>
          </a:xfrm>
          <a:prstGeom prst="rect">
            <a:avLst/>
          </a:prstGeom>
          <a:noFill/>
          <a:ln/>
        </p:spPr>
        <p:txBody>
          <a:bodyPr wrap="square" lIns="0" tIns="0" rIns="0" bIns="0" rtlCol="0" anchor="t"/>
          <a:lstStyle/>
          <a:p>
            <a:pPr indent="0" marL="0">
              <a:buNone/>
            </a:pPr>
            <a:r>
              <a:rPr lang="en-US" sz="1600" dirty="0">
                <a:solidFill>
                  <a:schemeClr val="tx1"/>
                </a:solidFill>
              </a:rPr>
              <a:t>of online goods sellers sell through social media</a:t>
            </a:r>
            <a:endParaRPr lang="en-US" sz="1600" dirty="0"/>
          </a:p>
        </p:txBody>
      </p:sp>
      <p:sp>
        <p:nvSpPr>
          <p:cNvPr id="14" name="Text 12"/>
          <p:cNvSpPr txBox="1"/>
          <p:nvPr/>
        </p:nvSpPr>
        <p:spPr>
          <a:xfrm>
            <a:off x="868680" y="5623560"/>
            <a:ext cx="4846320" cy="274320"/>
          </a:xfrm>
          <a:prstGeom prst="rect">
            <a:avLst/>
          </a:prstGeom>
          <a:noFill/>
          <a:ln/>
        </p:spPr>
        <p:txBody>
          <a:bodyPr wrap="square" lIns="0" tIns="0" rIns="0" bIns="0" rtlCol="0" anchor="t"/>
          <a:lstStyle/>
          <a:p>
            <a:pPr indent="0" marL="0">
              <a:buNone/>
            </a:pPr>
            <a:r>
              <a:rPr lang="en-US" sz="1100" i="1" dirty="0">
                <a:solidFill>
                  <a:srgbClr val="5E6E66"/>
                </a:solidFill>
              </a:rPr>
              <a:t>PSA, 2024 NICTHS</a:t>
            </a:r>
            <a:endParaRPr lang="en-US" sz="1100" dirty="0"/>
          </a:p>
        </p:txBody>
      </p:sp>
      <p:sp>
        <p:nvSpPr>
          <p:cNvPr id="15" name="stat card 4"/>
          <p:cNvSpPr/>
          <p:nvPr/>
        </p:nvSpPr>
        <p:spPr>
          <a:xfrm>
            <a:off x="6172200" y="3840480"/>
            <a:ext cx="5440680" cy="2194560"/>
          </a:xfrm>
          <a:prstGeom prst="roundRect">
            <a:avLst>
              <a:gd name="adj" fmla="val 5000"/>
            </a:avLst>
          </a:prstGeom>
          <a:solidFill>
            <a:schemeClr val="bg2"/>
          </a:solidFill>
          <a:ln w="12700">
            <a:solidFill>
              <a:schemeClr val="bg2"/>
            </a:solidFill>
            <a:prstDash val="solid"/>
          </a:ln>
        </p:spPr>
      </p:sp>
      <p:sp>
        <p:nvSpPr>
          <p:cNvPr id="16" name="Text 14"/>
          <p:cNvSpPr txBox="1"/>
          <p:nvPr/>
        </p:nvSpPr>
        <p:spPr>
          <a:xfrm>
            <a:off x="6492240" y="4069080"/>
            <a:ext cx="484632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87.9%</a:t>
            </a:r>
            <a:endParaRPr lang="en-US" sz="5400" dirty="0"/>
          </a:p>
        </p:txBody>
      </p:sp>
      <p:sp>
        <p:nvSpPr>
          <p:cNvPr id="17" name="Text 15"/>
          <p:cNvSpPr txBox="1"/>
          <p:nvPr/>
        </p:nvSpPr>
        <p:spPr>
          <a:xfrm>
            <a:off x="6492240" y="4983480"/>
            <a:ext cx="4846320" cy="640080"/>
          </a:xfrm>
          <a:prstGeom prst="rect">
            <a:avLst/>
          </a:prstGeom>
          <a:noFill/>
          <a:ln/>
        </p:spPr>
        <p:txBody>
          <a:bodyPr wrap="square" lIns="0" tIns="0" rIns="0" bIns="0" rtlCol="0" anchor="t"/>
          <a:lstStyle/>
          <a:p>
            <a:pPr indent="0" marL="0">
              <a:buNone/>
            </a:pPr>
            <a:r>
              <a:rPr lang="en-US" sz="1600" dirty="0">
                <a:solidFill>
                  <a:schemeClr val="tx1"/>
                </a:solidFill>
              </a:rPr>
              <a:t>of online sellers accept cash on delivery</a:t>
            </a:r>
            <a:endParaRPr lang="en-US" sz="1600" dirty="0"/>
          </a:p>
        </p:txBody>
      </p:sp>
      <p:sp>
        <p:nvSpPr>
          <p:cNvPr id="18" name="Text 16"/>
          <p:cNvSpPr txBox="1"/>
          <p:nvPr/>
        </p:nvSpPr>
        <p:spPr>
          <a:xfrm>
            <a:off x="6492240" y="5623560"/>
            <a:ext cx="4846320" cy="274320"/>
          </a:xfrm>
          <a:prstGeom prst="rect">
            <a:avLst/>
          </a:prstGeom>
          <a:noFill/>
          <a:ln/>
        </p:spPr>
        <p:txBody>
          <a:bodyPr wrap="square" lIns="0" tIns="0" rIns="0" bIns="0" rtlCol="0" anchor="t"/>
          <a:lstStyle/>
          <a:p>
            <a:pPr indent="0" marL="0">
              <a:buNone/>
            </a:pPr>
            <a:r>
              <a:rPr lang="en-US" sz="1100" i="1" dirty="0">
                <a:solidFill>
                  <a:srgbClr val="5E6E66"/>
                </a:solidFill>
              </a:rPr>
              <a:t>PSA, 2024 NICTHS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Local programs are pushing sellers online</a:t>
            </a:r>
            <a:endParaRPr lang="en-US" sz="3200" dirty="0"/>
          </a:p>
        </p:txBody>
      </p:sp>
      <p:sp>
        <p:nvSpPr>
          <p:cNvPr id="3" name="timeline line"/>
          <p:cNvSpPr/>
          <p:nvPr/>
        </p:nvSpPr>
        <p:spPr>
          <a:xfrm>
            <a:off x="1097280" y="2103120"/>
            <a:ext cx="9966960" cy="0"/>
          </a:xfrm>
          <a:prstGeom prst="line">
            <a:avLst/>
          </a:prstGeom>
          <a:noFill/>
          <a:ln w="25400">
            <a:solidFill>
              <a:schemeClr val="accent3"/>
            </a:solidFill>
            <a:prstDash val="solid"/>
          </a:ln>
        </p:spPr>
      </p:sp>
      <p:sp>
        <p:nvSpPr>
          <p:cNvPr id="4" name="timeline dot 1"/>
          <p:cNvSpPr/>
          <p:nvPr/>
        </p:nvSpPr>
        <p:spPr>
          <a:xfrm>
            <a:off x="960120" y="1920240"/>
            <a:ext cx="365760" cy="365760"/>
          </a:xfrm>
          <a:prstGeom prst="ellipse">
            <a:avLst/>
          </a:prstGeom>
          <a:solidFill>
            <a:schemeClr val="accent1"/>
          </a:solidFill>
          <a:ln w="12700">
            <a:solidFill>
              <a:schemeClr val="accent1"/>
            </a:solidFill>
            <a:prstDash val="solid"/>
          </a:ln>
        </p:spPr>
      </p:sp>
      <p:sp>
        <p:nvSpPr>
          <p:cNvPr id="5" name="Text 3"/>
          <p:cNvSpPr txBox="1"/>
          <p:nvPr/>
        </p:nvSpPr>
        <p:spPr>
          <a:xfrm>
            <a:off x="548640" y="1371600"/>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Feb 2026</a:t>
            </a:r>
            <a:endParaRPr lang="en-US" sz="1800" dirty="0"/>
          </a:p>
        </p:txBody>
      </p:sp>
      <p:sp>
        <p:nvSpPr>
          <p:cNvPr id="6" name="Text 4"/>
          <p:cNvSpPr txBox="1"/>
          <p:nvPr/>
        </p:nvSpPr>
        <p:spPr>
          <a:xfrm>
            <a:off x="548640" y="2514600"/>
            <a:ext cx="2560320" cy="1463040"/>
          </a:xfrm>
          <a:prstGeom prst="rect">
            <a:avLst/>
          </a:prstGeom>
          <a:noFill/>
          <a:ln/>
        </p:spPr>
        <p:txBody>
          <a:bodyPr wrap="square" lIns="0" tIns="0" rIns="0" bIns="0" rtlCol="0" anchor="t"/>
          <a:lstStyle/>
          <a:p>
            <a:pPr indent="0" marL="0">
              <a:buNone/>
            </a:pPr>
            <a:r>
              <a:rPr lang="en-US" sz="1400" dirty="0">
                <a:solidFill>
                  <a:schemeClr val="tx1"/>
                </a:solidFill>
              </a:rPr>
              <a:t>DICT-CAR and DTI-CAR align digital-skills and e-commerce programs for Cordillera MSMEs</a:t>
            </a:r>
            <a:endParaRPr lang="en-US" sz="1400" dirty="0"/>
          </a:p>
        </p:txBody>
      </p:sp>
      <p:sp>
        <p:nvSpPr>
          <p:cNvPr id="7" name="timeline dot 2"/>
          <p:cNvSpPr/>
          <p:nvPr/>
        </p:nvSpPr>
        <p:spPr>
          <a:xfrm>
            <a:off x="3794760" y="1920240"/>
            <a:ext cx="365760" cy="365760"/>
          </a:xfrm>
          <a:prstGeom prst="ellipse">
            <a:avLst/>
          </a:prstGeom>
          <a:solidFill>
            <a:schemeClr val="accent1"/>
          </a:solidFill>
          <a:ln w="12700">
            <a:solidFill>
              <a:schemeClr val="accent1"/>
            </a:solidFill>
            <a:prstDash val="solid"/>
          </a:ln>
        </p:spPr>
      </p:sp>
      <p:sp>
        <p:nvSpPr>
          <p:cNvPr id="8" name="Text 6"/>
          <p:cNvSpPr txBox="1"/>
          <p:nvPr/>
        </p:nvSpPr>
        <p:spPr>
          <a:xfrm>
            <a:off x="3383280" y="1371600"/>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Apr 2026</a:t>
            </a:r>
            <a:endParaRPr lang="en-US" sz="1800" dirty="0"/>
          </a:p>
        </p:txBody>
      </p:sp>
      <p:sp>
        <p:nvSpPr>
          <p:cNvPr id="9" name="Text 7"/>
          <p:cNvSpPr txBox="1"/>
          <p:nvPr/>
        </p:nvSpPr>
        <p:spPr>
          <a:xfrm>
            <a:off x="3383280" y="2514600"/>
            <a:ext cx="2560320" cy="1463040"/>
          </a:xfrm>
          <a:prstGeom prst="rect">
            <a:avLst/>
          </a:prstGeom>
          <a:noFill/>
          <a:ln/>
        </p:spPr>
        <p:txBody>
          <a:bodyPr wrap="square" lIns="0" tIns="0" rIns="0" bIns="0" rtlCol="0" anchor="t"/>
          <a:lstStyle/>
          <a:p>
            <a:pPr indent="0" marL="0">
              <a:buNone/>
            </a:pPr>
            <a:r>
              <a:rPr lang="en-US" sz="1400" dirty="0">
                <a:solidFill>
                  <a:schemeClr val="tx1"/>
                </a:solidFill>
              </a:rPr>
              <a:t>DTI-CAR sets a five-point agenda and development plan for regional MSMEs</a:t>
            </a:r>
            <a:endParaRPr lang="en-US" sz="1400" dirty="0"/>
          </a:p>
        </p:txBody>
      </p:sp>
      <p:sp>
        <p:nvSpPr>
          <p:cNvPr id="10" name="timeline dot 3"/>
          <p:cNvSpPr/>
          <p:nvPr/>
        </p:nvSpPr>
        <p:spPr>
          <a:xfrm>
            <a:off x="6629400" y="1920240"/>
            <a:ext cx="365760" cy="365760"/>
          </a:xfrm>
          <a:prstGeom prst="ellipse">
            <a:avLst/>
          </a:prstGeom>
          <a:solidFill>
            <a:schemeClr val="accent1"/>
          </a:solidFill>
          <a:ln w="12700">
            <a:solidFill>
              <a:schemeClr val="accent1"/>
            </a:solidFill>
            <a:prstDash val="solid"/>
          </a:ln>
        </p:spPr>
      </p:sp>
      <p:sp>
        <p:nvSpPr>
          <p:cNvPr id="11" name="Text 9"/>
          <p:cNvSpPr txBox="1"/>
          <p:nvPr/>
        </p:nvSpPr>
        <p:spPr>
          <a:xfrm>
            <a:off x="6217920" y="1371600"/>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Jul 2026</a:t>
            </a:r>
            <a:endParaRPr lang="en-US" sz="1800" dirty="0"/>
          </a:p>
        </p:txBody>
      </p:sp>
      <p:sp>
        <p:nvSpPr>
          <p:cNvPr id="12" name="Text 10"/>
          <p:cNvSpPr txBox="1"/>
          <p:nvPr/>
        </p:nvSpPr>
        <p:spPr>
          <a:xfrm>
            <a:off x="6217920" y="2514600"/>
            <a:ext cx="2560320" cy="1463040"/>
          </a:xfrm>
          <a:prstGeom prst="rect">
            <a:avLst/>
          </a:prstGeom>
          <a:noFill/>
          <a:ln/>
        </p:spPr>
        <p:txBody>
          <a:bodyPr wrap="square" lIns="0" tIns="0" rIns="0" bIns="0" rtlCol="0" anchor="t"/>
          <a:lstStyle/>
          <a:p>
            <a:pPr indent="0" marL="0">
              <a:buNone/>
            </a:pPr>
            <a:r>
              <a:rPr lang="en-US" sz="1400" dirty="0">
                <a:solidFill>
                  <a:schemeClr val="tx1"/>
                </a:solidFill>
              </a:rPr>
              <a:t>50 Baguio City MSMEs join the Tatak Pinoy workshop with Shopee Philippines</a:t>
            </a:r>
            <a:endParaRPr lang="en-US" sz="1400" dirty="0"/>
          </a:p>
        </p:txBody>
      </p:sp>
      <p:sp>
        <p:nvSpPr>
          <p:cNvPr id="13" name="timeline dot 4"/>
          <p:cNvSpPr/>
          <p:nvPr/>
        </p:nvSpPr>
        <p:spPr>
          <a:xfrm>
            <a:off x="9464040" y="1920240"/>
            <a:ext cx="365760" cy="365760"/>
          </a:xfrm>
          <a:prstGeom prst="ellipse">
            <a:avLst/>
          </a:prstGeom>
          <a:solidFill>
            <a:schemeClr val="accent1"/>
          </a:solidFill>
          <a:ln w="12700">
            <a:solidFill>
              <a:schemeClr val="accent1"/>
            </a:solidFill>
            <a:prstDash val="solid"/>
          </a:ln>
        </p:spPr>
      </p:sp>
      <p:sp>
        <p:nvSpPr>
          <p:cNvPr id="14" name="Text 12"/>
          <p:cNvSpPr txBox="1"/>
          <p:nvPr/>
        </p:nvSpPr>
        <p:spPr>
          <a:xfrm>
            <a:off x="9052560" y="1371600"/>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Sep 2026</a:t>
            </a:r>
            <a:endParaRPr lang="en-US" sz="1800" dirty="0"/>
          </a:p>
        </p:txBody>
      </p:sp>
      <p:sp>
        <p:nvSpPr>
          <p:cNvPr id="15" name="Text 13"/>
          <p:cNvSpPr txBox="1"/>
          <p:nvPr/>
        </p:nvSpPr>
        <p:spPr>
          <a:xfrm>
            <a:off x="9052560" y="2514600"/>
            <a:ext cx="2560320" cy="1463040"/>
          </a:xfrm>
          <a:prstGeom prst="rect">
            <a:avLst/>
          </a:prstGeom>
          <a:noFill/>
          <a:ln/>
        </p:spPr>
        <p:txBody>
          <a:bodyPr wrap="square" lIns="0" tIns="0" rIns="0" bIns="0" rtlCol="0" anchor="t"/>
          <a:lstStyle/>
          <a:p>
            <a:pPr indent="0" marL="0">
              <a:buNone/>
            </a:pPr>
            <a:r>
              <a:rPr lang="en-US" sz="1400" dirty="0">
                <a:solidFill>
                  <a:schemeClr val="tx1"/>
                </a:solidFill>
              </a:rPr>
              <a:t>25 Baguio-Benguet MSMEs finish DICT SPARK social media marketing training, including AI use</a:t>
            </a:r>
            <a:endParaRPr lang="en-US" sz="1400" dirty="0"/>
          </a:p>
        </p:txBody>
      </p:sp>
      <p:sp>
        <p:nvSpPr>
          <p:cNvPr id="16" name="gap callout"/>
          <p:cNvSpPr/>
          <p:nvPr/>
        </p:nvSpPr>
        <p:spPr>
          <a:xfrm>
            <a:off x="548640" y="4343400"/>
            <a:ext cx="11064240" cy="1600200"/>
          </a:xfrm>
          <a:prstGeom prst="roundRect">
            <a:avLst>
              <a:gd name="adj" fmla="val 6857"/>
            </a:avLst>
          </a:prstGeom>
          <a:solidFill>
            <a:schemeClr val="accent1"/>
          </a:solidFill>
          <a:ln w="12700">
            <a:solidFill>
              <a:schemeClr val="accent1"/>
            </a:solidFill>
            <a:prstDash val="solid"/>
          </a:ln>
        </p:spPr>
      </p:sp>
      <p:sp>
        <p:nvSpPr>
          <p:cNvPr id="17" name="gap icon circle"/>
          <p:cNvSpPr/>
          <p:nvPr/>
        </p:nvSpPr>
        <p:spPr>
          <a:xfrm>
            <a:off x="868680" y="4681728"/>
            <a:ext cx="914400" cy="914400"/>
          </a:xfrm>
          <a:prstGeom prst="ellipse">
            <a:avLst/>
          </a:prstGeom>
          <a:solidFill>
            <a:schemeClr val="accent2"/>
          </a:solidFill>
          <a:ln w="12700">
            <a:solidFill>
              <a:schemeClr val="accent2"/>
            </a:solidFill>
            <a:prstDash val="solid"/>
          </a:ln>
        </p:spPr>
      </p:sp>
      <p:pic>
        <p:nvPicPr>
          <p:cNvPr id="18" name="gap icon" descr="preencoded.png">    </p:cNvPr>
          <p:cNvPicPr>
            <a:picLocks noChangeAspect="1"/>
          </p:cNvPicPr>
          <p:nvPr/>
        </p:nvPicPr>
        <p:blipFill>
          <a:blip r:embed="rId1"/>
          <a:stretch>
            <a:fillRect/>
          </a:stretch>
        </p:blipFill>
        <p:spPr>
          <a:xfrm>
            <a:off x="1088136" y="4901184"/>
            <a:ext cx="475488" cy="475488"/>
          </a:xfrm>
          <a:prstGeom prst="rect">
            <a:avLst/>
          </a:prstGeom>
        </p:spPr>
      </p:pic>
      <p:sp>
        <p:nvSpPr>
          <p:cNvPr id="19" name="Text 16"/>
          <p:cNvSpPr txBox="1"/>
          <p:nvPr/>
        </p:nvSpPr>
        <p:spPr>
          <a:xfrm>
            <a:off x="2057400" y="4572000"/>
            <a:ext cx="9144000" cy="411480"/>
          </a:xfrm>
          <a:prstGeom prst="rect">
            <a:avLst/>
          </a:prstGeom>
          <a:noFill/>
          <a:ln/>
        </p:spPr>
        <p:txBody>
          <a:bodyPr wrap="square" lIns="0" tIns="0" rIns="0" bIns="0" rtlCol="0" anchor="t"/>
          <a:lstStyle/>
          <a:p>
            <a:pPr indent="0" marL="0">
              <a:buNone/>
            </a:pPr>
            <a:r>
              <a:rPr lang="en-US" sz="2000" b="1" dirty="0">
                <a:solidFill>
                  <a:schemeClr val="bg1"/>
                </a:solidFill>
              </a:rPr>
              <a:t>The gap</a:t>
            </a:r>
            <a:endParaRPr lang="en-US" sz="2000" dirty="0"/>
          </a:p>
        </p:txBody>
      </p:sp>
      <p:sp>
        <p:nvSpPr>
          <p:cNvPr id="20" name="Text 17"/>
          <p:cNvSpPr txBox="1"/>
          <p:nvPr/>
        </p:nvSpPr>
        <p:spPr>
          <a:xfrm>
            <a:off x="2057400" y="4983480"/>
            <a:ext cx="9235440" cy="822960"/>
          </a:xfrm>
          <a:prstGeom prst="rect">
            <a:avLst/>
          </a:prstGeom>
          <a:noFill/>
          <a:ln/>
        </p:spPr>
        <p:txBody>
          <a:bodyPr wrap="square" lIns="0" tIns="0" rIns="0" bIns="0" rtlCol="0" anchor="t"/>
          <a:lstStyle/>
          <a:p>
            <a:pPr indent="0" marL="0">
              <a:buNone/>
            </a:pPr>
            <a:r>
              <a:rPr lang="en-US" sz="1600" dirty="0">
                <a:solidFill>
                  <a:schemeClr val="bg1"/>
                </a:solidFill>
              </a:rPr>
              <a:t>These programs teach sellers to open and promote online stores. Little attention goes to what happens next, when the messages start coming in.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Problem statement and objective</a:t>
            </a:r>
            <a:endParaRPr lang="en-US" sz="3200" dirty="0"/>
          </a:p>
        </p:txBody>
      </p:sp>
      <p:sp>
        <p:nvSpPr>
          <p:cNvPr id="3" name="Text 1"/>
          <p:cNvSpPr txBox="1"/>
          <p:nvPr/>
        </p:nvSpPr>
        <p:spPr>
          <a:xfrm>
            <a:off x="548640" y="1371600"/>
            <a:ext cx="5852160" cy="411480"/>
          </a:xfrm>
          <a:prstGeom prst="rect">
            <a:avLst/>
          </a:prstGeom>
          <a:noFill/>
          <a:ln/>
        </p:spPr>
        <p:txBody>
          <a:bodyPr wrap="square" lIns="0" tIns="0" rIns="0" bIns="0" rtlCol="0" anchor="t"/>
          <a:lstStyle/>
          <a:p>
            <a:pPr indent="0" marL="0">
              <a:buNone/>
            </a:pPr>
            <a:r>
              <a:rPr lang="en-US" sz="1800" b="1" dirty="0">
                <a:solidFill>
                  <a:schemeClr val="accent1"/>
                </a:solidFill>
              </a:rPr>
              <a:t>The problem has five parts</a:t>
            </a:r>
            <a:endParaRPr lang="en-US" sz="1800" dirty="0"/>
          </a:p>
        </p:txBody>
      </p:sp>
      <p:sp>
        <p:nvSpPr>
          <p:cNvPr id="4" name="problem number 1"/>
          <p:cNvSpPr/>
          <p:nvPr/>
        </p:nvSpPr>
        <p:spPr>
          <a:xfrm>
            <a:off x="548640" y="1920240"/>
            <a:ext cx="548640" cy="548640"/>
          </a:xfrm>
          <a:prstGeom prst="ellipse">
            <a:avLst/>
          </a:prstGeom>
          <a:solidFill>
            <a:schemeClr val="accent2"/>
          </a:solidFill>
          <a:ln w="12700">
            <a:solidFill>
              <a:schemeClr val="accent2"/>
            </a:solidFill>
            <a:prstDash val="solid"/>
          </a:ln>
        </p:spPr>
      </p:sp>
      <p:sp>
        <p:nvSpPr>
          <p:cNvPr id="5" name="Text 3"/>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25880" y="1938528"/>
            <a:ext cx="5120640" cy="548640"/>
          </a:xfrm>
          <a:prstGeom prst="rect">
            <a:avLst/>
          </a:prstGeom>
          <a:noFill/>
          <a:ln/>
        </p:spPr>
        <p:txBody>
          <a:bodyPr wrap="square" lIns="0" tIns="0" rIns="0" bIns="0" rtlCol="0" anchor="ctr"/>
          <a:lstStyle/>
          <a:p>
            <a:pPr indent="0" marL="0">
              <a:buNone/>
            </a:pPr>
            <a:r>
              <a:rPr lang="en-US" sz="1500" dirty="0">
                <a:solidFill>
                  <a:schemeClr val="tx1"/>
                </a:solidFill>
              </a:rPr>
              <a:t>Repeated questions take up the owner's time</a:t>
            </a:r>
            <a:endParaRPr lang="en-US" sz="1500" dirty="0"/>
          </a:p>
        </p:txBody>
      </p:sp>
      <p:sp>
        <p:nvSpPr>
          <p:cNvPr id="7" name="problem number 2"/>
          <p:cNvSpPr/>
          <p:nvPr/>
        </p:nvSpPr>
        <p:spPr>
          <a:xfrm>
            <a:off x="548640" y="2724912"/>
            <a:ext cx="548640" cy="548640"/>
          </a:xfrm>
          <a:prstGeom prst="ellipse">
            <a:avLst/>
          </a:prstGeom>
          <a:solidFill>
            <a:schemeClr val="accent2"/>
          </a:solidFill>
          <a:ln w="12700">
            <a:solidFill>
              <a:schemeClr val="accent2"/>
            </a:solidFill>
            <a:prstDash val="solid"/>
          </a:ln>
        </p:spPr>
      </p:sp>
      <p:sp>
        <p:nvSpPr>
          <p:cNvPr id="8" name="Text 6"/>
          <p:cNvSpPr txBox="1"/>
          <p:nvPr/>
        </p:nvSpPr>
        <p:spPr>
          <a:xfrm>
            <a:off x="548640" y="272491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325880" y="2743200"/>
            <a:ext cx="5120640" cy="548640"/>
          </a:xfrm>
          <a:prstGeom prst="rect">
            <a:avLst/>
          </a:prstGeom>
          <a:noFill/>
          <a:ln/>
        </p:spPr>
        <p:txBody>
          <a:bodyPr wrap="square" lIns="0" tIns="0" rIns="0" bIns="0" rtlCol="0" anchor="ctr"/>
          <a:lstStyle/>
          <a:p>
            <a:pPr indent="0" marL="0">
              <a:buNone/>
            </a:pPr>
            <a:r>
              <a:rPr lang="en-US" sz="1500" dirty="0">
                <a:solidFill>
                  <a:schemeClr val="tx1"/>
                </a:solidFill>
              </a:rPr>
              <a:t>Replies typed by hand are not always consistent</a:t>
            </a:r>
            <a:endParaRPr lang="en-US" sz="1500" dirty="0"/>
          </a:p>
        </p:txBody>
      </p:sp>
      <p:sp>
        <p:nvSpPr>
          <p:cNvPr id="10" name="problem number 3"/>
          <p:cNvSpPr/>
          <p:nvPr/>
        </p:nvSpPr>
        <p:spPr>
          <a:xfrm>
            <a:off x="548640" y="3529584"/>
            <a:ext cx="548640" cy="548640"/>
          </a:xfrm>
          <a:prstGeom prst="ellipse">
            <a:avLst/>
          </a:prstGeom>
          <a:solidFill>
            <a:schemeClr val="accent2"/>
          </a:solidFill>
          <a:ln w="12700">
            <a:solidFill>
              <a:schemeClr val="accent2"/>
            </a:solidFill>
            <a:prstDash val="solid"/>
          </a:ln>
        </p:spPr>
      </p:sp>
      <p:sp>
        <p:nvSpPr>
          <p:cNvPr id="11" name="Text 9"/>
          <p:cNvSpPr txBox="1"/>
          <p:nvPr/>
        </p:nvSpPr>
        <p:spPr>
          <a:xfrm>
            <a:off x="548640" y="352958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325880" y="3547872"/>
            <a:ext cx="5120640" cy="548640"/>
          </a:xfrm>
          <a:prstGeom prst="rect">
            <a:avLst/>
          </a:prstGeom>
          <a:noFill/>
          <a:ln/>
        </p:spPr>
        <p:txBody>
          <a:bodyPr wrap="square" lIns="0" tIns="0" rIns="0" bIns="0" rtlCol="0" anchor="ctr"/>
          <a:lstStyle/>
          <a:p>
            <a:pPr indent="0" marL="0">
              <a:buNone/>
            </a:pPr>
            <a:r>
              <a:rPr lang="en-US" sz="1500" dirty="0">
                <a:solidFill>
                  <a:schemeClr val="tx1"/>
                </a:solidFill>
              </a:rPr>
              <a:t>Prices, stock and policies change; answers must change too</a:t>
            </a:r>
            <a:endParaRPr lang="en-US" sz="1500" dirty="0"/>
          </a:p>
        </p:txBody>
      </p:sp>
      <p:sp>
        <p:nvSpPr>
          <p:cNvPr id="13" name="problem number 4"/>
          <p:cNvSpPr/>
          <p:nvPr/>
        </p:nvSpPr>
        <p:spPr>
          <a:xfrm>
            <a:off x="548640" y="4334256"/>
            <a:ext cx="548640" cy="548640"/>
          </a:xfrm>
          <a:prstGeom prst="ellipse">
            <a:avLst/>
          </a:prstGeom>
          <a:solidFill>
            <a:schemeClr val="accent2"/>
          </a:solidFill>
          <a:ln w="12700">
            <a:solidFill>
              <a:schemeClr val="accent2"/>
            </a:solidFill>
            <a:prstDash val="solid"/>
          </a:ln>
        </p:spPr>
      </p:sp>
      <p:sp>
        <p:nvSpPr>
          <p:cNvPr id="14" name="Text 12"/>
          <p:cNvSpPr txBox="1"/>
          <p:nvPr/>
        </p:nvSpPr>
        <p:spPr>
          <a:xfrm>
            <a:off x="548640" y="433425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1325880" y="4352544"/>
            <a:ext cx="5120640" cy="548640"/>
          </a:xfrm>
          <a:prstGeom prst="rect">
            <a:avLst/>
          </a:prstGeom>
          <a:noFill/>
          <a:ln/>
        </p:spPr>
        <p:txBody>
          <a:bodyPr wrap="square" lIns="0" tIns="0" rIns="0" bIns="0" rtlCol="0" anchor="ctr"/>
          <a:lstStyle/>
          <a:p>
            <a:pPr indent="0" marL="0">
              <a:buNone/>
            </a:pPr>
            <a:r>
              <a:rPr lang="en-US" sz="1500" dirty="0">
                <a:solidFill>
                  <a:schemeClr val="tx1"/>
                </a:solidFill>
              </a:rPr>
              <a:t>Customers write in English, Filipino or Taglish</a:t>
            </a:r>
            <a:endParaRPr lang="en-US" sz="1500" dirty="0"/>
          </a:p>
        </p:txBody>
      </p:sp>
      <p:sp>
        <p:nvSpPr>
          <p:cNvPr id="16" name="problem number 5"/>
          <p:cNvSpPr/>
          <p:nvPr/>
        </p:nvSpPr>
        <p:spPr>
          <a:xfrm>
            <a:off x="548640" y="5138928"/>
            <a:ext cx="548640" cy="548640"/>
          </a:xfrm>
          <a:prstGeom prst="ellipse">
            <a:avLst/>
          </a:prstGeom>
          <a:solidFill>
            <a:schemeClr val="accent2"/>
          </a:solidFill>
          <a:ln w="12700">
            <a:solidFill>
              <a:schemeClr val="accent2"/>
            </a:solidFill>
            <a:prstDash val="solid"/>
          </a:ln>
        </p:spPr>
      </p:sp>
      <p:sp>
        <p:nvSpPr>
          <p:cNvPr id="17" name="Text 15"/>
          <p:cNvSpPr txBox="1"/>
          <p:nvPr/>
        </p:nvSpPr>
        <p:spPr>
          <a:xfrm>
            <a:off x="548640" y="51389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1325880" y="5157216"/>
            <a:ext cx="5120640" cy="548640"/>
          </a:xfrm>
          <a:prstGeom prst="rect">
            <a:avLst/>
          </a:prstGeom>
          <a:noFill/>
          <a:ln/>
        </p:spPr>
        <p:txBody>
          <a:bodyPr wrap="square" lIns="0" tIns="0" rIns="0" bIns="0" rtlCol="0" anchor="ctr"/>
          <a:lstStyle/>
          <a:p>
            <a:pPr indent="0" marL="0">
              <a:buNone/>
            </a:pPr>
            <a:r>
              <a:rPr lang="en-US" sz="1500" dirty="0">
                <a:solidFill>
                  <a:schemeClr val="tx1"/>
                </a:solidFill>
              </a:rPr>
              <a:t>Complaints, refunds and unclear cases need a person</a:t>
            </a:r>
            <a:endParaRPr lang="en-US" sz="1500" dirty="0"/>
          </a:p>
        </p:txBody>
      </p:sp>
      <p:sp>
        <p:nvSpPr>
          <p:cNvPr id="19" name="objective card"/>
          <p:cNvSpPr/>
          <p:nvPr/>
        </p:nvSpPr>
        <p:spPr>
          <a:xfrm>
            <a:off x="6858000" y="1371600"/>
            <a:ext cx="4754880" cy="4572000"/>
          </a:xfrm>
          <a:prstGeom prst="roundRect">
            <a:avLst>
              <a:gd name="adj" fmla="val 2400"/>
            </a:avLst>
          </a:prstGeom>
          <a:solidFill>
            <a:schemeClr val="accent1"/>
          </a:solidFill>
          <a:ln w="12700">
            <a:solidFill>
              <a:schemeClr val="accent1"/>
            </a:solidFill>
            <a:prstDash val="solid"/>
          </a:ln>
        </p:spPr>
      </p:sp>
      <p:sp>
        <p:nvSpPr>
          <p:cNvPr id="20" name="objective icon circle"/>
          <p:cNvSpPr/>
          <p:nvPr/>
        </p:nvSpPr>
        <p:spPr>
          <a:xfrm>
            <a:off x="7178040" y="1691640"/>
            <a:ext cx="777240" cy="777240"/>
          </a:xfrm>
          <a:prstGeom prst="ellipse">
            <a:avLst/>
          </a:prstGeom>
          <a:solidFill>
            <a:schemeClr val="accent4"/>
          </a:solidFill>
          <a:ln w="12700">
            <a:solidFill>
              <a:schemeClr val="accent4"/>
            </a:solidFill>
            <a:prstDash val="solid"/>
          </a:ln>
        </p:spPr>
      </p:sp>
      <p:pic>
        <p:nvPicPr>
          <p:cNvPr id="21" name="objective icon" descr="preencoded.png">    </p:cNvPr>
          <p:cNvPicPr>
            <a:picLocks noChangeAspect="1"/>
          </p:cNvPicPr>
          <p:nvPr/>
        </p:nvPicPr>
        <p:blipFill>
          <a:blip r:embed="rId1"/>
          <a:stretch>
            <a:fillRect/>
          </a:stretch>
        </p:blipFill>
        <p:spPr>
          <a:xfrm>
            <a:off x="7364578" y="1878178"/>
            <a:ext cx="404165" cy="404165"/>
          </a:xfrm>
          <a:prstGeom prst="rect">
            <a:avLst/>
          </a:prstGeom>
        </p:spPr>
      </p:pic>
      <p:sp>
        <p:nvSpPr>
          <p:cNvPr id="22" name="Text 19"/>
          <p:cNvSpPr txBox="1"/>
          <p:nvPr/>
        </p:nvSpPr>
        <p:spPr>
          <a:xfrm>
            <a:off x="7178040" y="2651760"/>
            <a:ext cx="4114800" cy="411480"/>
          </a:xfrm>
          <a:prstGeom prst="rect">
            <a:avLst/>
          </a:prstGeom>
          <a:noFill/>
          <a:ln/>
        </p:spPr>
        <p:txBody>
          <a:bodyPr wrap="square" lIns="0" tIns="0" rIns="0" bIns="0" rtlCol="0" anchor="t"/>
          <a:lstStyle/>
          <a:p>
            <a:pPr indent="0" marL="0">
              <a:buNone/>
            </a:pPr>
            <a:r>
              <a:rPr lang="en-US" sz="2000" b="1" dirty="0">
                <a:solidFill>
                  <a:schemeClr val="bg1"/>
                </a:solidFill>
              </a:rPr>
              <a:t>General objective</a:t>
            </a:r>
            <a:endParaRPr lang="en-US" sz="2000" dirty="0"/>
          </a:p>
        </p:txBody>
      </p:sp>
      <p:sp>
        <p:nvSpPr>
          <p:cNvPr id="23" name="Text 20"/>
          <p:cNvSpPr txBox="1"/>
          <p:nvPr/>
        </p:nvSpPr>
        <p:spPr>
          <a:xfrm>
            <a:off x="7178040" y="3108960"/>
            <a:ext cx="4114800" cy="1280160"/>
          </a:xfrm>
          <a:prstGeom prst="rect">
            <a:avLst/>
          </a:prstGeom>
          <a:noFill/>
          <a:ln/>
        </p:spPr>
        <p:txBody>
          <a:bodyPr wrap="square" lIns="0" tIns="0" rIns="0" bIns="0" rtlCol="0" anchor="t"/>
          <a:lstStyle/>
          <a:p>
            <a:pPr indent="0" marL="0">
              <a:buNone/>
            </a:pPr>
            <a:r>
              <a:rPr lang="en-US" sz="1500" dirty="0">
                <a:solidFill>
                  <a:schemeClr val="bg1"/>
                </a:solidFill>
              </a:rPr>
              <a:t>Design and develop a prototype AI-assisted customer support system for micro and small e-commerce businesses in Baguio City and Benguet that:</a:t>
            </a:r>
            <a:endParaRPr lang="en-US" sz="1500" dirty="0"/>
          </a:p>
        </p:txBody>
      </p:sp>
      <p:sp>
        <p:nvSpPr>
          <p:cNvPr id="24" name="Text 21"/>
          <p:cNvSpPr txBox="1"/>
          <p:nvPr/>
        </p:nvSpPr>
        <p:spPr>
          <a:xfrm>
            <a:off x="7178040" y="4389120"/>
            <a:ext cx="420624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DDEBE3"/>
                </a:solidFill>
              </a:rPr>
              <a:t>answers routine questions quickly and correctly</a:t>
            </a:r>
            <a:endParaRPr lang="en-US" sz="1500" dirty="0"/>
          </a:p>
          <a:p>
            <a:pPr marL="342900" indent="-342900">
              <a:spcAft>
                <a:spcPts val="400"/>
              </a:spcAft>
              <a:buSzPct val="100000"/>
              <a:buChar char="•"/>
            </a:pPr>
            <a:r>
              <a:rPr lang="en-US" sz="1500" dirty="0">
                <a:solidFill>
                  <a:srgbClr val="DDEBE3"/>
                </a:solidFill>
              </a:rPr>
              <a:t>never states a fact the owner has not approved</a:t>
            </a:r>
            <a:endParaRPr lang="en-US" sz="1500" dirty="0"/>
          </a:p>
          <a:p>
            <a:pPr marL="342900" indent="-342900">
              <a:spcAft>
                <a:spcPts val="400"/>
              </a:spcAft>
              <a:buSzPct val="100000"/>
              <a:buChar char="•"/>
            </a:pPr>
            <a:r>
              <a:rPr lang="en-US" sz="1500" dirty="0">
                <a:solidFill>
                  <a:srgbClr val="DDEBE3"/>
                </a:solidFill>
              </a:rPr>
              <a:t>hands difficult cases to a person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Research questions</a:t>
            </a:r>
            <a:endParaRPr lang="en-US" sz="3200" dirty="0"/>
          </a:p>
        </p:txBody>
      </p:sp>
      <p:sp>
        <p:nvSpPr>
          <p:cNvPr id="3" name="RQ card 1"/>
          <p:cNvSpPr/>
          <p:nvPr/>
        </p:nvSpPr>
        <p:spPr>
          <a:xfrm>
            <a:off x="548640" y="1371600"/>
            <a:ext cx="11064240" cy="822960"/>
          </a:xfrm>
          <a:prstGeom prst="roundRect">
            <a:avLst>
              <a:gd name="adj" fmla="val 13333"/>
            </a:avLst>
          </a:prstGeom>
          <a:solidFill>
            <a:schemeClr val="bg2"/>
          </a:solidFill>
          <a:ln w="12700">
            <a:solidFill>
              <a:schemeClr val="bg2"/>
            </a:solidFill>
            <a:prstDash val="solid"/>
          </a:ln>
        </p:spPr>
      </p:sp>
      <p:sp>
        <p:nvSpPr>
          <p:cNvPr id="4" name="RQ icon 1 circle"/>
          <p:cNvSpPr/>
          <p:nvPr/>
        </p:nvSpPr>
        <p:spPr>
          <a:xfrm>
            <a:off x="731520" y="1490472"/>
            <a:ext cx="585216" cy="585216"/>
          </a:xfrm>
          <a:prstGeom prst="ellipse">
            <a:avLst/>
          </a:prstGeom>
          <a:solidFill>
            <a:schemeClr val="accent1"/>
          </a:solidFill>
          <a:ln w="12700">
            <a:solidFill>
              <a:schemeClr val="accent1"/>
            </a:solidFill>
            <a:prstDash val="solid"/>
          </a:ln>
        </p:spPr>
      </p:sp>
      <p:pic>
        <p:nvPicPr>
          <p:cNvPr id="5" name="RQ icon 1" descr="preencoded.png">    </p:cNvPr>
          <p:cNvPicPr>
            <a:picLocks noChangeAspect="1"/>
          </p:cNvPicPr>
          <p:nvPr/>
        </p:nvPicPr>
        <p:blipFill>
          <a:blip r:embed="rId1"/>
          <a:stretch>
            <a:fillRect/>
          </a:stretch>
        </p:blipFill>
        <p:spPr>
          <a:xfrm>
            <a:off x="871972" y="1630924"/>
            <a:ext cx="304312" cy="304312"/>
          </a:xfrm>
          <a:prstGeom prst="rect">
            <a:avLst/>
          </a:prstGeom>
        </p:spPr>
      </p:pic>
      <p:sp>
        <p:nvSpPr>
          <p:cNvPr id="6" name="Text 3"/>
          <p:cNvSpPr txBox="1"/>
          <p:nvPr/>
        </p:nvSpPr>
        <p:spPr>
          <a:xfrm>
            <a:off x="1508760" y="1463040"/>
            <a:ext cx="2743200" cy="640080"/>
          </a:xfrm>
          <a:prstGeom prst="rect">
            <a:avLst/>
          </a:prstGeom>
          <a:noFill/>
          <a:ln/>
        </p:spPr>
        <p:txBody>
          <a:bodyPr wrap="square" lIns="0" tIns="0" rIns="0" bIns="0" rtlCol="0" anchor="ctr"/>
          <a:lstStyle/>
          <a:p>
            <a:pPr indent="0" marL="0">
              <a:buNone/>
            </a:pPr>
            <a:r>
              <a:rPr lang="en-US" sz="1600" b="1" dirty="0">
                <a:solidFill>
                  <a:schemeClr val="accent1"/>
                </a:solidFill>
              </a:rPr>
              <a:t>RQ1  Seller needs</a:t>
            </a:r>
            <a:endParaRPr lang="en-US" sz="1600" dirty="0"/>
          </a:p>
        </p:txBody>
      </p:sp>
      <p:sp>
        <p:nvSpPr>
          <p:cNvPr id="7" name="Text 4"/>
          <p:cNvSpPr txBox="1"/>
          <p:nvPr/>
        </p:nvSpPr>
        <p:spPr>
          <a:xfrm>
            <a:off x="4297680" y="1463040"/>
            <a:ext cx="7132320" cy="640080"/>
          </a:xfrm>
          <a:prstGeom prst="rect">
            <a:avLst/>
          </a:prstGeom>
          <a:noFill/>
          <a:ln/>
        </p:spPr>
        <p:txBody>
          <a:bodyPr wrap="square" lIns="0" tIns="0" rIns="0" bIns="0" rtlCol="0" anchor="ctr"/>
          <a:lstStyle/>
          <a:p>
            <a:pPr indent="0" marL="0">
              <a:buNone/>
            </a:pPr>
            <a:r>
              <a:rPr lang="en-US" sz="1500" dirty="0">
                <a:solidFill>
                  <a:schemeClr val="tx1"/>
                </a:solidFill>
              </a:rPr>
              <a:t>What do local online sellers need from a support assistant, based on the questions they receive?</a:t>
            </a:r>
            <a:endParaRPr lang="en-US" sz="1500" dirty="0"/>
          </a:p>
        </p:txBody>
      </p:sp>
      <p:sp>
        <p:nvSpPr>
          <p:cNvPr id="8" name="RQ card 2"/>
          <p:cNvSpPr/>
          <p:nvPr/>
        </p:nvSpPr>
        <p:spPr>
          <a:xfrm>
            <a:off x="548640" y="2350008"/>
            <a:ext cx="11064240" cy="822960"/>
          </a:xfrm>
          <a:prstGeom prst="roundRect">
            <a:avLst>
              <a:gd name="adj" fmla="val 13333"/>
            </a:avLst>
          </a:prstGeom>
          <a:solidFill>
            <a:schemeClr val="bg2"/>
          </a:solidFill>
          <a:ln w="12700">
            <a:solidFill>
              <a:schemeClr val="bg2"/>
            </a:solidFill>
            <a:prstDash val="solid"/>
          </a:ln>
        </p:spPr>
      </p:sp>
      <p:sp>
        <p:nvSpPr>
          <p:cNvPr id="9" name="RQ icon 2 circle"/>
          <p:cNvSpPr/>
          <p:nvPr/>
        </p:nvSpPr>
        <p:spPr>
          <a:xfrm>
            <a:off x="731520" y="2468880"/>
            <a:ext cx="585216" cy="585216"/>
          </a:xfrm>
          <a:prstGeom prst="ellipse">
            <a:avLst/>
          </a:prstGeom>
          <a:solidFill>
            <a:schemeClr val="accent1"/>
          </a:solidFill>
          <a:ln w="12700">
            <a:solidFill>
              <a:schemeClr val="accent1"/>
            </a:solidFill>
            <a:prstDash val="solid"/>
          </a:ln>
        </p:spPr>
      </p:sp>
      <p:pic>
        <p:nvPicPr>
          <p:cNvPr id="10" name="RQ icon 2" descr="preencoded.png">    </p:cNvPr>
          <p:cNvPicPr>
            <a:picLocks noChangeAspect="1"/>
          </p:cNvPicPr>
          <p:nvPr/>
        </p:nvPicPr>
        <p:blipFill>
          <a:blip r:embed="rId2"/>
          <a:stretch>
            <a:fillRect/>
          </a:stretch>
        </p:blipFill>
        <p:spPr>
          <a:xfrm>
            <a:off x="871972" y="2609332"/>
            <a:ext cx="304312" cy="304312"/>
          </a:xfrm>
          <a:prstGeom prst="rect">
            <a:avLst/>
          </a:prstGeom>
        </p:spPr>
      </p:pic>
      <p:sp>
        <p:nvSpPr>
          <p:cNvPr id="11" name="Text 7"/>
          <p:cNvSpPr txBox="1"/>
          <p:nvPr/>
        </p:nvSpPr>
        <p:spPr>
          <a:xfrm>
            <a:off x="1508760" y="2441448"/>
            <a:ext cx="2743200" cy="640080"/>
          </a:xfrm>
          <a:prstGeom prst="rect">
            <a:avLst/>
          </a:prstGeom>
          <a:noFill/>
          <a:ln/>
        </p:spPr>
        <p:txBody>
          <a:bodyPr wrap="square" lIns="0" tIns="0" rIns="0" bIns="0" rtlCol="0" anchor="ctr"/>
          <a:lstStyle/>
          <a:p>
            <a:pPr indent="0" marL="0">
              <a:buNone/>
            </a:pPr>
            <a:r>
              <a:rPr lang="en-US" sz="1600" b="1" dirty="0">
                <a:solidFill>
                  <a:schemeClr val="accent1"/>
                </a:solidFill>
              </a:rPr>
              <a:t>RQ2  Grounded answers</a:t>
            </a:r>
            <a:endParaRPr lang="en-US" sz="1600" dirty="0"/>
          </a:p>
        </p:txBody>
      </p:sp>
      <p:sp>
        <p:nvSpPr>
          <p:cNvPr id="12" name="Text 8"/>
          <p:cNvSpPr txBox="1"/>
          <p:nvPr/>
        </p:nvSpPr>
        <p:spPr>
          <a:xfrm>
            <a:off x="4297680" y="2441448"/>
            <a:ext cx="7132320" cy="640080"/>
          </a:xfrm>
          <a:prstGeom prst="rect">
            <a:avLst/>
          </a:prstGeom>
          <a:noFill/>
          <a:ln/>
        </p:spPr>
        <p:txBody>
          <a:bodyPr wrap="square" lIns="0" tIns="0" rIns="0" bIns="0" rtlCol="0" anchor="ctr"/>
          <a:lstStyle/>
          <a:p>
            <a:pPr indent="0" marL="0">
              <a:buNone/>
            </a:pPr>
            <a:r>
              <a:rPr lang="en-US" sz="1500" dirty="0">
                <a:solidFill>
                  <a:schemeClr val="tx1"/>
                </a:solidFill>
              </a:rPr>
              <a:t>How should products, FAQs and policies be stored so every answer traces to approved data?</a:t>
            </a:r>
            <a:endParaRPr lang="en-US" sz="1500" dirty="0"/>
          </a:p>
        </p:txBody>
      </p:sp>
      <p:sp>
        <p:nvSpPr>
          <p:cNvPr id="13" name="RQ card 3"/>
          <p:cNvSpPr/>
          <p:nvPr/>
        </p:nvSpPr>
        <p:spPr>
          <a:xfrm>
            <a:off x="548640" y="3328416"/>
            <a:ext cx="11064240" cy="822960"/>
          </a:xfrm>
          <a:prstGeom prst="roundRect">
            <a:avLst>
              <a:gd name="adj" fmla="val 13333"/>
            </a:avLst>
          </a:prstGeom>
          <a:solidFill>
            <a:schemeClr val="bg2"/>
          </a:solidFill>
          <a:ln w="12700">
            <a:solidFill>
              <a:schemeClr val="bg2"/>
            </a:solidFill>
            <a:prstDash val="solid"/>
          </a:ln>
        </p:spPr>
      </p:sp>
      <p:sp>
        <p:nvSpPr>
          <p:cNvPr id="14" name="RQ icon 3 circle"/>
          <p:cNvSpPr/>
          <p:nvPr/>
        </p:nvSpPr>
        <p:spPr>
          <a:xfrm>
            <a:off x="731520" y="3447288"/>
            <a:ext cx="585216" cy="585216"/>
          </a:xfrm>
          <a:prstGeom prst="ellipse">
            <a:avLst/>
          </a:prstGeom>
          <a:solidFill>
            <a:schemeClr val="accent1"/>
          </a:solidFill>
          <a:ln w="12700">
            <a:solidFill>
              <a:schemeClr val="accent1"/>
            </a:solidFill>
            <a:prstDash val="solid"/>
          </a:ln>
        </p:spPr>
      </p:sp>
      <p:pic>
        <p:nvPicPr>
          <p:cNvPr id="15" name="RQ icon 3" descr="preencoded.png">    </p:cNvPr>
          <p:cNvPicPr>
            <a:picLocks noChangeAspect="1"/>
          </p:cNvPicPr>
          <p:nvPr/>
        </p:nvPicPr>
        <p:blipFill>
          <a:blip r:embed="rId3"/>
          <a:stretch>
            <a:fillRect/>
          </a:stretch>
        </p:blipFill>
        <p:spPr>
          <a:xfrm>
            <a:off x="871972" y="3587740"/>
            <a:ext cx="304312" cy="304312"/>
          </a:xfrm>
          <a:prstGeom prst="rect">
            <a:avLst/>
          </a:prstGeom>
        </p:spPr>
      </p:pic>
      <p:sp>
        <p:nvSpPr>
          <p:cNvPr id="16" name="Text 11"/>
          <p:cNvSpPr txBox="1"/>
          <p:nvPr/>
        </p:nvSpPr>
        <p:spPr>
          <a:xfrm>
            <a:off x="1508760" y="3419856"/>
            <a:ext cx="2743200" cy="640080"/>
          </a:xfrm>
          <a:prstGeom prst="rect">
            <a:avLst/>
          </a:prstGeom>
          <a:noFill/>
          <a:ln/>
        </p:spPr>
        <p:txBody>
          <a:bodyPr wrap="square" lIns="0" tIns="0" rIns="0" bIns="0" rtlCol="0" anchor="ctr"/>
          <a:lstStyle/>
          <a:p>
            <a:pPr indent="0" marL="0">
              <a:buNone/>
            </a:pPr>
            <a:r>
              <a:rPr lang="en-US" sz="1600" b="1" dirty="0">
                <a:solidFill>
                  <a:schemeClr val="accent1"/>
                </a:solidFill>
              </a:rPr>
              <a:t>RQ3  Language</a:t>
            </a:r>
            <a:endParaRPr lang="en-US" sz="1600" dirty="0"/>
          </a:p>
        </p:txBody>
      </p:sp>
      <p:sp>
        <p:nvSpPr>
          <p:cNvPr id="17" name="Text 12"/>
          <p:cNvSpPr txBox="1"/>
          <p:nvPr/>
        </p:nvSpPr>
        <p:spPr>
          <a:xfrm>
            <a:off x="4297680" y="3419856"/>
            <a:ext cx="7132320" cy="640080"/>
          </a:xfrm>
          <a:prstGeom prst="rect">
            <a:avLst/>
          </a:prstGeom>
          <a:noFill/>
          <a:ln/>
        </p:spPr>
        <p:txBody>
          <a:bodyPr wrap="square" lIns="0" tIns="0" rIns="0" bIns="0" rtlCol="0" anchor="ctr"/>
          <a:lstStyle/>
          <a:p>
            <a:pPr indent="0" marL="0">
              <a:buNone/>
            </a:pPr>
            <a:r>
              <a:rPr lang="en-US" sz="1500" dirty="0">
                <a:solidFill>
                  <a:schemeClr val="tx1"/>
                </a:solidFill>
              </a:rPr>
              <a:t>How can English, Filipino and Taglish be handled in one workflow?</a:t>
            </a:r>
            <a:endParaRPr lang="en-US" sz="1500" dirty="0"/>
          </a:p>
        </p:txBody>
      </p:sp>
      <p:sp>
        <p:nvSpPr>
          <p:cNvPr id="18" name="RQ card 4"/>
          <p:cNvSpPr/>
          <p:nvPr/>
        </p:nvSpPr>
        <p:spPr>
          <a:xfrm>
            <a:off x="548640" y="4306824"/>
            <a:ext cx="11064240" cy="822960"/>
          </a:xfrm>
          <a:prstGeom prst="roundRect">
            <a:avLst>
              <a:gd name="adj" fmla="val 13333"/>
            </a:avLst>
          </a:prstGeom>
          <a:solidFill>
            <a:schemeClr val="bg2"/>
          </a:solidFill>
          <a:ln w="12700">
            <a:solidFill>
              <a:schemeClr val="bg2"/>
            </a:solidFill>
            <a:prstDash val="solid"/>
          </a:ln>
        </p:spPr>
      </p:sp>
      <p:sp>
        <p:nvSpPr>
          <p:cNvPr id="19" name="RQ icon 4 circle"/>
          <p:cNvSpPr/>
          <p:nvPr/>
        </p:nvSpPr>
        <p:spPr>
          <a:xfrm>
            <a:off x="731520" y="4425696"/>
            <a:ext cx="585216" cy="585216"/>
          </a:xfrm>
          <a:prstGeom prst="ellipse">
            <a:avLst/>
          </a:prstGeom>
          <a:solidFill>
            <a:schemeClr val="accent1"/>
          </a:solidFill>
          <a:ln w="12700">
            <a:solidFill>
              <a:schemeClr val="accent1"/>
            </a:solidFill>
            <a:prstDash val="solid"/>
          </a:ln>
        </p:spPr>
      </p:sp>
      <p:pic>
        <p:nvPicPr>
          <p:cNvPr id="20" name="RQ icon 4" descr="preencoded.png">    </p:cNvPr>
          <p:cNvPicPr>
            <a:picLocks noChangeAspect="1"/>
          </p:cNvPicPr>
          <p:nvPr/>
        </p:nvPicPr>
        <p:blipFill>
          <a:blip r:embed="rId4"/>
          <a:stretch>
            <a:fillRect/>
          </a:stretch>
        </p:blipFill>
        <p:spPr>
          <a:xfrm>
            <a:off x="871972" y="4566148"/>
            <a:ext cx="304312" cy="304312"/>
          </a:xfrm>
          <a:prstGeom prst="rect">
            <a:avLst/>
          </a:prstGeom>
        </p:spPr>
      </p:pic>
      <p:sp>
        <p:nvSpPr>
          <p:cNvPr id="21" name="Text 15"/>
          <p:cNvSpPr txBox="1"/>
          <p:nvPr/>
        </p:nvSpPr>
        <p:spPr>
          <a:xfrm>
            <a:off x="1508760" y="4398264"/>
            <a:ext cx="2743200" cy="640080"/>
          </a:xfrm>
          <a:prstGeom prst="rect">
            <a:avLst/>
          </a:prstGeom>
          <a:noFill/>
          <a:ln/>
        </p:spPr>
        <p:txBody>
          <a:bodyPr wrap="square" lIns="0" tIns="0" rIns="0" bIns="0" rtlCol="0" anchor="ctr"/>
          <a:lstStyle/>
          <a:p>
            <a:pPr indent="0" marL="0">
              <a:buNone/>
            </a:pPr>
            <a:r>
              <a:rPr lang="en-US" sz="1600" b="1" dirty="0">
                <a:solidFill>
                  <a:schemeClr val="accent1"/>
                </a:solidFill>
              </a:rPr>
              <a:t>RQ4  Escalation</a:t>
            </a:r>
            <a:endParaRPr lang="en-US" sz="1600" dirty="0"/>
          </a:p>
        </p:txBody>
      </p:sp>
      <p:sp>
        <p:nvSpPr>
          <p:cNvPr id="22" name="Text 16"/>
          <p:cNvSpPr txBox="1"/>
          <p:nvPr/>
        </p:nvSpPr>
        <p:spPr>
          <a:xfrm>
            <a:off x="4297680" y="4398264"/>
            <a:ext cx="7132320" cy="640080"/>
          </a:xfrm>
          <a:prstGeom prst="rect">
            <a:avLst/>
          </a:prstGeom>
          <a:noFill/>
          <a:ln/>
        </p:spPr>
        <p:txBody>
          <a:bodyPr wrap="square" lIns="0" tIns="0" rIns="0" bIns="0" rtlCol="0" anchor="ctr"/>
          <a:lstStyle/>
          <a:p>
            <a:pPr indent="0" marL="0">
              <a:buNone/>
            </a:pPr>
            <a:r>
              <a:rPr lang="en-US" sz="1500" dirty="0">
                <a:solidFill>
                  <a:schemeClr val="tx1"/>
                </a:solidFill>
              </a:rPr>
              <a:t>How can the system spot uncertain or sensitive messages and pass them to staff?</a:t>
            </a:r>
            <a:endParaRPr lang="en-US" sz="1500" dirty="0"/>
          </a:p>
        </p:txBody>
      </p:sp>
      <p:sp>
        <p:nvSpPr>
          <p:cNvPr id="23" name="RQ card 5"/>
          <p:cNvSpPr/>
          <p:nvPr/>
        </p:nvSpPr>
        <p:spPr>
          <a:xfrm>
            <a:off x="548640" y="5285232"/>
            <a:ext cx="11064240" cy="822960"/>
          </a:xfrm>
          <a:prstGeom prst="roundRect">
            <a:avLst>
              <a:gd name="adj" fmla="val 13333"/>
            </a:avLst>
          </a:prstGeom>
          <a:solidFill>
            <a:schemeClr val="bg2"/>
          </a:solidFill>
          <a:ln w="12700">
            <a:solidFill>
              <a:schemeClr val="bg2"/>
            </a:solidFill>
            <a:prstDash val="solid"/>
          </a:ln>
        </p:spPr>
      </p:sp>
      <p:sp>
        <p:nvSpPr>
          <p:cNvPr id="24" name="RQ icon 5 circle"/>
          <p:cNvSpPr/>
          <p:nvPr/>
        </p:nvSpPr>
        <p:spPr>
          <a:xfrm>
            <a:off x="731520" y="5404104"/>
            <a:ext cx="585216" cy="585216"/>
          </a:xfrm>
          <a:prstGeom prst="ellipse">
            <a:avLst/>
          </a:prstGeom>
          <a:solidFill>
            <a:schemeClr val="accent1"/>
          </a:solidFill>
          <a:ln w="12700">
            <a:solidFill>
              <a:schemeClr val="accent1"/>
            </a:solidFill>
            <a:prstDash val="solid"/>
          </a:ln>
        </p:spPr>
      </p:sp>
      <p:pic>
        <p:nvPicPr>
          <p:cNvPr id="25" name="RQ icon 5" descr="preencoded.png">    </p:cNvPr>
          <p:cNvPicPr>
            <a:picLocks noChangeAspect="1"/>
          </p:cNvPicPr>
          <p:nvPr/>
        </p:nvPicPr>
        <p:blipFill>
          <a:blip r:embed="rId5"/>
          <a:stretch>
            <a:fillRect/>
          </a:stretch>
        </p:blipFill>
        <p:spPr>
          <a:xfrm>
            <a:off x="871972" y="5544556"/>
            <a:ext cx="304312" cy="304312"/>
          </a:xfrm>
          <a:prstGeom prst="rect">
            <a:avLst/>
          </a:prstGeom>
        </p:spPr>
      </p:pic>
      <p:sp>
        <p:nvSpPr>
          <p:cNvPr id="26" name="Text 19"/>
          <p:cNvSpPr txBox="1"/>
          <p:nvPr/>
        </p:nvSpPr>
        <p:spPr>
          <a:xfrm>
            <a:off x="1508760" y="5376672"/>
            <a:ext cx="2743200" cy="640080"/>
          </a:xfrm>
          <a:prstGeom prst="rect">
            <a:avLst/>
          </a:prstGeom>
          <a:noFill/>
          <a:ln/>
        </p:spPr>
        <p:txBody>
          <a:bodyPr wrap="square" lIns="0" tIns="0" rIns="0" bIns="0" rtlCol="0" anchor="ctr"/>
          <a:lstStyle/>
          <a:p>
            <a:pPr indent="0" marL="0">
              <a:buNone/>
            </a:pPr>
            <a:r>
              <a:rPr lang="en-US" sz="1600" b="1" dirty="0">
                <a:solidFill>
                  <a:schemeClr val="accent1"/>
                </a:solidFill>
              </a:rPr>
              <a:t>RQ5  Evaluation</a:t>
            </a:r>
            <a:endParaRPr lang="en-US" sz="1600" dirty="0"/>
          </a:p>
        </p:txBody>
      </p:sp>
      <p:sp>
        <p:nvSpPr>
          <p:cNvPr id="27" name="Text 20"/>
          <p:cNvSpPr txBox="1"/>
          <p:nvPr/>
        </p:nvSpPr>
        <p:spPr>
          <a:xfrm>
            <a:off x="4297680" y="5376672"/>
            <a:ext cx="7132320" cy="640080"/>
          </a:xfrm>
          <a:prstGeom prst="rect">
            <a:avLst/>
          </a:prstGeom>
          <a:noFill/>
          <a:ln/>
        </p:spPr>
        <p:txBody>
          <a:bodyPr wrap="square" lIns="0" tIns="0" rIns="0" bIns="0" rtlCol="0" anchor="ctr"/>
          <a:lstStyle/>
          <a:p>
            <a:pPr indent="0" marL="0">
              <a:buNone/>
            </a:pPr>
            <a:r>
              <a:rPr lang="en-US" sz="1500" dirty="0">
                <a:solidFill>
                  <a:schemeClr val="tx1"/>
                </a:solidFill>
              </a:rPr>
              <a:t>How can accuracy, relevance, response time, usability and satisfaction be measured?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What the literature tells us</a:t>
            </a:r>
            <a:endParaRPr lang="en-US" sz="3200" dirty="0"/>
          </a:p>
        </p:txBody>
      </p:sp>
      <p:sp>
        <p:nvSpPr>
          <p:cNvPr id="3" name="literature card 1"/>
          <p:cNvSpPr/>
          <p:nvPr/>
        </p:nvSpPr>
        <p:spPr>
          <a:xfrm>
            <a:off x="548640" y="1371600"/>
            <a:ext cx="5440680" cy="2240280"/>
          </a:xfrm>
          <a:prstGeom prst="roundRect">
            <a:avLst>
              <a:gd name="adj" fmla="val 4898"/>
            </a:avLst>
          </a:prstGeom>
          <a:solidFill>
            <a:schemeClr val="bg2"/>
          </a:solidFill>
          <a:ln w="12700">
            <a:solidFill>
              <a:schemeClr val="bg2"/>
            </a:solidFill>
            <a:prstDash val="solid"/>
          </a:ln>
        </p:spPr>
      </p:sp>
      <p:sp>
        <p:nvSpPr>
          <p:cNvPr id="4" name="lit icon 1 circle"/>
          <p:cNvSpPr/>
          <p:nvPr/>
        </p:nvSpPr>
        <p:spPr>
          <a:xfrm>
            <a:off x="822960" y="1645920"/>
            <a:ext cx="685800" cy="685800"/>
          </a:xfrm>
          <a:prstGeom prst="ellipse">
            <a:avLst/>
          </a:prstGeom>
          <a:solidFill>
            <a:schemeClr val="accent1"/>
          </a:solidFill>
          <a:ln w="12700">
            <a:solidFill>
              <a:schemeClr val="accent1"/>
            </a:solidFill>
            <a:prstDash val="solid"/>
          </a:ln>
        </p:spPr>
      </p:sp>
      <p:pic>
        <p:nvPicPr>
          <p:cNvPr id="5" name="lit icon 1" descr="preencoded.png">    </p:cNvPr>
          <p:cNvPicPr>
            <a:picLocks noChangeAspect="1"/>
          </p:cNvPicPr>
          <p:nvPr/>
        </p:nvPicPr>
        <p:blipFill>
          <a:blip r:embed="rId1"/>
          <a:stretch>
            <a:fillRect/>
          </a:stretch>
        </p:blipFill>
        <p:spPr>
          <a:xfrm>
            <a:off x="987552" y="1810512"/>
            <a:ext cx="356616" cy="356616"/>
          </a:xfrm>
          <a:prstGeom prst="rect">
            <a:avLst/>
          </a:prstGeom>
        </p:spPr>
      </p:pic>
      <p:sp>
        <p:nvSpPr>
          <p:cNvPr id="6" name="Text 3"/>
          <p:cNvSpPr txBox="1"/>
          <p:nvPr/>
        </p:nvSpPr>
        <p:spPr>
          <a:xfrm>
            <a:off x="1691640" y="1645920"/>
            <a:ext cx="4114800" cy="685800"/>
          </a:xfrm>
          <a:prstGeom prst="rect">
            <a:avLst/>
          </a:prstGeom>
          <a:noFill/>
          <a:ln/>
        </p:spPr>
        <p:txBody>
          <a:bodyPr wrap="square" lIns="0" tIns="0" rIns="0" bIns="0" rtlCol="0" anchor="ctr"/>
          <a:lstStyle/>
          <a:p>
            <a:pPr indent="0" marL="0">
              <a:buNone/>
            </a:pPr>
            <a:r>
              <a:rPr lang="en-US" sz="1800" b="1" dirty="0">
                <a:solidFill>
                  <a:schemeClr val="accent1"/>
                </a:solidFill>
              </a:rPr>
              <a:t>Accuracy matters more than speed</a:t>
            </a:r>
            <a:endParaRPr lang="en-US" sz="1800" dirty="0"/>
          </a:p>
        </p:txBody>
      </p:sp>
      <p:sp>
        <p:nvSpPr>
          <p:cNvPr id="7" name="Text 4"/>
          <p:cNvSpPr txBox="1"/>
          <p:nvPr/>
        </p:nvSpPr>
        <p:spPr>
          <a:xfrm>
            <a:off x="822960" y="2468880"/>
            <a:ext cx="4937760" cy="777240"/>
          </a:xfrm>
          <a:prstGeom prst="rect">
            <a:avLst/>
          </a:prstGeom>
          <a:noFill/>
          <a:ln/>
        </p:spPr>
        <p:txBody>
          <a:bodyPr wrap="square" lIns="0" tIns="0" rIns="0" bIns="0" rtlCol="0" anchor="t"/>
          <a:lstStyle/>
          <a:p>
            <a:pPr indent="0" marL="0">
              <a:buNone/>
            </a:pPr>
            <a:r>
              <a:rPr lang="en-US" sz="1500" dirty="0">
                <a:solidFill>
                  <a:schemeClr val="tx1"/>
                </a:solidFill>
              </a:rPr>
              <a:t>Speed, accuracy, convenience and access all shape service quality. Concrete answers raise satisfaction.</a:t>
            </a:r>
            <a:endParaRPr lang="en-US" sz="1500" dirty="0"/>
          </a:p>
        </p:txBody>
      </p:sp>
      <p:sp>
        <p:nvSpPr>
          <p:cNvPr id="8" name="Text 5"/>
          <p:cNvSpPr txBox="1"/>
          <p:nvPr/>
        </p:nvSpPr>
        <p:spPr>
          <a:xfrm>
            <a:off x="822960" y="3246120"/>
            <a:ext cx="4937760" cy="274320"/>
          </a:xfrm>
          <a:prstGeom prst="rect">
            <a:avLst/>
          </a:prstGeom>
          <a:noFill/>
          <a:ln/>
        </p:spPr>
        <p:txBody>
          <a:bodyPr wrap="square" lIns="0" tIns="0" rIns="0" bIns="0" rtlCol="0" anchor="t"/>
          <a:lstStyle/>
          <a:p>
            <a:pPr indent="0" marL="0">
              <a:buNone/>
            </a:pPr>
            <a:r>
              <a:rPr lang="en-US" sz="1100" i="1" dirty="0">
                <a:solidFill>
                  <a:srgbClr val="5E6E66"/>
                </a:solidFill>
              </a:rPr>
              <a:t>Zhang et al. 2024; Zhu et al. 2023</a:t>
            </a:r>
            <a:endParaRPr lang="en-US" sz="1100" dirty="0"/>
          </a:p>
        </p:txBody>
      </p:sp>
      <p:sp>
        <p:nvSpPr>
          <p:cNvPr id="9" name="literature card 2"/>
          <p:cNvSpPr/>
          <p:nvPr/>
        </p:nvSpPr>
        <p:spPr>
          <a:xfrm>
            <a:off x="6172200" y="1371600"/>
            <a:ext cx="5440680" cy="2240280"/>
          </a:xfrm>
          <a:prstGeom prst="roundRect">
            <a:avLst>
              <a:gd name="adj" fmla="val 4898"/>
            </a:avLst>
          </a:prstGeom>
          <a:solidFill>
            <a:schemeClr val="bg2"/>
          </a:solidFill>
          <a:ln w="12700">
            <a:solidFill>
              <a:schemeClr val="bg2"/>
            </a:solidFill>
            <a:prstDash val="solid"/>
          </a:ln>
        </p:spPr>
      </p:sp>
      <p:sp>
        <p:nvSpPr>
          <p:cNvPr id="10" name="lit icon 2 circle"/>
          <p:cNvSpPr/>
          <p:nvPr/>
        </p:nvSpPr>
        <p:spPr>
          <a:xfrm>
            <a:off x="6446520" y="1645920"/>
            <a:ext cx="685800" cy="685800"/>
          </a:xfrm>
          <a:prstGeom prst="ellipse">
            <a:avLst/>
          </a:prstGeom>
          <a:solidFill>
            <a:schemeClr val="accent1"/>
          </a:solidFill>
          <a:ln w="12700">
            <a:solidFill>
              <a:schemeClr val="accent1"/>
            </a:solidFill>
            <a:prstDash val="solid"/>
          </a:ln>
        </p:spPr>
      </p:sp>
      <p:pic>
        <p:nvPicPr>
          <p:cNvPr id="11" name="lit icon 2" descr="preencoded.png">    </p:cNvPr>
          <p:cNvPicPr>
            <a:picLocks noChangeAspect="1"/>
          </p:cNvPicPr>
          <p:nvPr/>
        </p:nvPicPr>
        <p:blipFill>
          <a:blip r:embed="rId2"/>
          <a:stretch>
            <a:fillRect/>
          </a:stretch>
        </p:blipFill>
        <p:spPr>
          <a:xfrm>
            <a:off x="6611112" y="1810512"/>
            <a:ext cx="356616" cy="356616"/>
          </a:xfrm>
          <a:prstGeom prst="rect">
            <a:avLst/>
          </a:prstGeom>
        </p:spPr>
      </p:pic>
      <p:sp>
        <p:nvSpPr>
          <p:cNvPr id="12" name="Text 8"/>
          <p:cNvSpPr txBox="1"/>
          <p:nvPr/>
        </p:nvSpPr>
        <p:spPr>
          <a:xfrm>
            <a:off x="7315200" y="1645920"/>
            <a:ext cx="4114800" cy="685800"/>
          </a:xfrm>
          <a:prstGeom prst="rect">
            <a:avLst/>
          </a:prstGeom>
          <a:noFill/>
          <a:ln/>
        </p:spPr>
        <p:txBody>
          <a:bodyPr wrap="square" lIns="0" tIns="0" rIns="0" bIns="0" rtlCol="0" anchor="ctr"/>
          <a:lstStyle/>
          <a:p>
            <a:pPr indent="0" marL="0">
              <a:buNone/>
            </a:pPr>
            <a:r>
              <a:rPr lang="en-US" sz="1800" b="1" dirty="0">
                <a:solidFill>
                  <a:schemeClr val="accent1"/>
                </a:solidFill>
              </a:rPr>
              <a:t>Bot + light human help works</a:t>
            </a:r>
            <a:endParaRPr lang="en-US" sz="1800" dirty="0"/>
          </a:p>
        </p:txBody>
      </p:sp>
      <p:sp>
        <p:nvSpPr>
          <p:cNvPr id="13" name="Text 9"/>
          <p:cNvSpPr txBox="1"/>
          <p:nvPr/>
        </p:nvSpPr>
        <p:spPr>
          <a:xfrm>
            <a:off x="6446520" y="2468880"/>
            <a:ext cx="4937760" cy="777240"/>
          </a:xfrm>
          <a:prstGeom prst="rect">
            <a:avLst/>
          </a:prstGeom>
          <a:noFill/>
          <a:ln/>
        </p:spPr>
        <p:txBody>
          <a:bodyPr wrap="square" lIns="0" tIns="0" rIns="0" bIns="0" rtlCol="0" anchor="t"/>
          <a:lstStyle/>
          <a:p>
            <a:pPr indent="0" marL="0">
              <a:buNone/>
            </a:pPr>
            <a:r>
              <a:rPr lang="en-US" sz="1500" dirty="0">
                <a:solidFill>
                  <a:schemeClr val="tx1"/>
                </a:solidFill>
              </a:rPr>
              <a:t>In 3 studies with 643 people, a chatbot with light human intervention matched human-only service.</a:t>
            </a:r>
            <a:endParaRPr lang="en-US" sz="1500" dirty="0"/>
          </a:p>
        </p:txBody>
      </p:sp>
      <p:sp>
        <p:nvSpPr>
          <p:cNvPr id="14" name="Text 10"/>
          <p:cNvSpPr txBox="1"/>
          <p:nvPr/>
        </p:nvSpPr>
        <p:spPr>
          <a:xfrm>
            <a:off x="6446520" y="3246120"/>
            <a:ext cx="4937760" cy="274320"/>
          </a:xfrm>
          <a:prstGeom prst="rect">
            <a:avLst/>
          </a:prstGeom>
          <a:noFill/>
          <a:ln/>
        </p:spPr>
        <p:txBody>
          <a:bodyPr wrap="square" lIns="0" tIns="0" rIns="0" bIns="0" rtlCol="0" anchor="t"/>
          <a:lstStyle/>
          <a:p>
            <a:pPr indent="0" marL="0">
              <a:buNone/>
            </a:pPr>
            <a:r>
              <a:rPr lang="en-US" sz="1100" i="1" dirty="0">
                <a:solidFill>
                  <a:srgbClr val="5E6E66"/>
                </a:solidFill>
              </a:rPr>
              <a:t>Huang et al. 2024</a:t>
            </a:r>
            <a:endParaRPr lang="en-US" sz="1100" dirty="0"/>
          </a:p>
        </p:txBody>
      </p:sp>
      <p:sp>
        <p:nvSpPr>
          <p:cNvPr id="15" name="literature card 3"/>
          <p:cNvSpPr/>
          <p:nvPr/>
        </p:nvSpPr>
        <p:spPr>
          <a:xfrm>
            <a:off x="548640" y="3794760"/>
            <a:ext cx="5440680" cy="2240280"/>
          </a:xfrm>
          <a:prstGeom prst="roundRect">
            <a:avLst>
              <a:gd name="adj" fmla="val 4898"/>
            </a:avLst>
          </a:prstGeom>
          <a:solidFill>
            <a:schemeClr val="bg2"/>
          </a:solidFill>
          <a:ln w="12700">
            <a:solidFill>
              <a:schemeClr val="bg2"/>
            </a:solidFill>
            <a:prstDash val="solid"/>
          </a:ln>
        </p:spPr>
      </p:sp>
      <p:sp>
        <p:nvSpPr>
          <p:cNvPr id="16" name="lit icon 3 circle"/>
          <p:cNvSpPr/>
          <p:nvPr/>
        </p:nvSpPr>
        <p:spPr>
          <a:xfrm>
            <a:off x="822960" y="4069080"/>
            <a:ext cx="685800" cy="685800"/>
          </a:xfrm>
          <a:prstGeom prst="ellipse">
            <a:avLst/>
          </a:prstGeom>
          <a:solidFill>
            <a:schemeClr val="accent2"/>
          </a:solidFill>
          <a:ln w="12700">
            <a:solidFill>
              <a:schemeClr val="accent2"/>
            </a:solidFill>
            <a:prstDash val="solid"/>
          </a:ln>
        </p:spPr>
      </p:sp>
      <p:pic>
        <p:nvPicPr>
          <p:cNvPr id="17" name="lit icon 3" descr="preencoded.png">    </p:cNvPr>
          <p:cNvPicPr>
            <a:picLocks noChangeAspect="1"/>
          </p:cNvPicPr>
          <p:nvPr/>
        </p:nvPicPr>
        <p:blipFill>
          <a:blip r:embed="rId3"/>
          <a:stretch>
            <a:fillRect/>
          </a:stretch>
        </p:blipFill>
        <p:spPr>
          <a:xfrm>
            <a:off x="987552" y="4233672"/>
            <a:ext cx="356616" cy="356616"/>
          </a:xfrm>
          <a:prstGeom prst="rect">
            <a:avLst/>
          </a:prstGeom>
        </p:spPr>
      </p:pic>
      <p:sp>
        <p:nvSpPr>
          <p:cNvPr id="18" name="Text 13"/>
          <p:cNvSpPr txBox="1"/>
          <p:nvPr/>
        </p:nvSpPr>
        <p:spPr>
          <a:xfrm>
            <a:off x="1691640" y="4069080"/>
            <a:ext cx="4114800" cy="685800"/>
          </a:xfrm>
          <a:prstGeom prst="rect">
            <a:avLst/>
          </a:prstGeom>
          <a:noFill/>
          <a:ln/>
        </p:spPr>
        <p:txBody>
          <a:bodyPr wrap="square" lIns="0" tIns="0" rIns="0" bIns="0" rtlCol="0" anchor="ctr"/>
          <a:lstStyle/>
          <a:p>
            <a:pPr indent="0" marL="0">
              <a:buNone/>
            </a:pPr>
            <a:r>
              <a:rPr lang="en-US" sz="1800" b="1" dirty="0">
                <a:solidFill>
                  <a:schemeClr val="accent1"/>
                </a:solidFill>
              </a:rPr>
              <a:t>Local chatbots still struggle</a:t>
            </a:r>
            <a:endParaRPr lang="en-US" sz="1800" dirty="0"/>
          </a:p>
        </p:txBody>
      </p:sp>
      <p:sp>
        <p:nvSpPr>
          <p:cNvPr id="19" name="Text 14"/>
          <p:cNvSpPr txBox="1"/>
          <p:nvPr/>
        </p:nvSpPr>
        <p:spPr>
          <a:xfrm>
            <a:off x="822960" y="4892040"/>
            <a:ext cx="4937760" cy="777240"/>
          </a:xfrm>
          <a:prstGeom prst="rect">
            <a:avLst/>
          </a:prstGeom>
          <a:noFill/>
          <a:ln/>
        </p:spPr>
        <p:txBody>
          <a:bodyPr wrap="square" lIns="0" tIns="0" rIns="0" bIns="0" rtlCol="0" anchor="t"/>
          <a:lstStyle/>
          <a:p>
            <a:pPr indent="0" marL="0">
              <a:buNone/>
            </a:pPr>
            <a:r>
              <a:rPr lang="en-US" sz="1500" dirty="0">
                <a:solidFill>
                  <a:schemeClr val="tx1"/>
                </a:solidFill>
              </a:rPr>
              <a:t>Filipino users of Shopee and Lazada bots reported problems with problem resolution and understanding.</a:t>
            </a:r>
            <a:endParaRPr lang="en-US" sz="1500" dirty="0"/>
          </a:p>
        </p:txBody>
      </p:sp>
      <p:sp>
        <p:nvSpPr>
          <p:cNvPr id="20" name="Text 15"/>
          <p:cNvSpPr txBox="1"/>
          <p:nvPr/>
        </p:nvSpPr>
        <p:spPr>
          <a:xfrm>
            <a:off x="822960" y="5669280"/>
            <a:ext cx="4937760" cy="274320"/>
          </a:xfrm>
          <a:prstGeom prst="rect">
            <a:avLst/>
          </a:prstGeom>
          <a:noFill/>
          <a:ln/>
        </p:spPr>
        <p:txBody>
          <a:bodyPr wrap="square" lIns="0" tIns="0" rIns="0" bIns="0" rtlCol="0" anchor="t"/>
          <a:lstStyle/>
          <a:p>
            <a:pPr indent="0" marL="0">
              <a:buNone/>
            </a:pPr>
            <a:r>
              <a:rPr lang="en-US" sz="1100" i="1" dirty="0">
                <a:solidFill>
                  <a:srgbClr val="5E6E66"/>
                </a:solidFill>
              </a:rPr>
              <a:t>DLSU SHS Research Congress 2024</a:t>
            </a:r>
            <a:endParaRPr lang="en-US" sz="1100" dirty="0"/>
          </a:p>
        </p:txBody>
      </p:sp>
      <p:sp>
        <p:nvSpPr>
          <p:cNvPr id="21" name="literature card 4"/>
          <p:cNvSpPr/>
          <p:nvPr/>
        </p:nvSpPr>
        <p:spPr>
          <a:xfrm>
            <a:off x="6172200" y="3794760"/>
            <a:ext cx="5440680" cy="2240280"/>
          </a:xfrm>
          <a:prstGeom prst="roundRect">
            <a:avLst>
              <a:gd name="adj" fmla="val 4898"/>
            </a:avLst>
          </a:prstGeom>
          <a:solidFill>
            <a:schemeClr val="bg2"/>
          </a:solidFill>
          <a:ln w="12700">
            <a:solidFill>
              <a:schemeClr val="bg2"/>
            </a:solidFill>
            <a:prstDash val="solid"/>
          </a:ln>
        </p:spPr>
      </p:sp>
      <p:sp>
        <p:nvSpPr>
          <p:cNvPr id="22" name="lit icon 4 circle"/>
          <p:cNvSpPr/>
          <p:nvPr/>
        </p:nvSpPr>
        <p:spPr>
          <a:xfrm>
            <a:off x="6446520" y="4069080"/>
            <a:ext cx="685800" cy="685800"/>
          </a:xfrm>
          <a:prstGeom prst="ellipse">
            <a:avLst/>
          </a:prstGeom>
          <a:solidFill>
            <a:schemeClr val="accent1"/>
          </a:solidFill>
          <a:ln w="12700">
            <a:solidFill>
              <a:schemeClr val="accent1"/>
            </a:solidFill>
            <a:prstDash val="solid"/>
          </a:ln>
        </p:spPr>
      </p:sp>
      <p:pic>
        <p:nvPicPr>
          <p:cNvPr id="23" name="lit icon 4" descr="preencoded.png">    </p:cNvPr>
          <p:cNvPicPr>
            <a:picLocks noChangeAspect="1"/>
          </p:cNvPicPr>
          <p:nvPr/>
        </p:nvPicPr>
        <p:blipFill>
          <a:blip r:embed="rId4"/>
          <a:stretch>
            <a:fillRect/>
          </a:stretch>
        </p:blipFill>
        <p:spPr>
          <a:xfrm>
            <a:off x="6611112" y="4233672"/>
            <a:ext cx="356616" cy="356616"/>
          </a:xfrm>
          <a:prstGeom prst="rect">
            <a:avLst/>
          </a:prstGeom>
        </p:spPr>
      </p:pic>
      <p:sp>
        <p:nvSpPr>
          <p:cNvPr id="24" name="Text 18"/>
          <p:cNvSpPr txBox="1"/>
          <p:nvPr/>
        </p:nvSpPr>
        <p:spPr>
          <a:xfrm>
            <a:off x="7315200" y="4069080"/>
            <a:ext cx="4114800" cy="685800"/>
          </a:xfrm>
          <a:prstGeom prst="rect">
            <a:avLst/>
          </a:prstGeom>
          <a:noFill/>
          <a:ln/>
        </p:spPr>
        <p:txBody>
          <a:bodyPr wrap="square" lIns="0" tIns="0" rIns="0" bIns="0" rtlCol="0" anchor="ctr"/>
          <a:lstStyle/>
          <a:p>
            <a:pPr indent="0" marL="0">
              <a:buNone/>
            </a:pPr>
            <a:r>
              <a:rPr lang="en-US" sz="1800" b="1" dirty="0">
                <a:solidFill>
                  <a:schemeClr val="accent1"/>
                </a:solidFill>
              </a:rPr>
              <a:t>Taglish is harder for AI</a:t>
            </a:r>
            <a:endParaRPr lang="en-US" sz="1800" dirty="0"/>
          </a:p>
        </p:txBody>
      </p:sp>
      <p:sp>
        <p:nvSpPr>
          <p:cNvPr id="25" name="Text 19"/>
          <p:cNvSpPr txBox="1"/>
          <p:nvPr/>
        </p:nvSpPr>
        <p:spPr>
          <a:xfrm>
            <a:off x="6446520" y="4892040"/>
            <a:ext cx="4937760" cy="777240"/>
          </a:xfrm>
          <a:prstGeom prst="rect">
            <a:avLst/>
          </a:prstGeom>
          <a:noFill/>
          <a:ln/>
        </p:spPr>
        <p:txBody>
          <a:bodyPr wrap="square" lIns="0" tIns="0" rIns="0" bIns="0" rtlCol="0" anchor="t"/>
          <a:lstStyle/>
          <a:p>
            <a:pPr indent="0" marL="0">
              <a:buNone/>
            </a:pPr>
            <a:r>
              <a:rPr lang="en-US" sz="1500" dirty="0">
                <a:solidFill>
                  <a:schemeClr val="tx1"/>
                </a:solidFill>
              </a:rPr>
              <a:t>Language models perform unevenly on Tagalog and code-switched Taglish text.</a:t>
            </a:r>
            <a:endParaRPr lang="en-US" sz="1500" dirty="0"/>
          </a:p>
        </p:txBody>
      </p:sp>
      <p:sp>
        <p:nvSpPr>
          <p:cNvPr id="26" name="Text 20"/>
          <p:cNvSpPr txBox="1"/>
          <p:nvPr/>
        </p:nvSpPr>
        <p:spPr>
          <a:xfrm>
            <a:off x="6446520" y="5669280"/>
            <a:ext cx="4937760" cy="274320"/>
          </a:xfrm>
          <a:prstGeom prst="rect">
            <a:avLst/>
          </a:prstGeom>
          <a:noFill/>
          <a:ln/>
        </p:spPr>
        <p:txBody>
          <a:bodyPr wrap="square" lIns="0" tIns="0" rIns="0" bIns="0" rtlCol="0" anchor="t"/>
          <a:lstStyle/>
          <a:p>
            <a:pPr indent="0" marL="0">
              <a:buNone/>
            </a:pPr>
            <a:r>
              <a:rPr lang="en-US" sz="1100" i="1" dirty="0">
                <a:solidFill>
                  <a:srgbClr val="5E6E66"/>
                </a:solidFill>
              </a:rPr>
              <a:t>Montalan et al. 2025; Layacan et al. 2024</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Similar studies and the research gap</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1554480"/>
                <a:gridCol w="2103120"/>
                <a:gridCol w="4114800"/>
              </a:tblGrid>
              <a:tr h="457200">
                <a:tc>
                  <a:txBody>
                    <a:bodyPr/>
                    <a:lstStyle/>
                    <a:p>
                      <a:pPr indent="0" marL="0">
                        <a:buNone/>
                      </a:pPr>
                      <a:r>
                        <a:rPr lang="en-US" sz="1400" b="1" dirty="0">
                          <a:solidFill>
                            <a:schemeClr val="bg1"/>
                          </a:solidFill>
                        </a:rPr>
                        <a:t>Study / system</a:t>
                      </a:r>
                      <a:endParaRPr lang="en-US" sz="14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Where</a:t>
                      </a:r>
                      <a:endParaRPr lang="en-US" sz="14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Used in the PH?</a:t>
                      </a:r>
                      <a:endParaRPr lang="en-US" sz="14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shows</a:t>
                      </a:r>
                      <a:endParaRPr lang="en-US" sz="14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r>
              <a:tr h="457200">
                <a:tc>
                  <a:txBody>
                    <a:bodyPr/>
                    <a:lstStyle/>
                    <a:p>
                      <a:pPr indent="0" marL="0">
                        <a:buNone/>
                      </a:pPr>
                      <a:r>
                        <a:rPr lang="en-US" sz="1300" dirty="0">
                          <a:solidFill>
                            <a:srgbClr val="1B2A24"/>
                          </a:solidFill>
                        </a:rPr>
                        <a:t>Chatbots in online shops (IJEAST 2025)</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Nueva Ecija</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Yes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Shoppers rated live shop chatbots well (ISO/IEC 25010)</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24"/>
                          </a:solidFill>
                        </a:rPr>
                        <a:t>Shopee and Lazada chatbots (DLSU 2024)</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Philippines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Yes, large platforms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Users struggled with local dialogue</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24"/>
                          </a:solidFill>
                        </a:rPr>
                        <a:t>Taglish RAG benchmark (JAIT 2025)</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Philippines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No, lab test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English &gt; Taglish &gt; Tagalog accuracy</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24"/>
                          </a:solidFill>
                        </a:rPr>
                        <a:t>iTANONG (DOST-ASTI)</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Philippines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Yes, government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Taglish answers from approved data</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24"/>
                          </a:solidFill>
                        </a:rPr>
                        <a:t>ChatGenie</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Philippines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Yes, MSMEs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Chat commerce; ordering, not grounded support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24"/>
                          </a:solidFill>
                        </a:rPr>
                        <a:t>Chatbots in MSMEs (Cordero et al.)</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Ecuador</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No</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High SUS and satisfaction for repetitive inquiries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bl>
          </a:graphicData>
        </a:graphic>
      </p:graphicFrame>
      <p:sp>
        <p:nvSpPr>
          <p:cNvPr id="4" name="gap statement"/>
          <p:cNvSpPr/>
          <p:nvPr/>
        </p:nvSpPr>
        <p:spPr>
          <a:xfrm>
            <a:off x="548640" y="4892040"/>
            <a:ext cx="11064240" cy="1143000"/>
          </a:xfrm>
          <a:prstGeom prst="roundRect">
            <a:avLst>
              <a:gd name="adj" fmla="val 9600"/>
            </a:avLst>
          </a:prstGeom>
          <a:solidFill>
            <a:schemeClr val="accent2"/>
          </a:solidFill>
          <a:ln w="12700">
            <a:solidFill>
              <a:schemeClr val="accent2"/>
            </a:solidFill>
            <a:prstDash val="solid"/>
          </a:ln>
        </p:spPr>
      </p:sp>
      <p:sp>
        <p:nvSpPr>
          <p:cNvPr id="5" name="Text 2"/>
          <p:cNvSpPr txBox="1"/>
          <p:nvPr/>
        </p:nvSpPr>
        <p:spPr>
          <a:xfrm>
            <a:off x="868680" y="5029200"/>
            <a:ext cx="10515600" cy="868680"/>
          </a:xfrm>
          <a:prstGeom prst="rect">
            <a:avLst/>
          </a:prstGeom>
          <a:noFill/>
          <a:ln/>
        </p:spPr>
        <p:txBody>
          <a:bodyPr wrap="square" lIns="0" tIns="0" rIns="0" bIns="0" rtlCol="0" anchor="ctr"/>
          <a:lstStyle/>
          <a:p>
            <a:pPr indent="0" marL="0">
              <a:buNone/>
            </a:pPr>
            <a:r>
              <a:rPr lang="en-US" sz="1700" b="1" dirty="0">
                <a:solidFill>
                  <a:schemeClr val="bg1"/>
                </a:solidFill>
              </a:rPr>
              <a:t>Gap: </a:t>
            </a:r>
            <a:pPr indent="0" marL="0">
              <a:buNone/>
            </a:pPr>
            <a:r>
              <a:rPr lang="en-US" sz="1700" dirty="0">
                <a:solidFill>
                  <a:schemeClr val="bg1"/>
                </a:solidFill>
              </a:rPr>
              <a:t>no published design yet combines owner-controlled answers, Taglish testing and human hand-off for micro sellers, and none in Baguio or Benguet.</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Design-science approach with Agile sprints</a:t>
            </a:r>
            <a:endParaRPr lang="en-US" sz="3200" dirty="0"/>
          </a:p>
        </p:txBody>
      </p:sp>
      <p:sp>
        <p:nvSpPr>
          <p:cNvPr id="3" name="design science step 1"/>
          <p:cNvSpPr/>
          <p:nvPr/>
        </p:nvSpPr>
        <p:spPr>
          <a:xfrm>
            <a:off x="548640" y="1371600"/>
            <a:ext cx="3520440" cy="1828800"/>
          </a:xfrm>
          <a:prstGeom prst="roundRect">
            <a:avLst>
              <a:gd name="adj" fmla="val 6000"/>
            </a:avLst>
          </a:prstGeom>
          <a:solidFill>
            <a:schemeClr val="bg2"/>
          </a:solidFill>
          <a:ln w="12700">
            <a:solidFill>
              <a:schemeClr val="bg2"/>
            </a:solidFill>
            <a:prstDash val="solid"/>
          </a:ln>
        </p:spPr>
      </p:sp>
      <p:sp>
        <p:nvSpPr>
          <p:cNvPr id="4" name="step icon 1 circle"/>
          <p:cNvSpPr/>
          <p:nvPr/>
        </p:nvSpPr>
        <p:spPr>
          <a:xfrm>
            <a:off x="822960" y="1600200"/>
            <a:ext cx="640080" cy="640080"/>
          </a:xfrm>
          <a:prstGeom prst="ellipse">
            <a:avLst/>
          </a:prstGeom>
          <a:solidFill>
            <a:schemeClr val="accent1"/>
          </a:solidFill>
          <a:ln w="12700">
            <a:solidFill>
              <a:schemeClr val="accent1"/>
            </a:solidFill>
            <a:prstDash val="solid"/>
          </a:ln>
        </p:spPr>
      </p:sp>
      <p:pic>
        <p:nvPicPr>
          <p:cNvPr id="5" name="step icon 1"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1600200" y="1645920"/>
            <a:ext cx="2286000" cy="548640"/>
          </a:xfrm>
          <a:prstGeom prst="rect">
            <a:avLst/>
          </a:prstGeom>
          <a:noFill/>
          <a:ln/>
        </p:spPr>
        <p:txBody>
          <a:bodyPr wrap="square" lIns="0" tIns="0" rIns="0" bIns="0" rtlCol="0" anchor="ctr"/>
          <a:lstStyle/>
          <a:p>
            <a:pPr indent="0" marL="0">
              <a:buNone/>
            </a:pPr>
            <a:r>
              <a:rPr lang="en-US" sz="2000" b="1" dirty="0">
                <a:solidFill>
                  <a:schemeClr val="accent1"/>
                </a:solidFill>
              </a:rPr>
              <a:t>Identify</a:t>
            </a:r>
            <a:endParaRPr lang="en-US" sz="2000" dirty="0"/>
          </a:p>
        </p:txBody>
      </p:sp>
      <p:sp>
        <p:nvSpPr>
          <p:cNvPr id="7" name="Text 4"/>
          <p:cNvSpPr txBox="1"/>
          <p:nvPr/>
        </p:nvSpPr>
        <p:spPr>
          <a:xfrm>
            <a:off x="822960" y="2377440"/>
            <a:ext cx="3017520" cy="731520"/>
          </a:xfrm>
          <a:prstGeom prst="rect">
            <a:avLst/>
          </a:prstGeom>
          <a:noFill/>
          <a:ln/>
        </p:spPr>
        <p:txBody>
          <a:bodyPr wrap="square" lIns="0" tIns="0" rIns="0" bIns="0" rtlCol="0" anchor="t"/>
          <a:lstStyle/>
          <a:p>
            <a:pPr indent="0" marL="0">
              <a:buNone/>
            </a:pPr>
            <a:r>
              <a:rPr lang="en-US" sz="1400" dirty="0">
                <a:solidFill>
                  <a:schemeClr val="tx1"/>
                </a:solidFill>
              </a:rPr>
              <a:t>Seller interviews and Survey A confirm the real problem</a:t>
            </a:r>
            <a:endParaRPr lang="en-US" sz="1400" dirty="0"/>
          </a:p>
        </p:txBody>
      </p:sp>
      <p:sp>
        <p:nvSpPr>
          <p:cNvPr id="8" name="design science step 2"/>
          <p:cNvSpPr/>
          <p:nvPr/>
        </p:nvSpPr>
        <p:spPr>
          <a:xfrm>
            <a:off x="4343400" y="1371600"/>
            <a:ext cx="3520440" cy="1828800"/>
          </a:xfrm>
          <a:prstGeom prst="roundRect">
            <a:avLst>
              <a:gd name="adj" fmla="val 6000"/>
            </a:avLst>
          </a:prstGeom>
          <a:solidFill>
            <a:schemeClr val="bg2"/>
          </a:solidFill>
          <a:ln w="12700">
            <a:solidFill>
              <a:schemeClr val="bg2"/>
            </a:solidFill>
            <a:prstDash val="solid"/>
          </a:ln>
        </p:spPr>
      </p:sp>
      <p:sp>
        <p:nvSpPr>
          <p:cNvPr id="9" name="step icon 2 circle"/>
          <p:cNvSpPr/>
          <p:nvPr/>
        </p:nvSpPr>
        <p:spPr>
          <a:xfrm>
            <a:off x="4617720" y="1600200"/>
            <a:ext cx="640080" cy="640080"/>
          </a:xfrm>
          <a:prstGeom prst="ellipse">
            <a:avLst/>
          </a:prstGeom>
          <a:solidFill>
            <a:schemeClr val="accent1"/>
          </a:solidFill>
          <a:ln w="12700">
            <a:solidFill>
              <a:schemeClr val="accent1"/>
            </a:solidFill>
            <a:prstDash val="solid"/>
          </a:ln>
        </p:spPr>
      </p:sp>
      <p:pic>
        <p:nvPicPr>
          <p:cNvPr id="10" name="step icon 2" descr="preencoded.png">    </p:cNvPr>
          <p:cNvPicPr>
            <a:picLocks noChangeAspect="1"/>
          </p:cNvPicPr>
          <p:nvPr/>
        </p:nvPicPr>
        <p:blipFill>
          <a:blip r:embed="rId2"/>
          <a:stretch>
            <a:fillRect/>
          </a:stretch>
        </p:blipFill>
        <p:spPr>
          <a:xfrm>
            <a:off x="4771339" y="1753819"/>
            <a:ext cx="332842" cy="332842"/>
          </a:xfrm>
          <a:prstGeom prst="rect">
            <a:avLst/>
          </a:prstGeom>
        </p:spPr>
      </p:pic>
      <p:sp>
        <p:nvSpPr>
          <p:cNvPr id="11" name="Text 7"/>
          <p:cNvSpPr txBox="1"/>
          <p:nvPr/>
        </p:nvSpPr>
        <p:spPr>
          <a:xfrm>
            <a:off x="5394960" y="1645920"/>
            <a:ext cx="2286000" cy="548640"/>
          </a:xfrm>
          <a:prstGeom prst="rect">
            <a:avLst/>
          </a:prstGeom>
          <a:noFill/>
          <a:ln/>
        </p:spPr>
        <p:txBody>
          <a:bodyPr wrap="square" lIns="0" tIns="0" rIns="0" bIns="0" rtlCol="0" anchor="ctr"/>
          <a:lstStyle/>
          <a:p>
            <a:pPr indent="0" marL="0">
              <a:buNone/>
            </a:pPr>
            <a:r>
              <a:rPr lang="en-US" sz="2000" b="1" dirty="0">
                <a:solidFill>
                  <a:schemeClr val="accent1"/>
                </a:solidFill>
              </a:rPr>
              <a:t>Build</a:t>
            </a:r>
            <a:endParaRPr lang="en-US" sz="2000" dirty="0"/>
          </a:p>
        </p:txBody>
      </p:sp>
      <p:sp>
        <p:nvSpPr>
          <p:cNvPr id="12" name="Text 8"/>
          <p:cNvSpPr txBox="1"/>
          <p:nvPr/>
        </p:nvSpPr>
        <p:spPr>
          <a:xfrm>
            <a:off x="4617720" y="2377440"/>
            <a:ext cx="3017520" cy="731520"/>
          </a:xfrm>
          <a:prstGeom prst="rect">
            <a:avLst/>
          </a:prstGeom>
          <a:noFill/>
          <a:ln/>
        </p:spPr>
        <p:txBody>
          <a:bodyPr wrap="square" lIns="0" tIns="0" rIns="0" bIns="0" rtlCol="0" anchor="t"/>
          <a:lstStyle/>
          <a:p>
            <a:pPr indent="0" marL="0">
              <a:buNone/>
            </a:pPr>
            <a:r>
              <a:rPr lang="en-US" sz="1400" dirty="0">
                <a:solidFill>
                  <a:schemeClr val="tx1"/>
                </a:solidFill>
              </a:rPr>
              <a:t>Prototype developed in six two-week sprints</a:t>
            </a:r>
            <a:endParaRPr lang="en-US" sz="1400" dirty="0"/>
          </a:p>
        </p:txBody>
      </p:sp>
      <p:sp>
        <p:nvSpPr>
          <p:cNvPr id="13" name="design science step 3"/>
          <p:cNvSpPr/>
          <p:nvPr/>
        </p:nvSpPr>
        <p:spPr>
          <a:xfrm>
            <a:off x="8138160" y="1371600"/>
            <a:ext cx="3520440" cy="1828800"/>
          </a:xfrm>
          <a:prstGeom prst="roundRect">
            <a:avLst>
              <a:gd name="adj" fmla="val 6000"/>
            </a:avLst>
          </a:prstGeom>
          <a:solidFill>
            <a:schemeClr val="bg2"/>
          </a:solidFill>
          <a:ln w="12700">
            <a:solidFill>
              <a:schemeClr val="bg2"/>
            </a:solidFill>
            <a:prstDash val="solid"/>
          </a:ln>
        </p:spPr>
      </p:sp>
      <p:sp>
        <p:nvSpPr>
          <p:cNvPr id="14" name="step icon 3 circle"/>
          <p:cNvSpPr/>
          <p:nvPr/>
        </p:nvSpPr>
        <p:spPr>
          <a:xfrm>
            <a:off x="8412480" y="1600200"/>
            <a:ext cx="640080" cy="640080"/>
          </a:xfrm>
          <a:prstGeom prst="ellipse">
            <a:avLst/>
          </a:prstGeom>
          <a:solidFill>
            <a:schemeClr val="accent1"/>
          </a:solidFill>
          <a:ln w="12700">
            <a:solidFill>
              <a:schemeClr val="accent1"/>
            </a:solidFill>
            <a:prstDash val="solid"/>
          </a:ln>
        </p:spPr>
      </p:sp>
      <p:pic>
        <p:nvPicPr>
          <p:cNvPr id="15" name="step icon 3" descr="preencoded.png">    </p:cNvPr>
          <p:cNvPicPr>
            <a:picLocks noChangeAspect="1"/>
          </p:cNvPicPr>
          <p:nvPr/>
        </p:nvPicPr>
        <p:blipFill>
          <a:blip r:embed="rId3"/>
          <a:stretch>
            <a:fillRect/>
          </a:stretch>
        </p:blipFill>
        <p:spPr>
          <a:xfrm>
            <a:off x="8566099" y="1753819"/>
            <a:ext cx="332842" cy="332842"/>
          </a:xfrm>
          <a:prstGeom prst="rect">
            <a:avLst/>
          </a:prstGeom>
        </p:spPr>
      </p:pic>
      <p:sp>
        <p:nvSpPr>
          <p:cNvPr id="16" name="Text 11"/>
          <p:cNvSpPr txBox="1"/>
          <p:nvPr/>
        </p:nvSpPr>
        <p:spPr>
          <a:xfrm>
            <a:off x="9189720" y="1645920"/>
            <a:ext cx="2286000" cy="548640"/>
          </a:xfrm>
          <a:prstGeom prst="rect">
            <a:avLst/>
          </a:prstGeom>
          <a:noFill/>
          <a:ln/>
        </p:spPr>
        <p:txBody>
          <a:bodyPr wrap="square" lIns="0" tIns="0" rIns="0" bIns="0" rtlCol="0" anchor="ctr"/>
          <a:lstStyle/>
          <a:p>
            <a:pPr indent="0" marL="0">
              <a:buNone/>
            </a:pPr>
            <a:r>
              <a:rPr lang="en-US" sz="2000" b="1" dirty="0">
                <a:solidFill>
                  <a:schemeClr val="accent1"/>
                </a:solidFill>
              </a:rPr>
              <a:t>Evaluate</a:t>
            </a:r>
            <a:endParaRPr lang="en-US" sz="2000" dirty="0"/>
          </a:p>
        </p:txBody>
      </p:sp>
      <p:sp>
        <p:nvSpPr>
          <p:cNvPr id="17" name="Text 12"/>
          <p:cNvSpPr txBox="1"/>
          <p:nvPr/>
        </p:nvSpPr>
        <p:spPr>
          <a:xfrm>
            <a:off x="8412480" y="2377440"/>
            <a:ext cx="3017520" cy="731520"/>
          </a:xfrm>
          <a:prstGeom prst="rect">
            <a:avLst/>
          </a:prstGeom>
          <a:noFill/>
          <a:ln/>
        </p:spPr>
        <p:txBody>
          <a:bodyPr wrap="square" lIns="0" tIns="0" rIns="0" bIns="0" rtlCol="0" anchor="t"/>
          <a:lstStyle/>
          <a:p>
            <a:pPr indent="0" marL="0">
              <a:buNone/>
            </a:pPr>
            <a:r>
              <a:rPr lang="en-US" sz="1400" dirty="0">
                <a:solidFill>
                  <a:schemeClr val="tx1"/>
                </a:solidFill>
              </a:rPr>
              <a:t>120-item test set and a user pilot with Survey B</a:t>
            </a:r>
            <a:endParaRPr lang="en-US" sz="1400" dirty="0"/>
          </a:p>
        </p:txBody>
      </p:sp>
      <p:sp>
        <p:nvSpPr>
          <p:cNvPr id="18" name="Text 13"/>
          <p:cNvSpPr txBox="1"/>
          <p:nvPr/>
        </p:nvSpPr>
        <p:spPr>
          <a:xfrm>
            <a:off x="548640" y="3520440"/>
            <a:ext cx="5486400" cy="411480"/>
          </a:xfrm>
          <a:prstGeom prst="rect">
            <a:avLst/>
          </a:prstGeom>
          <a:noFill/>
          <a:ln/>
        </p:spPr>
        <p:txBody>
          <a:bodyPr wrap="square" lIns="0" tIns="0" rIns="0" bIns="0" rtlCol="0" anchor="t"/>
          <a:lstStyle/>
          <a:p>
            <a:pPr indent="0" marL="0">
              <a:buNone/>
            </a:pPr>
            <a:r>
              <a:rPr lang="en-US" sz="1800" b="1" dirty="0">
                <a:solidFill>
                  <a:schemeClr val="accent1"/>
                </a:solidFill>
              </a:rPr>
              <a:t>Sprint plan (12 weeks)</a:t>
            </a:r>
            <a:endParaRPr lang="en-US" sz="1800" dirty="0"/>
          </a:p>
        </p:txBody>
      </p:sp>
      <p:sp>
        <p:nvSpPr>
          <p:cNvPr id="19" name="sprint 0"/>
          <p:cNvSpPr/>
          <p:nvPr/>
        </p:nvSpPr>
        <p:spPr>
          <a:xfrm>
            <a:off x="548640" y="4069080"/>
            <a:ext cx="1719072" cy="1874520"/>
          </a:xfrm>
          <a:prstGeom prst="roundRect">
            <a:avLst>
              <a:gd name="adj" fmla="val 5319"/>
            </a:avLst>
          </a:prstGeom>
          <a:solidFill>
            <a:schemeClr val="accent2"/>
          </a:solidFill>
          <a:ln w="12700">
            <a:solidFill>
              <a:schemeClr val="accent2"/>
            </a:solidFill>
            <a:prstDash val="solid"/>
          </a:ln>
        </p:spPr>
      </p:sp>
      <p:sp>
        <p:nvSpPr>
          <p:cNvPr id="20" name="Text 15"/>
          <p:cNvSpPr txBox="1"/>
          <p:nvPr/>
        </p:nvSpPr>
        <p:spPr>
          <a:xfrm>
            <a:off x="685800" y="4206240"/>
            <a:ext cx="1463040" cy="365760"/>
          </a:xfrm>
          <a:prstGeom prst="rect">
            <a:avLst/>
          </a:prstGeom>
          <a:noFill/>
          <a:ln/>
        </p:spPr>
        <p:txBody>
          <a:bodyPr wrap="square" lIns="0" tIns="0" rIns="0" bIns="0" rtlCol="0" anchor="t"/>
          <a:lstStyle/>
          <a:p>
            <a:pPr indent="0" marL="0">
              <a:buNone/>
            </a:pPr>
            <a:r>
              <a:rPr lang="en-US" sz="1500" b="1" dirty="0">
                <a:solidFill>
                  <a:schemeClr val="bg1"/>
                </a:solidFill>
              </a:rPr>
              <a:t>Sprint 0</a:t>
            </a:r>
            <a:endParaRPr lang="en-US" sz="1500" dirty="0"/>
          </a:p>
        </p:txBody>
      </p:sp>
      <p:sp>
        <p:nvSpPr>
          <p:cNvPr id="21" name="Text 16"/>
          <p:cNvSpPr txBox="1"/>
          <p:nvPr/>
        </p:nvSpPr>
        <p:spPr>
          <a:xfrm>
            <a:off x="685800" y="4553712"/>
            <a:ext cx="1463040" cy="274320"/>
          </a:xfrm>
          <a:prstGeom prst="rect">
            <a:avLst/>
          </a:prstGeom>
          <a:noFill/>
          <a:ln/>
        </p:spPr>
        <p:txBody>
          <a:bodyPr wrap="square" lIns="0" tIns="0" rIns="0" bIns="0" rtlCol="0" anchor="t"/>
          <a:lstStyle/>
          <a:p>
            <a:pPr indent="0" marL="0">
              <a:buNone/>
            </a:pPr>
            <a:r>
              <a:rPr lang="en-US" sz="1100" dirty="0">
                <a:solidFill>
                  <a:schemeClr val="bg1"/>
                </a:solidFill>
              </a:rPr>
              <a:t>Weeks 1–2</a:t>
            </a:r>
            <a:endParaRPr lang="en-US" sz="1100" dirty="0"/>
          </a:p>
        </p:txBody>
      </p:sp>
      <p:sp>
        <p:nvSpPr>
          <p:cNvPr id="22" name="Text 17"/>
          <p:cNvSpPr txBox="1"/>
          <p:nvPr/>
        </p:nvSpPr>
        <p:spPr>
          <a:xfrm>
            <a:off x="685800" y="4892040"/>
            <a:ext cx="1463040" cy="1005840"/>
          </a:xfrm>
          <a:prstGeom prst="rect">
            <a:avLst/>
          </a:prstGeom>
          <a:noFill/>
          <a:ln/>
        </p:spPr>
        <p:txBody>
          <a:bodyPr wrap="square" lIns="0" tIns="0" rIns="0" bIns="0" rtlCol="0" anchor="t"/>
          <a:lstStyle/>
          <a:p>
            <a:pPr indent="0" marL="0">
              <a:buNone/>
            </a:pPr>
            <a:r>
              <a:rPr lang="en-US" sz="1300" dirty="0">
                <a:solidFill>
                  <a:schemeClr val="bg1"/>
                </a:solidFill>
              </a:rPr>
              <a:t>Interviews, requirements, test-set draft</a:t>
            </a:r>
            <a:endParaRPr lang="en-US" sz="1300" dirty="0"/>
          </a:p>
        </p:txBody>
      </p:sp>
      <p:sp>
        <p:nvSpPr>
          <p:cNvPr id="23" name="sprint 1"/>
          <p:cNvSpPr/>
          <p:nvPr/>
        </p:nvSpPr>
        <p:spPr>
          <a:xfrm>
            <a:off x="2414016" y="4069080"/>
            <a:ext cx="1719072" cy="1874520"/>
          </a:xfrm>
          <a:prstGeom prst="roundRect">
            <a:avLst>
              <a:gd name="adj" fmla="val 5319"/>
            </a:avLst>
          </a:prstGeom>
          <a:solidFill>
            <a:schemeClr val="accent3"/>
          </a:solidFill>
          <a:ln w="12700">
            <a:solidFill>
              <a:schemeClr val="accent3"/>
            </a:solidFill>
            <a:prstDash val="solid"/>
          </a:ln>
        </p:spPr>
      </p:sp>
      <p:sp>
        <p:nvSpPr>
          <p:cNvPr id="24" name="Text 19"/>
          <p:cNvSpPr txBox="1"/>
          <p:nvPr/>
        </p:nvSpPr>
        <p:spPr>
          <a:xfrm>
            <a:off x="2551176" y="4206240"/>
            <a:ext cx="1463040" cy="365760"/>
          </a:xfrm>
          <a:prstGeom prst="rect">
            <a:avLst/>
          </a:prstGeom>
          <a:noFill/>
          <a:ln/>
        </p:spPr>
        <p:txBody>
          <a:bodyPr wrap="square" lIns="0" tIns="0" rIns="0" bIns="0" rtlCol="0" anchor="t"/>
          <a:lstStyle/>
          <a:p>
            <a:pPr indent="0" marL="0">
              <a:buNone/>
            </a:pPr>
            <a:r>
              <a:rPr lang="en-US" sz="1500" b="1" dirty="0">
                <a:solidFill>
                  <a:schemeClr val="bg1"/>
                </a:solidFill>
              </a:rPr>
              <a:t>Sprint 1</a:t>
            </a:r>
            <a:endParaRPr lang="en-US" sz="1500" dirty="0"/>
          </a:p>
        </p:txBody>
      </p:sp>
      <p:sp>
        <p:nvSpPr>
          <p:cNvPr id="25" name="Text 20"/>
          <p:cNvSpPr txBox="1"/>
          <p:nvPr/>
        </p:nvSpPr>
        <p:spPr>
          <a:xfrm>
            <a:off x="2551176" y="4553712"/>
            <a:ext cx="1463040" cy="274320"/>
          </a:xfrm>
          <a:prstGeom prst="rect">
            <a:avLst/>
          </a:prstGeom>
          <a:noFill/>
          <a:ln/>
        </p:spPr>
        <p:txBody>
          <a:bodyPr wrap="square" lIns="0" tIns="0" rIns="0" bIns="0" rtlCol="0" anchor="t"/>
          <a:lstStyle/>
          <a:p>
            <a:pPr indent="0" marL="0">
              <a:buNone/>
            </a:pPr>
            <a:r>
              <a:rPr lang="en-US" sz="1100" dirty="0">
                <a:solidFill>
                  <a:schemeClr val="bg1"/>
                </a:solidFill>
              </a:rPr>
              <a:t>Weeks 3–4</a:t>
            </a:r>
            <a:endParaRPr lang="en-US" sz="1100" dirty="0"/>
          </a:p>
        </p:txBody>
      </p:sp>
      <p:sp>
        <p:nvSpPr>
          <p:cNvPr id="26" name="Text 21"/>
          <p:cNvSpPr txBox="1"/>
          <p:nvPr/>
        </p:nvSpPr>
        <p:spPr>
          <a:xfrm>
            <a:off x="2551176" y="4892040"/>
            <a:ext cx="1463040" cy="1005840"/>
          </a:xfrm>
          <a:prstGeom prst="rect">
            <a:avLst/>
          </a:prstGeom>
          <a:noFill/>
          <a:ln/>
        </p:spPr>
        <p:txBody>
          <a:bodyPr wrap="square" lIns="0" tIns="0" rIns="0" bIns="0" rtlCol="0" anchor="t"/>
          <a:lstStyle/>
          <a:p>
            <a:pPr indent="0" marL="0">
              <a:buNone/>
            </a:pPr>
            <a:r>
              <a:rPr lang="en-US" sz="1300" dirty="0">
                <a:solidFill>
                  <a:schemeClr val="bg1"/>
                </a:solidFill>
              </a:rPr>
              <a:t>Database, login, owner dashboard</a:t>
            </a:r>
            <a:endParaRPr lang="en-US" sz="1300" dirty="0"/>
          </a:p>
        </p:txBody>
      </p:sp>
      <p:sp>
        <p:nvSpPr>
          <p:cNvPr id="27" name="sprint 2"/>
          <p:cNvSpPr/>
          <p:nvPr/>
        </p:nvSpPr>
        <p:spPr>
          <a:xfrm>
            <a:off x="4279392" y="4069080"/>
            <a:ext cx="1719072" cy="1874520"/>
          </a:xfrm>
          <a:prstGeom prst="roundRect">
            <a:avLst>
              <a:gd name="adj" fmla="val 5319"/>
            </a:avLst>
          </a:prstGeom>
          <a:solidFill>
            <a:schemeClr val="accent3"/>
          </a:solidFill>
          <a:ln w="12700">
            <a:solidFill>
              <a:schemeClr val="accent3"/>
            </a:solidFill>
            <a:prstDash val="solid"/>
          </a:ln>
        </p:spPr>
      </p:sp>
      <p:sp>
        <p:nvSpPr>
          <p:cNvPr id="28" name="Text 23"/>
          <p:cNvSpPr txBox="1"/>
          <p:nvPr/>
        </p:nvSpPr>
        <p:spPr>
          <a:xfrm>
            <a:off x="4416552" y="4206240"/>
            <a:ext cx="1463040" cy="365760"/>
          </a:xfrm>
          <a:prstGeom prst="rect">
            <a:avLst/>
          </a:prstGeom>
          <a:noFill/>
          <a:ln/>
        </p:spPr>
        <p:txBody>
          <a:bodyPr wrap="square" lIns="0" tIns="0" rIns="0" bIns="0" rtlCol="0" anchor="t"/>
          <a:lstStyle/>
          <a:p>
            <a:pPr indent="0" marL="0">
              <a:buNone/>
            </a:pPr>
            <a:r>
              <a:rPr lang="en-US" sz="1500" b="1" dirty="0">
                <a:solidFill>
                  <a:schemeClr val="bg1"/>
                </a:solidFill>
              </a:rPr>
              <a:t>Sprint 2</a:t>
            </a:r>
            <a:endParaRPr lang="en-US" sz="1500" dirty="0"/>
          </a:p>
        </p:txBody>
      </p:sp>
      <p:sp>
        <p:nvSpPr>
          <p:cNvPr id="29" name="Text 24"/>
          <p:cNvSpPr txBox="1"/>
          <p:nvPr/>
        </p:nvSpPr>
        <p:spPr>
          <a:xfrm>
            <a:off x="4416552" y="4553712"/>
            <a:ext cx="1463040" cy="274320"/>
          </a:xfrm>
          <a:prstGeom prst="rect">
            <a:avLst/>
          </a:prstGeom>
          <a:noFill/>
          <a:ln/>
        </p:spPr>
        <p:txBody>
          <a:bodyPr wrap="square" lIns="0" tIns="0" rIns="0" bIns="0" rtlCol="0" anchor="t"/>
          <a:lstStyle/>
          <a:p>
            <a:pPr indent="0" marL="0">
              <a:buNone/>
            </a:pPr>
            <a:r>
              <a:rPr lang="en-US" sz="1100" dirty="0">
                <a:solidFill>
                  <a:schemeClr val="bg1"/>
                </a:solidFill>
              </a:rPr>
              <a:t>Weeks 5–6</a:t>
            </a:r>
            <a:endParaRPr lang="en-US" sz="1100" dirty="0"/>
          </a:p>
        </p:txBody>
      </p:sp>
      <p:sp>
        <p:nvSpPr>
          <p:cNvPr id="30" name="Text 25"/>
          <p:cNvSpPr txBox="1"/>
          <p:nvPr/>
        </p:nvSpPr>
        <p:spPr>
          <a:xfrm>
            <a:off x="4416552" y="4892040"/>
            <a:ext cx="1463040" cy="1005840"/>
          </a:xfrm>
          <a:prstGeom prst="rect">
            <a:avLst/>
          </a:prstGeom>
          <a:noFill/>
          <a:ln/>
        </p:spPr>
        <p:txBody>
          <a:bodyPr wrap="square" lIns="0" tIns="0" rIns="0" bIns="0" rtlCol="0" anchor="t"/>
          <a:lstStyle/>
          <a:p>
            <a:pPr indent="0" marL="0">
              <a:buNone/>
            </a:pPr>
            <a:r>
              <a:rPr lang="en-US" sz="1300" dirty="0">
                <a:solidFill>
                  <a:schemeClr val="bg1"/>
                </a:solidFill>
              </a:rPr>
              <a:t>Masking, language and intent, retrieval</a:t>
            </a:r>
            <a:endParaRPr lang="en-US" sz="1300" dirty="0"/>
          </a:p>
        </p:txBody>
      </p:sp>
      <p:sp>
        <p:nvSpPr>
          <p:cNvPr id="31" name="sprint 3"/>
          <p:cNvSpPr/>
          <p:nvPr/>
        </p:nvSpPr>
        <p:spPr>
          <a:xfrm>
            <a:off x="6144768" y="4069080"/>
            <a:ext cx="1719072" cy="1874520"/>
          </a:xfrm>
          <a:prstGeom prst="roundRect">
            <a:avLst>
              <a:gd name="adj" fmla="val 5319"/>
            </a:avLst>
          </a:prstGeom>
          <a:solidFill>
            <a:schemeClr val="accent3"/>
          </a:solidFill>
          <a:ln w="12700">
            <a:solidFill>
              <a:schemeClr val="accent3"/>
            </a:solidFill>
            <a:prstDash val="solid"/>
          </a:ln>
        </p:spPr>
      </p:sp>
      <p:sp>
        <p:nvSpPr>
          <p:cNvPr id="32" name="Text 27"/>
          <p:cNvSpPr txBox="1"/>
          <p:nvPr/>
        </p:nvSpPr>
        <p:spPr>
          <a:xfrm>
            <a:off x="6281928" y="4206240"/>
            <a:ext cx="1463040" cy="365760"/>
          </a:xfrm>
          <a:prstGeom prst="rect">
            <a:avLst/>
          </a:prstGeom>
          <a:noFill/>
          <a:ln/>
        </p:spPr>
        <p:txBody>
          <a:bodyPr wrap="square" lIns="0" tIns="0" rIns="0" bIns="0" rtlCol="0" anchor="t"/>
          <a:lstStyle/>
          <a:p>
            <a:pPr indent="0" marL="0">
              <a:buNone/>
            </a:pPr>
            <a:r>
              <a:rPr lang="en-US" sz="1500" b="1" dirty="0">
                <a:solidFill>
                  <a:schemeClr val="bg1"/>
                </a:solidFill>
              </a:rPr>
              <a:t>Sprint 3</a:t>
            </a:r>
            <a:endParaRPr lang="en-US" sz="1500" dirty="0"/>
          </a:p>
        </p:txBody>
      </p:sp>
      <p:sp>
        <p:nvSpPr>
          <p:cNvPr id="33" name="Text 28"/>
          <p:cNvSpPr txBox="1"/>
          <p:nvPr/>
        </p:nvSpPr>
        <p:spPr>
          <a:xfrm>
            <a:off x="6281928" y="4553712"/>
            <a:ext cx="1463040" cy="274320"/>
          </a:xfrm>
          <a:prstGeom prst="rect">
            <a:avLst/>
          </a:prstGeom>
          <a:noFill/>
          <a:ln/>
        </p:spPr>
        <p:txBody>
          <a:bodyPr wrap="square" lIns="0" tIns="0" rIns="0" bIns="0" rtlCol="0" anchor="t"/>
          <a:lstStyle/>
          <a:p>
            <a:pPr indent="0" marL="0">
              <a:buNone/>
            </a:pPr>
            <a:r>
              <a:rPr lang="en-US" sz="1100" dirty="0">
                <a:solidFill>
                  <a:schemeClr val="bg1"/>
                </a:solidFill>
              </a:rPr>
              <a:t>Weeks 7–8</a:t>
            </a:r>
            <a:endParaRPr lang="en-US" sz="1100" dirty="0"/>
          </a:p>
        </p:txBody>
      </p:sp>
      <p:sp>
        <p:nvSpPr>
          <p:cNvPr id="34" name="Text 29"/>
          <p:cNvSpPr txBox="1"/>
          <p:nvPr/>
        </p:nvSpPr>
        <p:spPr>
          <a:xfrm>
            <a:off x="6281928" y="4892040"/>
            <a:ext cx="1463040" cy="1005840"/>
          </a:xfrm>
          <a:prstGeom prst="rect">
            <a:avLst/>
          </a:prstGeom>
          <a:noFill/>
          <a:ln/>
        </p:spPr>
        <p:txBody>
          <a:bodyPr wrap="square" lIns="0" tIns="0" rIns="0" bIns="0" rtlCol="0" anchor="t"/>
          <a:lstStyle/>
          <a:p>
            <a:pPr indent="0" marL="0">
              <a:buNone/>
            </a:pPr>
            <a:r>
              <a:rPr lang="en-US" sz="1300" dirty="0">
                <a:solidFill>
                  <a:schemeClr val="bg1"/>
                </a:solidFill>
              </a:rPr>
              <a:t>Grounded replies, confidence check, escalation</a:t>
            </a:r>
            <a:endParaRPr lang="en-US" sz="1300" dirty="0"/>
          </a:p>
        </p:txBody>
      </p:sp>
      <p:sp>
        <p:nvSpPr>
          <p:cNvPr id="35" name="sprint 4"/>
          <p:cNvSpPr/>
          <p:nvPr/>
        </p:nvSpPr>
        <p:spPr>
          <a:xfrm>
            <a:off x="8010144" y="4069080"/>
            <a:ext cx="1719072" cy="1874520"/>
          </a:xfrm>
          <a:prstGeom prst="roundRect">
            <a:avLst>
              <a:gd name="adj" fmla="val 5319"/>
            </a:avLst>
          </a:prstGeom>
          <a:solidFill>
            <a:schemeClr val="accent3"/>
          </a:solidFill>
          <a:ln w="12700">
            <a:solidFill>
              <a:schemeClr val="accent3"/>
            </a:solidFill>
            <a:prstDash val="solid"/>
          </a:ln>
        </p:spPr>
      </p:sp>
      <p:sp>
        <p:nvSpPr>
          <p:cNvPr id="36" name="Text 31"/>
          <p:cNvSpPr txBox="1"/>
          <p:nvPr/>
        </p:nvSpPr>
        <p:spPr>
          <a:xfrm>
            <a:off x="8147304" y="4206240"/>
            <a:ext cx="1463040" cy="365760"/>
          </a:xfrm>
          <a:prstGeom prst="rect">
            <a:avLst/>
          </a:prstGeom>
          <a:noFill/>
          <a:ln/>
        </p:spPr>
        <p:txBody>
          <a:bodyPr wrap="square" lIns="0" tIns="0" rIns="0" bIns="0" rtlCol="0" anchor="t"/>
          <a:lstStyle/>
          <a:p>
            <a:pPr indent="0" marL="0">
              <a:buNone/>
            </a:pPr>
            <a:r>
              <a:rPr lang="en-US" sz="1500" b="1" dirty="0">
                <a:solidFill>
                  <a:schemeClr val="bg1"/>
                </a:solidFill>
              </a:rPr>
              <a:t>Sprint 4</a:t>
            </a:r>
            <a:endParaRPr lang="en-US" sz="1500" dirty="0"/>
          </a:p>
        </p:txBody>
      </p:sp>
      <p:sp>
        <p:nvSpPr>
          <p:cNvPr id="37" name="Text 32"/>
          <p:cNvSpPr txBox="1"/>
          <p:nvPr/>
        </p:nvSpPr>
        <p:spPr>
          <a:xfrm>
            <a:off x="8147304" y="4553712"/>
            <a:ext cx="1463040" cy="274320"/>
          </a:xfrm>
          <a:prstGeom prst="rect">
            <a:avLst/>
          </a:prstGeom>
          <a:noFill/>
          <a:ln/>
        </p:spPr>
        <p:txBody>
          <a:bodyPr wrap="square" lIns="0" tIns="0" rIns="0" bIns="0" rtlCol="0" anchor="t"/>
          <a:lstStyle/>
          <a:p>
            <a:pPr indent="0" marL="0">
              <a:buNone/>
            </a:pPr>
            <a:r>
              <a:rPr lang="en-US" sz="1100" dirty="0">
                <a:solidFill>
                  <a:schemeClr val="bg1"/>
                </a:solidFill>
              </a:rPr>
              <a:t>Weeks 9–10</a:t>
            </a:r>
            <a:endParaRPr lang="en-US" sz="1100" dirty="0"/>
          </a:p>
        </p:txBody>
      </p:sp>
      <p:sp>
        <p:nvSpPr>
          <p:cNvPr id="38" name="Text 33"/>
          <p:cNvSpPr txBox="1"/>
          <p:nvPr/>
        </p:nvSpPr>
        <p:spPr>
          <a:xfrm>
            <a:off x="8147304" y="4892040"/>
            <a:ext cx="1463040" cy="1005840"/>
          </a:xfrm>
          <a:prstGeom prst="rect">
            <a:avLst/>
          </a:prstGeom>
          <a:noFill/>
          <a:ln/>
        </p:spPr>
        <p:txBody>
          <a:bodyPr wrap="square" lIns="0" tIns="0" rIns="0" bIns="0" rtlCol="0" anchor="t"/>
          <a:lstStyle/>
          <a:p>
            <a:pPr indent="0" marL="0">
              <a:buNone/>
            </a:pPr>
            <a:r>
              <a:rPr lang="en-US" sz="1300" dirty="0">
                <a:solidFill>
                  <a:schemeClr val="bg1"/>
                </a:solidFill>
              </a:rPr>
              <a:t>Chat interface, reports, security</a:t>
            </a:r>
            <a:endParaRPr lang="en-US" sz="1300" dirty="0"/>
          </a:p>
        </p:txBody>
      </p:sp>
      <p:sp>
        <p:nvSpPr>
          <p:cNvPr id="39" name="sprint 5"/>
          <p:cNvSpPr/>
          <p:nvPr/>
        </p:nvSpPr>
        <p:spPr>
          <a:xfrm>
            <a:off x="9875520" y="4069080"/>
            <a:ext cx="1719072" cy="1874520"/>
          </a:xfrm>
          <a:prstGeom prst="roundRect">
            <a:avLst>
              <a:gd name="adj" fmla="val 5319"/>
            </a:avLst>
          </a:prstGeom>
          <a:solidFill>
            <a:schemeClr val="accent3"/>
          </a:solidFill>
          <a:ln w="12700">
            <a:solidFill>
              <a:schemeClr val="accent3"/>
            </a:solidFill>
            <a:prstDash val="solid"/>
          </a:ln>
        </p:spPr>
      </p:sp>
      <p:sp>
        <p:nvSpPr>
          <p:cNvPr id="40" name="Text 35"/>
          <p:cNvSpPr txBox="1"/>
          <p:nvPr/>
        </p:nvSpPr>
        <p:spPr>
          <a:xfrm>
            <a:off x="10012680" y="4206240"/>
            <a:ext cx="1463040" cy="365760"/>
          </a:xfrm>
          <a:prstGeom prst="rect">
            <a:avLst/>
          </a:prstGeom>
          <a:noFill/>
          <a:ln/>
        </p:spPr>
        <p:txBody>
          <a:bodyPr wrap="square" lIns="0" tIns="0" rIns="0" bIns="0" rtlCol="0" anchor="t"/>
          <a:lstStyle/>
          <a:p>
            <a:pPr indent="0" marL="0">
              <a:buNone/>
            </a:pPr>
            <a:r>
              <a:rPr lang="en-US" sz="1500" b="1" dirty="0">
                <a:solidFill>
                  <a:schemeClr val="bg1"/>
                </a:solidFill>
              </a:rPr>
              <a:t>Sprint 5</a:t>
            </a:r>
            <a:endParaRPr lang="en-US" sz="1500" dirty="0"/>
          </a:p>
        </p:txBody>
      </p:sp>
      <p:sp>
        <p:nvSpPr>
          <p:cNvPr id="41" name="Text 36"/>
          <p:cNvSpPr txBox="1"/>
          <p:nvPr/>
        </p:nvSpPr>
        <p:spPr>
          <a:xfrm>
            <a:off x="10012680" y="4553712"/>
            <a:ext cx="1463040" cy="274320"/>
          </a:xfrm>
          <a:prstGeom prst="rect">
            <a:avLst/>
          </a:prstGeom>
          <a:noFill/>
          <a:ln/>
        </p:spPr>
        <p:txBody>
          <a:bodyPr wrap="square" lIns="0" tIns="0" rIns="0" bIns="0" rtlCol="0" anchor="t"/>
          <a:lstStyle/>
          <a:p>
            <a:pPr indent="0" marL="0">
              <a:buNone/>
            </a:pPr>
            <a:r>
              <a:rPr lang="en-US" sz="1100" dirty="0">
                <a:solidFill>
                  <a:schemeClr val="bg1"/>
                </a:solidFill>
              </a:rPr>
              <a:t>Weeks 11–12</a:t>
            </a:r>
            <a:endParaRPr lang="en-US" sz="1100" dirty="0"/>
          </a:p>
        </p:txBody>
      </p:sp>
      <p:sp>
        <p:nvSpPr>
          <p:cNvPr id="42" name="Text 37"/>
          <p:cNvSpPr txBox="1"/>
          <p:nvPr/>
        </p:nvSpPr>
        <p:spPr>
          <a:xfrm>
            <a:off x="10012680" y="4892040"/>
            <a:ext cx="1463040" cy="1005840"/>
          </a:xfrm>
          <a:prstGeom prst="rect">
            <a:avLst/>
          </a:prstGeom>
          <a:noFill/>
          <a:ln/>
        </p:spPr>
        <p:txBody>
          <a:bodyPr wrap="square" lIns="0" tIns="0" rIns="0" bIns="0" rtlCol="0" anchor="t"/>
          <a:lstStyle/>
          <a:p>
            <a:pPr indent="0" marL="0">
              <a:buNone/>
            </a:pPr>
            <a:r>
              <a:rPr lang="en-US" sz="1300" dirty="0">
                <a:solidFill>
                  <a:schemeClr val="bg1"/>
                </a:solidFill>
              </a:rPr>
              <a:t>Testing, pilot, fixes, documentation</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Four options compared</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286000"/>
                <a:gridCol w="2103120"/>
                <a:gridCol w="2011680"/>
                <a:gridCol w="2103120"/>
                <a:gridCol w="2560320"/>
              </a:tblGrid>
              <a:tr h="502920">
                <a:tc>
                  <a:txBody>
                    <a:bodyPr/>
                    <a:lstStyle/>
                    <a:p>
                      <a:pPr indent="0" marL="0">
                        <a:buNone/>
                      </a:pPr>
                      <a:r>
                        <a:rPr lang="en-US" sz="1300" b="1" dirty="0">
                          <a:solidFill>
                            <a:schemeClr val="bg1"/>
                          </a:solidFill>
                        </a:rPr>
                        <a:t>Criterion</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A. Manual and saved replies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B. Keyword bot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C. General AI chatbot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D. Proposed: RAG + escalation</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2"/>
                    </a:solidFill>
                  </a:tcPr>
                </a:tc>
              </a:tr>
              <a:tr h="502920">
                <a:tc>
                  <a:txBody>
                    <a:bodyPr/>
                    <a:lstStyle/>
                    <a:p>
                      <a:pPr indent="0" marL="0">
                        <a:buNone/>
                      </a:pPr>
                      <a:r>
                        <a:rPr lang="en-US" sz="1300" dirty="0">
                          <a:solidFill>
                            <a:srgbClr val="1B2A24"/>
                          </a:solidFill>
                        </a:rPr>
                        <a:t>Saves owner time</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Little</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Some</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Much</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rPr>
                        <a:t>Much</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BE9E4"/>
                    </a:solidFill>
                  </a:tcPr>
                </a:tc>
              </a:tr>
              <a:tr h="502920">
                <a:tc>
                  <a:txBody>
                    <a:bodyPr/>
                    <a:lstStyle/>
                    <a:p>
                      <a:pPr indent="0" marL="0">
                        <a:buNone/>
                      </a:pPr>
                      <a:r>
                        <a:rPr lang="en-US" sz="1300" dirty="0">
                          <a:solidFill>
                            <a:srgbClr val="1B2A24"/>
                          </a:solidFill>
                        </a:rPr>
                        <a:t>Answers match shop data</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Depends on owner</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If rules are current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Not guaranteed</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rPr>
                        <a:t>Yes, must cite a record</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BE9E4"/>
                    </a:solidFill>
                  </a:tcPr>
                </a:tc>
              </a:tr>
              <a:tr h="502920">
                <a:tc>
                  <a:txBody>
                    <a:bodyPr/>
                    <a:lstStyle/>
                    <a:p>
                      <a:pPr indent="0" marL="0">
                        <a:buNone/>
                      </a:pPr>
                      <a:r>
                        <a:rPr lang="en-US" sz="1300" dirty="0">
                          <a:solidFill>
                            <a:srgbClr val="1B2A24"/>
                          </a:solidFill>
                        </a:rPr>
                        <a:t>Handles Taglish</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Yes (human)</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Poorly</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Well</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rPr>
                        <a:t>Well, tested per language</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BE9E4"/>
                    </a:solidFill>
                  </a:tcPr>
                </a:tc>
              </a:tr>
              <a:tr h="502920">
                <a:tc>
                  <a:txBody>
                    <a:bodyPr/>
                    <a:lstStyle/>
                    <a:p>
                      <a:pPr indent="0" marL="0">
                        <a:buNone/>
                      </a:pPr>
                      <a:r>
                        <a:rPr lang="en-US" sz="1300" dirty="0">
                          <a:solidFill>
                            <a:srgbClr val="1B2A24"/>
                          </a:solidFill>
                        </a:rPr>
                        <a:t>Upkeep effort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High</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High (many rules)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Low</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rPr>
                        <a:t>Low (edit records)</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BE9E4"/>
                    </a:solidFill>
                  </a:tcPr>
                </a:tc>
              </a:tr>
              <a:tr h="502920">
                <a:tc>
                  <a:txBody>
                    <a:bodyPr/>
                    <a:lstStyle/>
                    <a:p>
                      <a:pPr indent="0" marL="0">
                        <a:buNone/>
                      </a:pPr>
                      <a:r>
                        <a:rPr lang="en-US" sz="1300" dirty="0">
                          <a:solidFill>
                            <a:srgbClr val="1B2A24"/>
                          </a:solidFill>
                        </a:rPr>
                        <a:t>Human hand-off</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Always human</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Manual</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Not built in</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rPr>
                        <a:t>Built in, rule-based</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BE9E4"/>
                    </a:solidFill>
                  </a:tcPr>
                </a:tc>
              </a:tr>
              <a:tr h="502920">
                <a:tc>
                  <a:txBody>
                    <a:bodyPr/>
                    <a:lstStyle/>
                    <a:p>
                      <a:pPr indent="0" marL="0">
                        <a:buNone/>
                      </a:pPr>
                      <a:r>
                        <a:rPr lang="en-US" sz="1300" dirty="0">
                          <a:solidFill>
                            <a:srgbClr val="1B2A24"/>
                          </a:solidFill>
                        </a:rPr>
                        <a:t>Cost</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Owner's time</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Low</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rPr>
                        <a:t>Usage-based</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rPr>
                        <a:t>Usage-based, capped by tier</a:t>
                      </a:r>
                      <a:endParaRPr lang="en-US" sz="1300" dirty="0"/>
                    </a:p>
                  </a:txBody>
                  <a:tcPr marL="73152" marR="73152" marT="73152" marB="73152"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BE9E4"/>
                    </a:solidFill>
                  </a:tcPr>
                </a:tc>
              </a:tr>
            </a:tbl>
          </a:graphicData>
        </a:graphic>
      </p:graphicFrame>
      <p:sp>
        <p:nvSpPr>
          <p:cNvPr id="4" name="Text 1"/>
          <p:cNvSpPr txBox="1"/>
          <p:nvPr/>
        </p:nvSpPr>
        <p:spPr>
          <a:xfrm>
            <a:off x="548640" y="5257800"/>
            <a:ext cx="11064240" cy="731520"/>
          </a:xfrm>
          <a:prstGeom prst="rect">
            <a:avLst/>
          </a:prstGeom>
          <a:noFill/>
          <a:ln/>
        </p:spPr>
        <p:txBody>
          <a:bodyPr wrap="square" lIns="0" tIns="0" rIns="0" bIns="0" rtlCol="0" anchor="t"/>
          <a:lstStyle/>
          <a:p>
            <a:pPr indent="0" marL="0">
              <a:buNone/>
            </a:pPr>
            <a:r>
              <a:rPr lang="en-US" sz="1600" b="1" dirty="0">
                <a:solidFill>
                  <a:schemeClr val="accent2"/>
                </a:solidFill>
              </a:rPr>
              <a:t>Why D: </a:t>
            </a:r>
            <a:pPr indent="0" marL="0">
              <a:buNone/>
            </a:pPr>
            <a:r>
              <a:rPr lang="en-US" sz="1600" dirty="0">
                <a:solidFill>
                  <a:schemeClr val="tx1"/>
                </a:solidFill>
              </a:rPr>
              <a:t>it keeps the language ability of a modern AI model but limits every answer to the owner's records, and adds a clear hand-off to staff.</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Conceptual framework</a:t>
            </a:r>
            <a:endParaRPr lang="en-US" sz="3200" dirty="0"/>
          </a:p>
        </p:txBody>
      </p:sp>
      <p:pic>
        <p:nvPicPr>
          <p:cNvPr id="3" name="Conceptual framework figure" descr="Conceptual framework figure">    </p:cNvPr>
          <p:cNvPicPr>
            <a:picLocks noChangeAspect="1"/>
          </p:cNvPicPr>
          <p:nvPr/>
        </p:nvPicPr>
        <p:blipFill>
          <a:blip r:embed="rId1"/>
          <a:stretch>
            <a:fillRect/>
          </a:stretch>
        </p:blipFill>
        <p:spPr>
          <a:xfrm>
            <a:off x="1025636" y="1325880"/>
            <a:ext cx="10110247" cy="4572000"/>
          </a:xfrm>
          <a:prstGeom prst="rect">
            <a:avLst/>
          </a:prstGeom>
        </p:spPr>
      </p:pic>
      <p:sp>
        <p:nvSpPr>
          <p:cNvPr id="4" name="Text 1"/>
          <p:cNvSpPr txBox="1"/>
          <p:nvPr/>
        </p:nvSpPr>
        <p:spPr>
          <a:xfrm>
            <a:off x="548640" y="5989320"/>
            <a:ext cx="11064240" cy="274320"/>
          </a:xfrm>
          <a:prstGeom prst="rect">
            <a:avLst/>
          </a:prstGeom>
          <a:noFill/>
          <a:ln/>
        </p:spPr>
        <p:txBody>
          <a:bodyPr wrap="square" lIns="0" tIns="0" rIns="0" bIns="0" rtlCol="0" anchor="t"/>
          <a:lstStyle/>
          <a:p>
            <a:pPr algn="ctr" indent="0" marL="0">
              <a:buNone/>
            </a:pPr>
            <a:r>
              <a:rPr lang="en-US" sz="1100" i="1" dirty="0">
                <a:solidFill>
                  <a:srgbClr val="5E6E66"/>
                </a:solidFill>
              </a:rPr>
              <a:t>Input–Process–Output model with cross-cutting privacy, security and human-oversight controls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How each message is handled</a:t>
            </a:r>
            <a:endParaRPr lang="en-US" sz="3200" dirty="0"/>
          </a:p>
        </p:txBody>
      </p:sp>
      <p:pic>
        <p:nvPicPr>
          <p:cNvPr id="3" name="Program flowchart" descr="Program flowchart">    </p:cNvPr>
          <p:cNvPicPr>
            <a:picLocks noChangeAspect="1"/>
          </p:cNvPicPr>
          <p:nvPr/>
        </p:nvPicPr>
        <p:blipFill>
          <a:blip r:embed="rId1"/>
          <a:stretch>
            <a:fillRect/>
          </a:stretch>
        </p:blipFill>
        <p:spPr>
          <a:xfrm>
            <a:off x="767239" y="1280160"/>
            <a:ext cx="5323523" cy="4937760"/>
          </a:xfrm>
          <a:prstGeom prst="rect">
            <a:avLst/>
          </a:prstGeom>
        </p:spPr>
      </p:pic>
      <p:sp>
        <p:nvSpPr>
          <p:cNvPr id="4" name="example card 1"/>
          <p:cNvSpPr/>
          <p:nvPr/>
        </p:nvSpPr>
        <p:spPr>
          <a:xfrm>
            <a:off x="6583680" y="1371600"/>
            <a:ext cx="5029200" cy="1417320"/>
          </a:xfrm>
          <a:prstGeom prst="roundRect">
            <a:avLst>
              <a:gd name="adj" fmla="val 7742"/>
            </a:avLst>
          </a:prstGeom>
          <a:solidFill>
            <a:schemeClr val="bg2"/>
          </a:solidFill>
          <a:ln w="12700">
            <a:solidFill>
              <a:schemeClr val="bg2"/>
            </a:solidFill>
            <a:prstDash val="solid"/>
          </a:ln>
        </p:spPr>
      </p:sp>
      <p:sp>
        <p:nvSpPr>
          <p:cNvPr id="5" name="example icon 1 circle"/>
          <p:cNvSpPr/>
          <p:nvPr/>
        </p:nvSpPr>
        <p:spPr>
          <a:xfrm>
            <a:off x="6766560" y="1554480"/>
            <a:ext cx="548640" cy="548640"/>
          </a:xfrm>
          <a:prstGeom prst="ellipse">
            <a:avLst/>
          </a:prstGeom>
          <a:solidFill>
            <a:schemeClr val="accent1"/>
          </a:solidFill>
          <a:ln w="12700">
            <a:solidFill>
              <a:schemeClr val="accent1"/>
            </a:solidFill>
            <a:prstDash val="solid"/>
          </a:ln>
        </p:spPr>
      </p:sp>
      <p:pic>
        <p:nvPicPr>
          <p:cNvPr id="6" name="example icon 1" descr="preencoded.png">    </p:cNvPr>
          <p:cNvPicPr>
            <a:picLocks noChangeAspect="1"/>
          </p:cNvPicPr>
          <p:nvPr/>
        </p:nvPicPr>
        <p:blipFill>
          <a:blip r:embed="rId2"/>
          <a:stretch>
            <a:fillRect/>
          </a:stretch>
        </p:blipFill>
        <p:spPr>
          <a:xfrm>
            <a:off x="6898234" y="1686154"/>
            <a:ext cx="285293" cy="285293"/>
          </a:xfrm>
          <a:prstGeom prst="rect">
            <a:avLst/>
          </a:prstGeom>
        </p:spPr>
      </p:pic>
      <p:sp>
        <p:nvSpPr>
          <p:cNvPr id="7" name="Text 3"/>
          <p:cNvSpPr txBox="1"/>
          <p:nvPr/>
        </p:nvSpPr>
        <p:spPr>
          <a:xfrm>
            <a:off x="7452360" y="1554480"/>
            <a:ext cx="4023360" cy="411480"/>
          </a:xfrm>
          <a:prstGeom prst="rect">
            <a:avLst/>
          </a:prstGeom>
          <a:noFill/>
          <a:ln/>
        </p:spPr>
        <p:txBody>
          <a:bodyPr wrap="square" lIns="0" tIns="0" rIns="0" bIns="0" rtlCol="0" anchor="t"/>
          <a:lstStyle/>
          <a:p>
            <a:pPr indent="0" marL="0">
              <a:buNone/>
            </a:pPr>
            <a:r>
              <a:rPr lang="en-US" sz="1600" b="1" dirty="0">
                <a:solidFill>
                  <a:schemeClr val="accent1"/>
                </a:solidFill>
              </a:rPr>
              <a:t>Routine Taglish question</a:t>
            </a:r>
            <a:endParaRPr lang="en-US" sz="1600" dirty="0"/>
          </a:p>
        </p:txBody>
      </p:sp>
      <p:sp>
        <p:nvSpPr>
          <p:cNvPr id="8" name="Text 4"/>
          <p:cNvSpPr txBox="1"/>
          <p:nvPr/>
        </p:nvSpPr>
        <p:spPr>
          <a:xfrm>
            <a:off x="7452360" y="1965960"/>
            <a:ext cx="4023360" cy="777240"/>
          </a:xfrm>
          <a:prstGeom prst="rect">
            <a:avLst/>
          </a:prstGeom>
          <a:noFill/>
          <a:ln/>
        </p:spPr>
        <p:txBody>
          <a:bodyPr wrap="square" lIns="0" tIns="0" rIns="0" bIns="0" rtlCol="0" anchor="t"/>
          <a:lstStyle/>
          <a:p>
            <a:pPr indent="0" marL="0">
              <a:buNone/>
            </a:pPr>
            <a:r>
              <a:rPr lang="en-US" sz="1300" dirty="0">
                <a:solidFill>
                  <a:schemeClr val="tx1"/>
                </a:solidFill>
              </a:rPr>
              <a:t>"Available pa po ba ang Arabica 250g?" → intent: stock → finds Product P-014 → "Yes po, in stock, ₱380."</a:t>
            </a:r>
            <a:endParaRPr lang="en-US" sz="1300" dirty="0"/>
          </a:p>
        </p:txBody>
      </p:sp>
      <p:sp>
        <p:nvSpPr>
          <p:cNvPr id="9" name="example card 2"/>
          <p:cNvSpPr/>
          <p:nvPr/>
        </p:nvSpPr>
        <p:spPr>
          <a:xfrm>
            <a:off x="6583680" y="2971800"/>
            <a:ext cx="5029200" cy="1417320"/>
          </a:xfrm>
          <a:prstGeom prst="roundRect">
            <a:avLst>
              <a:gd name="adj" fmla="val 7742"/>
            </a:avLst>
          </a:prstGeom>
          <a:solidFill>
            <a:schemeClr val="bg2"/>
          </a:solidFill>
          <a:ln w="12700">
            <a:solidFill>
              <a:schemeClr val="bg2"/>
            </a:solidFill>
            <a:prstDash val="solid"/>
          </a:ln>
        </p:spPr>
      </p:sp>
      <p:sp>
        <p:nvSpPr>
          <p:cNvPr id="10" name="example icon 2 circle"/>
          <p:cNvSpPr/>
          <p:nvPr/>
        </p:nvSpPr>
        <p:spPr>
          <a:xfrm>
            <a:off x="6766560" y="3154680"/>
            <a:ext cx="548640" cy="548640"/>
          </a:xfrm>
          <a:prstGeom prst="ellipse">
            <a:avLst/>
          </a:prstGeom>
          <a:solidFill>
            <a:schemeClr val="accent2"/>
          </a:solidFill>
          <a:ln w="12700">
            <a:solidFill>
              <a:schemeClr val="accent2"/>
            </a:solidFill>
            <a:prstDash val="solid"/>
          </a:ln>
        </p:spPr>
      </p:sp>
      <p:pic>
        <p:nvPicPr>
          <p:cNvPr id="11" name="example icon 2" descr="preencoded.png">    </p:cNvPr>
          <p:cNvPicPr>
            <a:picLocks noChangeAspect="1"/>
          </p:cNvPicPr>
          <p:nvPr/>
        </p:nvPicPr>
        <p:blipFill>
          <a:blip r:embed="rId3"/>
          <a:stretch>
            <a:fillRect/>
          </a:stretch>
        </p:blipFill>
        <p:spPr>
          <a:xfrm>
            <a:off x="6898234" y="3286354"/>
            <a:ext cx="285293" cy="285293"/>
          </a:xfrm>
          <a:prstGeom prst="rect">
            <a:avLst/>
          </a:prstGeom>
        </p:spPr>
      </p:pic>
      <p:sp>
        <p:nvSpPr>
          <p:cNvPr id="12" name="Text 7"/>
          <p:cNvSpPr txBox="1"/>
          <p:nvPr/>
        </p:nvSpPr>
        <p:spPr>
          <a:xfrm>
            <a:off x="7452360" y="3154680"/>
            <a:ext cx="4023360" cy="411480"/>
          </a:xfrm>
          <a:prstGeom prst="rect">
            <a:avLst/>
          </a:prstGeom>
          <a:noFill/>
          <a:ln/>
        </p:spPr>
        <p:txBody>
          <a:bodyPr wrap="square" lIns="0" tIns="0" rIns="0" bIns="0" rtlCol="0" anchor="t"/>
          <a:lstStyle/>
          <a:p>
            <a:pPr indent="0" marL="0">
              <a:buNone/>
            </a:pPr>
            <a:r>
              <a:rPr lang="en-US" sz="1600" b="1" dirty="0">
                <a:solidFill>
                  <a:schemeClr val="accent1"/>
                </a:solidFill>
              </a:rPr>
              <a:t>Complaint</a:t>
            </a:r>
            <a:endParaRPr lang="en-US" sz="1600" dirty="0"/>
          </a:p>
        </p:txBody>
      </p:sp>
      <p:sp>
        <p:nvSpPr>
          <p:cNvPr id="13" name="Text 8"/>
          <p:cNvSpPr txBox="1"/>
          <p:nvPr/>
        </p:nvSpPr>
        <p:spPr>
          <a:xfrm>
            <a:off x="7452360" y="3566160"/>
            <a:ext cx="4023360" cy="777240"/>
          </a:xfrm>
          <a:prstGeom prst="rect">
            <a:avLst/>
          </a:prstGeom>
          <a:noFill/>
          <a:ln/>
        </p:spPr>
        <p:txBody>
          <a:bodyPr wrap="square" lIns="0" tIns="0" rIns="0" bIns="0" rtlCol="0" anchor="t"/>
          <a:lstStyle/>
          <a:p>
            <a:pPr indent="0" marL="0">
              <a:buNone/>
            </a:pPr>
            <a:r>
              <a:rPr lang="en-US" sz="1300" dirty="0">
                <a:solidFill>
                  <a:schemeClr val="tx1"/>
                </a:solidFill>
              </a:rPr>
              <a:t>"Wrong item po ang dumating, I want a refund." → complaint → staff queue → "A staff member will reply po."</a:t>
            </a:r>
            <a:endParaRPr lang="en-US" sz="1300" dirty="0"/>
          </a:p>
        </p:txBody>
      </p:sp>
      <p:sp>
        <p:nvSpPr>
          <p:cNvPr id="14" name="example card 3"/>
          <p:cNvSpPr/>
          <p:nvPr/>
        </p:nvSpPr>
        <p:spPr>
          <a:xfrm>
            <a:off x="6583680" y="4572000"/>
            <a:ext cx="5029200" cy="1417320"/>
          </a:xfrm>
          <a:prstGeom prst="roundRect">
            <a:avLst>
              <a:gd name="adj" fmla="val 7742"/>
            </a:avLst>
          </a:prstGeom>
          <a:solidFill>
            <a:schemeClr val="bg2"/>
          </a:solidFill>
          <a:ln w="12700">
            <a:solidFill>
              <a:schemeClr val="bg2"/>
            </a:solidFill>
            <a:prstDash val="solid"/>
          </a:ln>
        </p:spPr>
      </p:sp>
      <p:sp>
        <p:nvSpPr>
          <p:cNvPr id="15" name="example icon 3 circle"/>
          <p:cNvSpPr/>
          <p:nvPr/>
        </p:nvSpPr>
        <p:spPr>
          <a:xfrm>
            <a:off x="6766560" y="4754880"/>
            <a:ext cx="548640" cy="548640"/>
          </a:xfrm>
          <a:prstGeom prst="ellipse">
            <a:avLst/>
          </a:prstGeom>
          <a:solidFill>
            <a:schemeClr val="accent5"/>
          </a:solidFill>
          <a:ln w="12700">
            <a:solidFill>
              <a:schemeClr val="accent5"/>
            </a:solidFill>
            <a:prstDash val="solid"/>
          </a:ln>
        </p:spPr>
      </p:sp>
      <p:pic>
        <p:nvPicPr>
          <p:cNvPr id="16" name="example icon 3" descr="preencoded.png">    </p:cNvPr>
          <p:cNvPicPr>
            <a:picLocks noChangeAspect="1"/>
          </p:cNvPicPr>
          <p:nvPr/>
        </p:nvPicPr>
        <p:blipFill>
          <a:blip r:embed="rId4"/>
          <a:stretch>
            <a:fillRect/>
          </a:stretch>
        </p:blipFill>
        <p:spPr>
          <a:xfrm>
            <a:off x="6898234" y="4886554"/>
            <a:ext cx="285293" cy="285293"/>
          </a:xfrm>
          <a:prstGeom prst="rect">
            <a:avLst/>
          </a:prstGeom>
        </p:spPr>
      </p:pic>
      <p:sp>
        <p:nvSpPr>
          <p:cNvPr id="17" name="Text 11"/>
          <p:cNvSpPr txBox="1"/>
          <p:nvPr/>
        </p:nvSpPr>
        <p:spPr>
          <a:xfrm>
            <a:off x="7452360" y="4754880"/>
            <a:ext cx="4023360" cy="411480"/>
          </a:xfrm>
          <a:prstGeom prst="rect">
            <a:avLst/>
          </a:prstGeom>
          <a:noFill/>
          <a:ln/>
        </p:spPr>
        <p:txBody>
          <a:bodyPr wrap="square" lIns="0" tIns="0" rIns="0" bIns="0" rtlCol="0" anchor="t"/>
          <a:lstStyle/>
          <a:p>
            <a:pPr indent="0" marL="0">
              <a:buNone/>
            </a:pPr>
            <a:r>
              <a:rPr lang="en-US" sz="1600" b="1" dirty="0">
                <a:solidFill>
                  <a:schemeClr val="accent1"/>
                </a:solidFill>
              </a:rPr>
              <a:t>No matching record</a:t>
            </a:r>
            <a:endParaRPr lang="en-US" sz="1600" dirty="0"/>
          </a:p>
        </p:txBody>
      </p:sp>
      <p:sp>
        <p:nvSpPr>
          <p:cNvPr id="18" name="Text 12"/>
          <p:cNvSpPr txBox="1"/>
          <p:nvPr/>
        </p:nvSpPr>
        <p:spPr>
          <a:xfrm>
            <a:off x="7452360" y="5166360"/>
            <a:ext cx="4023360" cy="777240"/>
          </a:xfrm>
          <a:prstGeom prst="rect">
            <a:avLst/>
          </a:prstGeom>
          <a:noFill/>
          <a:ln/>
        </p:spPr>
        <p:txBody>
          <a:bodyPr wrap="square" lIns="0" tIns="0" rIns="0" bIns="0" rtlCol="0" anchor="t"/>
          <a:lstStyle/>
          <a:p>
            <a:pPr indent="0" marL="0">
              <a:buNone/>
            </a:pPr>
            <a:r>
              <a:rPr lang="en-US" sz="1300" dirty="0">
                <a:solidFill>
                  <a:schemeClr val="tx1"/>
                </a:solidFill>
              </a:rPr>
              <a:t>Score below threshold → no guessing → escalated; owner can save the staff answer as a new FAQ.</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System architecture</a:t>
            </a:r>
            <a:endParaRPr lang="en-US" sz="3200" dirty="0"/>
          </a:p>
        </p:txBody>
      </p:sp>
      <p:pic>
        <p:nvPicPr>
          <p:cNvPr id="3" name="System architecture figure" descr="System architecture figure">    </p:cNvPr>
          <p:cNvPicPr>
            <a:picLocks noChangeAspect="1"/>
          </p:cNvPicPr>
          <p:nvPr/>
        </p:nvPicPr>
        <p:blipFill>
          <a:blip r:embed="rId1"/>
          <a:stretch>
            <a:fillRect/>
          </a:stretch>
        </p:blipFill>
        <p:spPr>
          <a:xfrm>
            <a:off x="548640" y="1280160"/>
            <a:ext cx="6949440" cy="3898077"/>
          </a:xfrm>
          <a:prstGeom prst="rect">
            <a:avLst/>
          </a:prstGeom>
        </p:spPr>
      </p:pic>
      <p:sp>
        <p:nvSpPr>
          <p:cNvPr id="4" name="architecture point icon 1 circle"/>
          <p:cNvSpPr/>
          <p:nvPr/>
        </p:nvSpPr>
        <p:spPr>
          <a:xfrm>
            <a:off x="7863840" y="1417320"/>
            <a:ext cx="594360" cy="594360"/>
          </a:xfrm>
          <a:prstGeom prst="ellipse">
            <a:avLst/>
          </a:prstGeom>
          <a:solidFill>
            <a:schemeClr val="accent1"/>
          </a:solidFill>
          <a:ln w="12700">
            <a:solidFill>
              <a:schemeClr val="accent1"/>
            </a:solidFill>
            <a:prstDash val="solid"/>
          </a:ln>
        </p:spPr>
      </p:sp>
      <p:pic>
        <p:nvPicPr>
          <p:cNvPr id="5" name="architecture point icon 1" descr="preencoded.png">    </p:cNvPr>
          <p:cNvPicPr>
            <a:picLocks noChangeAspect="1"/>
          </p:cNvPicPr>
          <p:nvPr/>
        </p:nvPicPr>
        <p:blipFill>
          <a:blip r:embed="rId2"/>
          <a:stretch>
            <a:fillRect/>
          </a:stretch>
        </p:blipFill>
        <p:spPr>
          <a:xfrm>
            <a:off x="8006486" y="1559966"/>
            <a:ext cx="309067" cy="309067"/>
          </a:xfrm>
          <a:prstGeom prst="rect">
            <a:avLst/>
          </a:prstGeom>
        </p:spPr>
      </p:pic>
      <p:sp>
        <p:nvSpPr>
          <p:cNvPr id="6" name="Text 2"/>
          <p:cNvSpPr txBox="1"/>
          <p:nvPr/>
        </p:nvSpPr>
        <p:spPr>
          <a:xfrm>
            <a:off x="8641080" y="1417320"/>
            <a:ext cx="3017520" cy="411480"/>
          </a:xfrm>
          <a:prstGeom prst="rect">
            <a:avLst/>
          </a:prstGeom>
          <a:noFill/>
          <a:ln/>
        </p:spPr>
        <p:txBody>
          <a:bodyPr wrap="square" lIns="0" tIns="0" rIns="0" bIns="0" rtlCol="0" anchor="t"/>
          <a:lstStyle/>
          <a:p>
            <a:pPr indent="0" marL="0">
              <a:buNone/>
            </a:pPr>
            <a:r>
              <a:rPr lang="en-US" sz="1600" b="1" dirty="0">
                <a:solidFill>
                  <a:schemeClr val="accent1"/>
                </a:solidFill>
              </a:rPr>
              <a:t>The AI owns no data</a:t>
            </a:r>
            <a:endParaRPr lang="en-US" sz="1600" dirty="0"/>
          </a:p>
        </p:txBody>
      </p:sp>
      <p:sp>
        <p:nvSpPr>
          <p:cNvPr id="7" name="Text 3"/>
          <p:cNvSpPr txBox="1"/>
          <p:nvPr/>
        </p:nvSpPr>
        <p:spPr>
          <a:xfrm>
            <a:off x="8641080" y="1856232"/>
            <a:ext cx="3017520" cy="1051560"/>
          </a:xfrm>
          <a:prstGeom prst="rect">
            <a:avLst/>
          </a:prstGeom>
          <a:noFill/>
          <a:ln/>
        </p:spPr>
        <p:txBody>
          <a:bodyPr wrap="square" lIns="0" tIns="0" rIns="0" bIns="0" rtlCol="0" anchor="t"/>
          <a:lstStyle/>
          <a:p>
            <a:pPr indent="0" marL="0">
              <a:buNone/>
            </a:pPr>
            <a:r>
              <a:rPr lang="en-US" sz="1400" dirty="0">
                <a:solidFill>
                  <a:schemeClr val="tx1"/>
                </a:solidFill>
              </a:rPr>
              <a:t>It receives text and returns text. It cannot change records or take actions.</a:t>
            </a:r>
            <a:endParaRPr lang="en-US" sz="1400" dirty="0"/>
          </a:p>
        </p:txBody>
      </p:sp>
      <p:sp>
        <p:nvSpPr>
          <p:cNvPr id="8" name="architecture point icon 2 circle"/>
          <p:cNvSpPr/>
          <p:nvPr/>
        </p:nvSpPr>
        <p:spPr>
          <a:xfrm>
            <a:off x="7863840" y="3017520"/>
            <a:ext cx="594360" cy="594360"/>
          </a:xfrm>
          <a:prstGeom prst="ellipse">
            <a:avLst/>
          </a:prstGeom>
          <a:solidFill>
            <a:schemeClr val="accent1"/>
          </a:solidFill>
          <a:ln w="12700">
            <a:solidFill>
              <a:schemeClr val="accent1"/>
            </a:solidFill>
            <a:prstDash val="solid"/>
          </a:ln>
        </p:spPr>
      </p:sp>
      <p:pic>
        <p:nvPicPr>
          <p:cNvPr id="9" name="architecture point icon 2" descr="preencoded.png">    </p:cNvPr>
          <p:cNvPicPr>
            <a:picLocks noChangeAspect="1"/>
          </p:cNvPicPr>
          <p:nvPr/>
        </p:nvPicPr>
        <p:blipFill>
          <a:blip r:embed="rId3"/>
          <a:stretch>
            <a:fillRect/>
          </a:stretch>
        </p:blipFill>
        <p:spPr>
          <a:xfrm>
            <a:off x="8006486" y="3160166"/>
            <a:ext cx="309067" cy="309067"/>
          </a:xfrm>
          <a:prstGeom prst="rect">
            <a:avLst/>
          </a:prstGeom>
        </p:spPr>
      </p:pic>
      <p:sp>
        <p:nvSpPr>
          <p:cNvPr id="10" name="Text 5"/>
          <p:cNvSpPr txBox="1"/>
          <p:nvPr/>
        </p:nvSpPr>
        <p:spPr>
          <a:xfrm>
            <a:off x="8641080" y="3017520"/>
            <a:ext cx="3017520" cy="411480"/>
          </a:xfrm>
          <a:prstGeom prst="rect">
            <a:avLst/>
          </a:prstGeom>
          <a:noFill/>
          <a:ln/>
        </p:spPr>
        <p:txBody>
          <a:bodyPr wrap="square" lIns="0" tIns="0" rIns="0" bIns="0" rtlCol="0" anchor="t"/>
          <a:lstStyle/>
          <a:p>
            <a:pPr indent="0" marL="0">
              <a:buNone/>
            </a:pPr>
            <a:r>
              <a:rPr lang="en-US" sz="1600" b="1" dirty="0">
                <a:solidFill>
                  <a:schemeClr val="accent1"/>
                </a:solidFill>
              </a:rPr>
              <a:t>Code decides what it sees</a:t>
            </a:r>
            <a:endParaRPr lang="en-US" sz="1600" dirty="0"/>
          </a:p>
        </p:txBody>
      </p:sp>
      <p:sp>
        <p:nvSpPr>
          <p:cNvPr id="11" name="Text 6"/>
          <p:cNvSpPr txBox="1"/>
          <p:nvPr/>
        </p:nvSpPr>
        <p:spPr>
          <a:xfrm>
            <a:off x="8641080" y="3456432"/>
            <a:ext cx="3017520" cy="1051560"/>
          </a:xfrm>
          <a:prstGeom prst="rect">
            <a:avLst/>
          </a:prstGeom>
          <a:noFill/>
          <a:ln/>
        </p:spPr>
        <p:txBody>
          <a:bodyPr wrap="square" lIns="0" tIns="0" rIns="0" bIns="0" rtlCol="0" anchor="t"/>
          <a:lstStyle/>
          <a:p>
            <a:pPr indent="0" marL="0">
              <a:buNone/>
            </a:pPr>
            <a:r>
              <a:rPr lang="en-US" sz="1400" dirty="0">
                <a:solidFill>
                  <a:schemeClr val="tx1"/>
                </a:solidFill>
              </a:rPr>
              <a:t>Retrieval is filtered by business ID inside the database query.</a:t>
            </a:r>
            <a:endParaRPr lang="en-US" sz="1400" dirty="0"/>
          </a:p>
        </p:txBody>
      </p:sp>
      <p:sp>
        <p:nvSpPr>
          <p:cNvPr id="12" name="architecture point icon 3 circle"/>
          <p:cNvSpPr/>
          <p:nvPr/>
        </p:nvSpPr>
        <p:spPr>
          <a:xfrm>
            <a:off x="7863840" y="4617720"/>
            <a:ext cx="594360" cy="594360"/>
          </a:xfrm>
          <a:prstGeom prst="ellipse">
            <a:avLst/>
          </a:prstGeom>
          <a:solidFill>
            <a:schemeClr val="accent1"/>
          </a:solidFill>
          <a:ln w="12700">
            <a:solidFill>
              <a:schemeClr val="accent1"/>
            </a:solidFill>
            <a:prstDash val="solid"/>
          </a:ln>
        </p:spPr>
      </p:sp>
      <p:pic>
        <p:nvPicPr>
          <p:cNvPr id="13" name="architecture point icon 3" descr="preencoded.png">    </p:cNvPr>
          <p:cNvPicPr>
            <a:picLocks noChangeAspect="1"/>
          </p:cNvPicPr>
          <p:nvPr/>
        </p:nvPicPr>
        <p:blipFill>
          <a:blip r:embed="rId4"/>
          <a:stretch>
            <a:fillRect/>
          </a:stretch>
        </p:blipFill>
        <p:spPr>
          <a:xfrm>
            <a:off x="8006486" y="4760366"/>
            <a:ext cx="309067" cy="309067"/>
          </a:xfrm>
          <a:prstGeom prst="rect">
            <a:avLst/>
          </a:prstGeom>
        </p:spPr>
      </p:pic>
      <p:sp>
        <p:nvSpPr>
          <p:cNvPr id="14" name="Text 8"/>
          <p:cNvSpPr txBox="1"/>
          <p:nvPr/>
        </p:nvSpPr>
        <p:spPr>
          <a:xfrm>
            <a:off x="8641080" y="4617720"/>
            <a:ext cx="3017520" cy="411480"/>
          </a:xfrm>
          <a:prstGeom prst="rect">
            <a:avLst/>
          </a:prstGeom>
          <a:noFill/>
          <a:ln/>
        </p:spPr>
        <p:txBody>
          <a:bodyPr wrap="square" lIns="0" tIns="0" rIns="0" bIns="0" rtlCol="0" anchor="t"/>
          <a:lstStyle/>
          <a:p>
            <a:pPr indent="0" marL="0">
              <a:buNone/>
            </a:pPr>
            <a:r>
              <a:rPr lang="en-US" sz="1600" b="1" dirty="0">
                <a:solidFill>
                  <a:schemeClr val="accent1"/>
                </a:solidFill>
              </a:rPr>
              <a:t>Provider can be switched</a:t>
            </a:r>
            <a:endParaRPr lang="en-US" sz="1600" dirty="0"/>
          </a:p>
        </p:txBody>
      </p:sp>
      <p:sp>
        <p:nvSpPr>
          <p:cNvPr id="15" name="Text 9"/>
          <p:cNvSpPr txBox="1"/>
          <p:nvPr/>
        </p:nvSpPr>
        <p:spPr>
          <a:xfrm>
            <a:off x="8641080" y="5056632"/>
            <a:ext cx="3017520" cy="1051560"/>
          </a:xfrm>
          <a:prstGeom prst="rect">
            <a:avLst/>
          </a:prstGeom>
          <a:noFill/>
          <a:ln/>
        </p:spPr>
        <p:txBody>
          <a:bodyPr wrap="square" lIns="0" tIns="0" rIns="0" bIns="0" rtlCol="0" anchor="t"/>
          <a:lstStyle/>
          <a:p>
            <a:pPr indent="0" marL="0">
              <a:buNone/>
            </a:pPr>
            <a:r>
              <a:rPr lang="en-US" sz="1400" dirty="0">
                <a:solidFill>
                  <a:schemeClr val="tx1"/>
                </a:solidFill>
              </a:rPr>
              <a:t>The AI model is called through a neutral interface; PostgreSQL + pgvector stores both data and search index.</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Use cases and data model</a:t>
            </a:r>
            <a:endParaRPr lang="en-US" sz="3200" dirty="0"/>
          </a:p>
        </p:txBody>
      </p:sp>
      <p:pic>
        <p:nvPicPr>
          <p:cNvPr id="3" name="Use case diagram" descr="Use case diagram">    </p:cNvPr>
          <p:cNvPicPr>
            <a:picLocks noChangeAspect="1"/>
          </p:cNvPicPr>
          <p:nvPr/>
        </p:nvPicPr>
        <p:blipFill>
          <a:blip r:embed="rId1"/>
          <a:stretch>
            <a:fillRect/>
          </a:stretch>
        </p:blipFill>
        <p:spPr>
          <a:xfrm>
            <a:off x="548640" y="1371600"/>
            <a:ext cx="5440680" cy="2947533"/>
          </a:xfrm>
          <a:prstGeom prst="rect">
            <a:avLst/>
          </a:prstGeom>
        </p:spPr>
      </p:pic>
      <p:sp>
        <p:nvSpPr>
          <p:cNvPr id="4" name="Text 1"/>
          <p:cNvSpPr txBox="1"/>
          <p:nvPr/>
        </p:nvSpPr>
        <p:spPr>
          <a:xfrm>
            <a:off x="548640" y="4456293"/>
            <a:ext cx="5440680" cy="274320"/>
          </a:xfrm>
          <a:prstGeom prst="rect">
            <a:avLst/>
          </a:prstGeom>
          <a:noFill/>
          <a:ln/>
        </p:spPr>
        <p:txBody>
          <a:bodyPr wrap="square" lIns="0" tIns="0" rIns="0" bIns="0" rtlCol="0" anchor="t"/>
          <a:lstStyle/>
          <a:p>
            <a:pPr algn="ctr" indent="0" marL="0">
              <a:buNone/>
            </a:pPr>
            <a:r>
              <a:rPr lang="en-US" sz="1100" i="1" dirty="0">
                <a:solidFill>
                  <a:srgbClr val="5E6E66"/>
                </a:solidFill>
              </a:rPr>
              <a:t>Use case diagram: customer, owner/staff and AI service</a:t>
            </a:r>
            <a:endParaRPr lang="en-US" sz="1100" dirty="0"/>
          </a:p>
        </p:txBody>
      </p:sp>
      <p:pic>
        <p:nvPicPr>
          <p:cNvPr id="5" name="Entity relationship diagram" descr="Entity relationship diagram">    </p:cNvPr>
          <p:cNvPicPr>
            <a:picLocks noChangeAspect="1"/>
          </p:cNvPicPr>
          <p:nvPr/>
        </p:nvPicPr>
        <p:blipFill>
          <a:blip r:embed="rId2"/>
          <a:stretch>
            <a:fillRect/>
          </a:stretch>
        </p:blipFill>
        <p:spPr>
          <a:xfrm>
            <a:off x="6172200" y="1371600"/>
            <a:ext cx="5440680" cy="3534199"/>
          </a:xfrm>
          <a:prstGeom prst="rect">
            <a:avLst/>
          </a:prstGeom>
        </p:spPr>
      </p:pic>
      <p:sp>
        <p:nvSpPr>
          <p:cNvPr id="6" name="Text 2"/>
          <p:cNvSpPr txBox="1"/>
          <p:nvPr/>
        </p:nvSpPr>
        <p:spPr>
          <a:xfrm>
            <a:off x="6172200" y="5042959"/>
            <a:ext cx="5440680" cy="274320"/>
          </a:xfrm>
          <a:prstGeom prst="rect">
            <a:avLst/>
          </a:prstGeom>
          <a:noFill/>
          <a:ln/>
        </p:spPr>
        <p:txBody>
          <a:bodyPr wrap="square" lIns="0" tIns="0" rIns="0" bIns="0" rtlCol="0" anchor="t"/>
          <a:lstStyle/>
          <a:p>
            <a:pPr algn="ctr" indent="0" marL="0">
              <a:buNone/>
            </a:pPr>
            <a:r>
              <a:rPr lang="en-US" sz="1100" i="1" dirty="0">
                <a:solidFill>
                  <a:srgbClr val="5E6E66"/>
                </a:solidFill>
              </a:rPr>
              <a:t>ERD: every message stores the knowledge item it used</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Business rules the AI cannot override</a:t>
            </a:r>
            <a:endParaRPr lang="en-US" sz="3200" dirty="0"/>
          </a:p>
        </p:txBody>
      </p:sp>
      <p:sp>
        <p:nvSpPr>
          <p:cNvPr id="3" name="BR1 card"/>
          <p:cNvSpPr/>
          <p:nvPr/>
        </p:nvSpPr>
        <p:spPr>
          <a:xfrm>
            <a:off x="548640" y="1371600"/>
            <a:ext cx="2606040" cy="2103120"/>
          </a:xfrm>
          <a:prstGeom prst="roundRect">
            <a:avLst>
              <a:gd name="adj" fmla="val 5217"/>
            </a:avLst>
          </a:prstGeom>
          <a:solidFill>
            <a:schemeClr val="bg2"/>
          </a:solidFill>
          <a:ln w="12700">
            <a:solidFill>
              <a:schemeClr val="bg2"/>
            </a:solidFill>
            <a:prstDash val="solid"/>
          </a:ln>
        </p:spPr>
      </p:sp>
      <p:sp>
        <p:nvSpPr>
          <p:cNvPr id="4" name="Text 2"/>
          <p:cNvSpPr txBox="1"/>
          <p:nvPr/>
        </p:nvSpPr>
        <p:spPr>
          <a:xfrm>
            <a:off x="777240" y="1600200"/>
            <a:ext cx="219456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BR1</a:t>
            </a:r>
            <a:endParaRPr lang="en-US" sz="2800" dirty="0"/>
          </a:p>
        </p:txBody>
      </p:sp>
      <p:sp>
        <p:nvSpPr>
          <p:cNvPr id="5" name="Text 3"/>
          <p:cNvSpPr txBox="1"/>
          <p:nvPr/>
        </p:nvSpPr>
        <p:spPr>
          <a:xfrm>
            <a:off x="777240" y="2240280"/>
            <a:ext cx="2194560" cy="1097280"/>
          </a:xfrm>
          <a:prstGeom prst="rect">
            <a:avLst/>
          </a:prstGeom>
          <a:noFill/>
          <a:ln/>
        </p:spPr>
        <p:txBody>
          <a:bodyPr wrap="square" lIns="0" tIns="0" rIns="0" bIns="0" rtlCol="0" anchor="t"/>
          <a:lstStyle/>
          <a:p>
            <a:pPr indent="0" marL="0">
              <a:buNone/>
            </a:pPr>
            <a:r>
              <a:rPr lang="en-US" sz="1500" dirty="0">
                <a:solidFill>
                  <a:schemeClr val="tx1"/>
                </a:solidFill>
              </a:rPr>
              <a:t>Only active, in-effect records are used</a:t>
            </a:r>
            <a:endParaRPr lang="en-US" sz="1500" dirty="0"/>
          </a:p>
        </p:txBody>
      </p:sp>
      <p:sp>
        <p:nvSpPr>
          <p:cNvPr id="6" name="BR2 card"/>
          <p:cNvSpPr/>
          <p:nvPr/>
        </p:nvSpPr>
        <p:spPr>
          <a:xfrm>
            <a:off x="3337560" y="1371600"/>
            <a:ext cx="2606040" cy="2103120"/>
          </a:xfrm>
          <a:prstGeom prst="roundRect">
            <a:avLst>
              <a:gd name="adj" fmla="val 5217"/>
            </a:avLst>
          </a:prstGeom>
          <a:solidFill>
            <a:schemeClr val="bg2"/>
          </a:solidFill>
          <a:ln w="12700">
            <a:solidFill>
              <a:schemeClr val="bg2"/>
            </a:solidFill>
            <a:prstDash val="solid"/>
          </a:ln>
        </p:spPr>
      </p:sp>
      <p:sp>
        <p:nvSpPr>
          <p:cNvPr id="7" name="Text 5"/>
          <p:cNvSpPr txBox="1"/>
          <p:nvPr/>
        </p:nvSpPr>
        <p:spPr>
          <a:xfrm>
            <a:off x="3566160" y="1600200"/>
            <a:ext cx="219456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BR2</a:t>
            </a:r>
            <a:endParaRPr lang="en-US" sz="2800" dirty="0"/>
          </a:p>
        </p:txBody>
      </p:sp>
      <p:sp>
        <p:nvSpPr>
          <p:cNvPr id="8" name="Text 6"/>
          <p:cNvSpPr txBox="1"/>
          <p:nvPr/>
        </p:nvSpPr>
        <p:spPr>
          <a:xfrm>
            <a:off x="3566160" y="2240280"/>
            <a:ext cx="2194560" cy="1097280"/>
          </a:xfrm>
          <a:prstGeom prst="rect">
            <a:avLst/>
          </a:prstGeom>
          <a:noFill/>
          <a:ln/>
        </p:spPr>
        <p:txBody>
          <a:bodyPr wrap="square" lIns="0" tIns="0" rIns="0" bIns="0" rtlCol="0" anchor="t"/>
          <a:lstStyle/>
          <a:p>
            <a:pPr indent="0" marL="0">
              <a:buNone/>
            </a:pPr>
            <a:r>
              <a:rPr lang="en-US" sz="1500" dirty="0">
                <a:solidFill>
                  <a:schemeClr val="tx1"/>
                </a:solidFill>
              </a:rPr>
              <a:t>A seller's data never reaches another seller's customers</a:t>
            </a:r>
            <a:endParaRPr lang="en-US" sz="1500" dirty="0"/>
          </a:p>
        </p:txBody>
      </p:sp>
      <p:sp>
        <p:nvSpPr>
          <p:cNvPr id="9" name="BR3 card"/>
          <p:cNvSpPr/>
          <p:nvPr/>
        </p:nvSpPr>
        <p:spPr>
          <a:xfrm>
            <a:off x="6126480" y="1371600"/>
            <a:ext cx="2606040" cy="2103120"/>
          </a:xfrm>
          <a:prstGeom prst="roundRect">
            <a:avLst>
              <a:gd name="adj" fmla="val 5217"/>
            </a:avLst>
          </a:prstGeom>
          <a:solidFill>
            <a:schemeClr val="accent2"/>
          </a:solidFill>
          <a:ln w="12700">
            <a:solidFill>
              <a:schemeClr val="accent2"/>
            </a:solidFill>
            <a:prstDash val="solid"/>
          </a:ln>
        </p:spPr>
      </p:sp>
      <p:sp>
        <p:nvSpPr>
          <p:cNvPr id="10" name="Text 8"/>
          <p:cNvSpPr txBox="1"/>
          <p:nvPr/>
        </p:nvSpPr>
        <p:spPr>
          <a:xfrm>
            <a:off x="6355080" y="1600200"/>
            <a:ext cx="2194560" cy="54864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BR3</a:t>
            </a:r>
            <a:endParaRPr lang="en-US" sz="2800" dirty="0"/>
          </a:p>
        </p:txBody>
      </p:sp>
      <p:sp>
        <p:nvSpPr>
          <p:cNvPr id="11" name="Text 9"/>
          <p:cNvSpPr txBox="1"/>
          <p:nvPr/>
        </p:nvSpPr>
        <p:spPr>
          <a:xfrm>
            <a:off x="6355080" y="2240280"/>
            <a:ext cx="2194560" cy="1097280"/>
          </a:xfrm>
          <a:prstGeom prst="rect">
            <a:avLst/>
          </a:prstGeom>
          <a:noFill/>
          <a:ln/>
        </p:spPr>
        <p:txBody>
          <a:bodyPr wrap="square" lIns="0" tIns="0" rIns="0" bIns="0" rtlCol="0" anchor="t"/>
          <a:lstStyle/>
          <a:p>
            <a:pPr indent="0" marL="0">
              <a:buNone/>
            </a:pPr>
            <a:r>
              <a:rPr lang="en-US" sz="1500" dirty="0">
                <a:solidFill>
                  <a:schemeClr val="bg1"/>
                </a:solidFill>
              </a:rPr>
              <a:t>Refunds, complaints and unlisted discounts always go to a person</a:t>
            </a:r>
            <a:endParaRPr lang="en-US" sz="1500" dirty="0"/>
          </a:p>
        </p:txBody>
      </p:sp>
      <p:sp>
        <p:nvSpPr>
          <p:cNvPr id="12" name="BR4 card"/>
          <p:cNvSpPr/>
          <p:nvPr/>
        </p:nvSpPr>
        <p:spPr>
          <a:xfrm>
            <a:off x="8915400" y="1371600"/>
            <a:ext cx="2606040" cy="2103120"/>
          </a:xfrm>
          <a:prstGeom prst="roundRect">
            <a:avLst>
              <a:gd name="adj" fmla="val 5217"/>
            </a:avLst>
          </a:prstGeom>
          <a:solidFill>
            <a:schemeClr val="bg2"/>
          </a:solidFill>
          <a:ln w="12700">
            <a:solidFill>
              <a:schemeClr val="bg2"/>
            </a:solidFill>
            <a:prstDash val="solid"/>
          </a:ln>
        </p:spPr>
      </p:sp>
      <p:sp>
        <p:nvSpPr>
          <p:cNvPr id="13" name="Text 11"/>
          <p:cNvSpPr txBox="1"/>
          <p:nvPr/>
        </p:nvSpPr>
        <p:spPr>
          <a:xfrm>
            <a:off x="9144000" y="1600200"/>
            <a:ext cx="219456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BR4</a:t>
            </a:r>
            <a:endParaRPr lang="en-US" sz="2800" dirty="0"/>
          </a:p>
        </p:txBody>
      </p:sp>
      <p:sp>
        <p:nvSpPr>
          <p:cNvPr id="14" name="Text 12"/>
          <p:cNvSpPr txBox="1"/>
          <p:nvPr/>
        </p:nvSpPr>
        <p:spPr>
          <a:xfrm>
            <a:off x="9144000" y="2240280"/>
            <a:ext cx="2194560" cy="1097280"/>
          </a:xfrm>
          <a:prstGeom prst="rect">
            <a:avLst/>
          </a:prstGeom>
          <a:noFill/>
          <a:ln/>
        </p:spPr>
        <p:txBody>
          <a:bodyPr wrap="square" lIns="0" tIns="0" rIns="0" bIns="0" rtlCol="0" anchor="t"/>
          <a:lstStyle/>
          <a:p>
            <a:pPr indent="0" marL="0">
              <a:buNone/>
            </a:pPr>
            <a:r>
              <a:rPr lang="en-US" sz="1500" dirty="0">
                <a:solidFill>
                  <a:schemeClr val="tx1"/>
                </a:solidFill>
              </a:rPr>
              <a:t>Conflicting records: newer wins, owner alerted</a:t>
            </a:r>
            <a:endParaRPr lang="en-US" sz="1500" dirty="0"/>
          </a:p>
        </p:txBody>
      </p:sp>
      <p:sp>
        <p:nvSpPr>
          <p:cNvPr id="15" name="BR5 card"/>
          <p:cNvSpPr/>
          <p:nvPr/>
        </p:nvSpPr>
        <p:spPr>
          <a:xfrm>
            <a:off x="548640" y="3703320"/>
            <a:ext cx="2606040" cy="2103120"/>
          </a:xfrm>
          <a:prstGeom prst="roundRect">
            <a:avLst>
              <a:gd name="adj" fmla="val 5217"/>
            </a:avLst>
          </a:prstGeom>
          <a:solidFill>
            <a:schemeClr val="bg2"/>
          </a:solidFill>
          <a:ln w="12700">
            <a:solidFill>
              <a:schemeClr val="bg2"/>
            </a:solidFill>
            <a:prstDash val="solid"/>
          </a:ln>
        </p:spPr>
      </p:sp>
      <p:sp>
        <p:nvSpPr>
          <p:cNvPr id="16" name="Text 14"/>
          <p:cNvSpPr txBox="1"/>
          <p:nvPr/>
        </p:nvSpPr>
        <p:spPr>
          <a:xfrm>
            <a:off x="777240" y="3931920"/>
            <a:ext cx="219456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BR5</a:t>
            </a:r>
            <a:endParaRPr lang="en-US" sz="2800" dirty="0"/>
          </a:p>
        </p:txBody>
      </p:sp>
      <p:sp>
        <p:nvSpPr>
          <p:cNvPr id="17" name="Text 15"/>
          <p:cNvSpPr txBox="1"/>
          <p:nvPr/>
        </p:nvSpPr>
        <p:spPr>
          <a:xfrm>
            <a:off x="777240" y="4572000"/>
            <a:ext cx="2194560" cy="1097280"/>
          </a:xfrm>
          <a:prstGeom prst="rect">
            <a:avLst/>
          </a:prstGeom>
          <a:noFill/>
          <a:ln/>
        </p:spPr>
        <p:txBody>
          <a:bodyPr wrap="square" lIns="0" tIns="0" rIns="0" bIns="0" rtlCol="0" anchor="t"/>
          <a:lstStyle/>
          <a:p>
            <a:pPr indent="0" marL="0">
              <a:buNone/>
            </a:pPr>
            <a:r>
              <a:rPr lang="en-US" sz="1500" dirty="0">
                <a:solidFill>
                  <a:schemeClr val="tx1"/>
                </a:solidFill>
              </a:rPr>
              <a:t>Quoted price and stock must match the record exactly</a:t>
            </a:r>
            <a:endParaRPr lang="en-US" sz="1500" dirty="0"/>
          </a:p>
        </p:txBody>
      </p:sp>
      <p:sp>
        <p:nvSpPr>
          <p:cNvPr id="18" name="BR6 card"/>
          <p:cNvSpPr/>
          <p:nvPr/>
        </p:nvSpPr>
        <p:spPr>
          <a:xfrm>
            <a:off x="3337560" y="3703320"/>
            <a:ext cx="2606040" cy="2103120"/>
          </a:xfrm>
          <a:prstGeom prst="roundRect">
            <a:avLst>
              <a:gd name="adj" fmla="val 5217"/>
            </a:avLst>
          </a:prstGeom>
          <a:solidFill>
            <a:schemeClr val="bg2"/>
          </a:solidFill>
          <a:ln w="12700">
            <a:solidFill>
              <a:schemeClr val="bg2"/>
            </a:solidFill>
            <a:prstDash val="solid"/>
          </a:ln>
        </p:spPr>
      </p:sp>
      <p:sp>
        <p:nvSpPr>
          <p:cNvPr id="19" name="Text 17"/>
          <p:cNvSpPr txBox="1"/>
          <p:nvPr/>
        </p:nvSpPr>
        <p:spPr>
          <a:xfrm>
            <a:off x="3566160" y="3931920"/>
            <a:ext cx="219456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BR6</a:t>
            </a:r>
            <a:endParaRPr lang="en-US" sz="2800" dirty="0"/>
          </a:p>
        </p:txBody>
      </p:sp>
      <p:sp>
        <p:nvSpPr>
          <p:cNvPr id="20" name="Text 18"/>
          <p:cNvSpPr txBox="1"/>
          <p:nvPr/>
        </p:nvSpPr>
        <p:spPr>
          <a:xfrm>
            <a:off x="3566160" y="4572000"/>
            <a:ext cx="2194560" cy="1097280"/>
          </a:xfrm>
          <a:prstGeom prst="rect">
            <a:avLst/>
          </a:prstGeom>
          <a:noFill/>
          <a:ln/>
        </p:spPr>
        <p:txBody>
          <a:bodyPr wrap="square" lIns="0" tIns="0" rIns="0" bIns="0" rtlCol="0" anchor="t"/>
          <a:lstStyle/>
          <a:p>
            <a:pPr indent="0" marL="0">
              <a:buNone/>
            </a:pPr>
            <a:r>
              <a:rPr lang="en-US" sz="1500" dirty="0">
                <a:solidFill>
                  <a:schemeClr val="tx1"/>
                </a:solidFill>
              </a:rPr>
              <a:t>Stock not updated in 14 days triggers a reminder</a:t>
            </a:r>
            <a:endParaRPr lang="en-US" sz="1500" dirty="0"/>
          </a:p>
        </p:txBody>
      </p:sp>
      <p:sp>
        <p:nvSpPr>
          <p:cNvPr id="21" name="BR7 card"/>
          <p:cNvSpPr/>
          <p:nvPr/>
        </p:nvSpPr>
        <p:spPr>
          <a:xfrm>
            <a:off x="6126480" y="3703320"/>
            <a:ext cx="2606040" cy="2103120"/>
          </a:xfrm>
          <a:prstGeom prst="roundRect">
            <a:avLst>
              <a:gd name="adj" fmla="val 5217"/>
            </a:avLst>
          </a:prstGeom>
          <a:solidFill>
            <a:schemeClr val="bg2"/>
          </a:solidFill>
          <a:ln w="12700">
            <a:solidFill>
              <a:schemeClr val="bg2"/>
            </a:solidFill>
            <a:prstDash val="solid"/>
          </a:ln>
        </p:spPr>
      </p:sp>
      <p:sp>
        <p:nvSpPr>
          <p:cNvPr id="22" name="Text 20"/>
          <p:cNvSpPr txBox="1"/>
          <p:nvPr/>
        </p:nvSpPr>
        <p:spPr>
          <a:xfrm>
            <a:off x="6355080" y="3931920"/>
            <a:ext cx="219456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BR7</a:t>
            </a:r>
            <a:endParaRPr lang="en-US" sz="2800" dirty="0"/>
          </a:p>
        </p:txBody>
      </p:sp>
      <p:sp>
        <p:nvSpPr>
          <p:cNvPr id="23" name="Text 21"/>
          <p:cNvSpPr txBox="1"/>
          <p:nvPr/>
        </p:nvSpPr>
        <p:spPr>
          <a:xfrm>
            <a:off x="6355080" y="4572000"/>
            <a:ext cx="2194560" cy="1097280"/>
          </a:xfrm>
          <a:prstGeom prst="rect">
            <a:avLst/>
          </a:prstGeom>
          <a:noFill/>
          <a:ln/>
        </p:spPr>
        <p:txBody>
          <a:bodyPr wrap="square" lIns="0" tIns="0" rIns="0" bIns="0" rtlCol="0" anchor="t"/>
          <a:lstStyle/>
          <a:p>
            <a:pPr indent="0" marL="0">
              <a:buNone/>
            </a:pPr>
            <a:r>
              <a:rPr lang="en-US" sz="1500" dirty="0">
                <a:solidFill>
                  <a:schemeClr val="tx1"/>
                </a:solidFill>
              </a:rPr>
              <a:t>Card and ID numbers are masked before storage and AI calls</a:t>
            </a:r>
            <a:endParaRPr lang="en-US" sz="1500" dirty="0"/>
          </a:p>
        </p:txBody>
      </p:sp>
      <p:sp>
        <p:nvSpPr>
          <p:cNvPr id="24" name="BR8 card"/>
          <p:cNvSpPr/>
          <p:nvPr/>
        </p:nvSpPr>
        <p:spPr>
          <a:xfrm>
            <a:off x="8915400" y="3703320"/>
            <a:ext cx="2606040" cy="2103120"/>
          </a:xfrm>
          <a:prstGeom prst="roundRect">
            <a:avLst>
              <a:gd name="adj" fmla="val 5217"/>
            </a:avLst>
          </a:prstGeom>
          <a:solidFill>
            <a:schemeClr val="bg2"/>
          </a:solidFill>
          <a:ln w="12700">
            <a:solidFill>
              <a:schemeClr val="bg2"/>
            </a:solidFill>
            <a:prstDash val="solid"/>
          </a:ln>
        </p:spPr>
      </p:sp>
      <p:sp>
        <p:nvSpPr>
          <p:cNvPr id="25" name="Text 23"/>
          <p:cNvSpPr txBox="1"/>
          <p:nvPr/>
        </p:nvSpPr>
        <p:spPr>
          <a:xfrm>
            <a:off x="9144000" y="3931920"/>
            <a:ext cx="219456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BR8</a:t>
            </a:r>
            <a:endParaRPr lang="en-US" sz="2800" dirty="0"/>
          </a:p>
        </p:txBody>
      </p:sp>
      <p:sp>
        <p:nvSpPr>
          <p:cNvPr id="26" name="Text 24"/>
          <p:cNvSpPr txBox="1"/>
          <p:nvPr/>
        </p:nvSpPr>
        <p:spPr>
          <a:xfrm>
            <a:off x="9144000" y="4572000"/>
            <a:ext cx="2194560" cy="1097280"/>
          </a:xfrm>
          <a:prstGeom prst="rect">
            <a:avLst/>
          </a:prstGeom>
          <a:noFill/>
          <a:ln/>
        </p:spPr>
        <p:txBody>
          <a:bodyPr wrap="square" lIns="0" tIns="0" rIns="0" bIns="0" rtlCol="0" anchor="t"/>
          <a:lstStyle/>
          <a:p>
            <a:pPr indent="0" marL="0">
              <a:buNone/>
            </a:pPr>
            <a:r>
              <a:rPr lang="en-US" sz="1500" dirty="0">
                <a:solidFill>
                  <a:schemeClr val="tx1"/>
                </a:solidFill>
              </a:rPr>
              <a:t>Only owners change policies; staff edit products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Interface mockups</a:t>
            </a:r>
            <a:endParaRPr lang="en-US" sz="3200" dirty="0"/>
          </a:p>
        </p:txBody>
      </p:sp>
      <p:pic>
        <p:nvPicPr>
          <p:cNvPr id="3" name="Customer chat mockup" descr="Customer chat mockup">    </p:cNvPr>
          <p:cNvPicPr>
            <a:picLocks noChangeAspect="1"/>
          </p:cNvPicPr>
          <p:nvPr/>
        </p:nvPicPr>
        <p:blipFill>
          <a:blip r:embed="rId1"/>
          <a:stretch>
            <a:fillRect/>
          </a:stretch>
        </p:blipFill>
        <p:spPr>
          <a:xfrm>
            <a:off x="574542" y="1325880"/>
            <a:ext cx="4520197" cy="4434840"/>
          </a:xfrm>
          <a:prstGeom prst="rect">
            <a:avLst/>
          </a:prstGeom>
        </p:spPr>
      </p:pic>
      <p:sp>
        <p:nvSpPr>
          <p:cNvPr id="4" name="Text 1"/>
          <p:cNvSpPr txBox="1"/>
          <p:nvPr/>
        </p:nvSpPr>
        <p:spPr>
          <a:xfrm>
            <a:off x="548640" y="5897880"/>
            <a:ext cx="4572000" cy="274320"/>
          </a:xfrm>
          <a:prstGeom prst="rect">
            <a:avLst/>
          </a:prstGeom>
          <a:noFill/>
          <a:ln/>
        </p:spPr>
        <p:txBody>
          <a:bodyPr wrap="square" lIns="0" tIns="0" rIns="0" bIns="0" rtlCol="0" anchor="t"/>
          <a:lstStyle/>
          <a:p>
            <a:pPr algn="ctr" indent="0" marL="0">
              <a:buNone/>
            </a:pPr>
            <a:r>
              <a:rPr lang="en-US" sz="1100" i="1" dirty="0">
                <a:solidFill>
                  <a:srgbClr val="5E6E66"/>
                </a:solidFill>
              </a:rPr>
              <a:t>Customer chat (fictional store): automated label, record source, Taglish reply, 'Staff' button</a:t>
            </a:r>
            <a:endParaRPr lang="en-US" sz="1100" dirty="0"/>
          </a:p>
        </p:txBody>
      </p:sp>
      <p:pic>
        <p:nvPicPr>
          <p:cNvPr id="5" name="Owner dashboard mockup" descr="Owner dashboard mockup">    </p:cNvPr>
          <p:cNvPicPr>
            <a:picLocks noChangeAspect="1"/>
          </p:cNvPicPr>
          <p:nvPr/>
        </p:nvPicPr>
        <p:blipFill>
          <a:blip r:embed="rId2"/>
          <a:stretch>
            <a:fillRect/>
          </a:stretch>
        </p:blipFill>
        <p:spPr>
          <a:xfrm>
            <a:off x="5394960" y="1463040"/>
            <a:ext cx="6217920" cy="3634267"/>
          </a:xfrm>
          <a:prstGeom prst="rect">
            <a:avLst/>
          </a:prstGeom>
        </p:spPr>
      </p:pic>
      <p:sp>
        <p:nvSpPr>
          <p:cNvPr id="6" name="Text 2"/>
          <p:cNvSpPr txBox="1"/>
          <p:nvPr/>
        </p:nvSpPr>
        <p:spPr>
          <a:xfrm>
            <a:off x="5394960" y="5897880"/>
            <a:ext cx="6217920" cy="274320"/>
          </a:xfrm>
          <a:prstGeom prst="rect">
            <a:avLst/>
          </a:prstGeom>
          <a:noFill/>
          <a:ln/>
        </p:spPr>
        <p:txBody>
          <a:bodyPr wrap="square" lIns="0" tIns="0" rIns="0" bIns="0" rtlCol="0" anchor="t"/>
          <a:lstStyle/>
          <a:p>
            <a:pPr algn="ctr" indent="0" marL="0">
              <a:buNone/>
            </a:pPr>
            <a:r>
              <a:rPr lang="en-US" sz="1100" i="1" dirty="0">
                <a:solidFill>
                  <a:srgbClr val="5E6E66"/>
                </a:solidFill>
              </a:rPr>
              <a:t>Owner dashboard: weekly counts, escalation queue, top questions, stale-stock reminder (sample values)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Technical requirements and security</a:t>
            </a:r>
            <a:endParaRPr lang="en-US" sz="3200" dirty="0"/>
          </a:p>
        </p:txBody>
      </p:sp>
      <p:sp>
        <p:nvSpPr>
          <p:cNvPr id="3" name="Client icon circle"/>
          <p:cNvSpPr/>
          <p:nvPr/>
        </p:nvSpPr>
        <p:spPr>
          <a:xfrm>
            <a:off x="548640" y="1371600"/>
            <a:ext cx="594360" cy="594360"/>
          </a:xfrm>
          <a:prstGeom prst="ellipse">
            <a:avLst/>
          </a:prstGeom>
          <a:solidFill>
            <a:schemeClr val="accent3"/>
          </a:solidFill>
          <a:ln w="12700">
            <a:solidFill>
              <a:schemeClr val="accent3"/>
            </a:solidFill>
            <a:prstDash val="solid"/>
          </a:ln>
        </p:spPr>
      </p:sp>
      <p:pic>
        <p:nvPicPr>
          <p:cNvPr id="4" name="Client icon" descr="preencoded.png">    </p:cNvPr>
          <p:cNvPicPr>
            <a:picLocks noChangeAspect="1"/>
          </p:cNvPicPr>
          <p:nvPr/>
        </p:nvPicPr>
        <p:blipFill>
          <a:blip r:embed="rId1"/>
          <a:stretch>
            <a:fillRect/>
          </a:stretch>
        </p:blipFill>
        <p:spPr>
          <a:xfrm>
            <a:off x="691286" y="1514246"/>
            <a:ext cx="309067" cy="309067"/>
          </a:xfrm>
          <a:prstGeom prst="rect">
            <a:avLst/>
          </a:prstGeom>
        </p:spPr>
      </p:pic>
      <p:sp>
        <p:nvSpPr>
          <p:cNvPr id="5" name="Text 2"/>
          <p:cNvSpPr txBox="1"/>
          <p:nvPr/>
        </p:nvSpPr>
        <p:spPr>
          <a:xfrm>
            <a:off x="1325880" y="1389888"/>
            <a:ext cx="1737360" cy="548640"/>
          </a:xfrm>
          <a:prstGeom prst="rect">
            <a:avLst/>
          </a:prstGeom>
          <a:noFill/>
          <a:ln/>
        </p:spPr>
        <p:txBody>
          <a:bodyPr wrap="square" lIns="0" tIns="0" rIns="0" bIns="0" rtlCol="0" anchor="ctr"/>
          <a:lstStyle/>
          <a:p>
            <a:pPr indent="0" marL="0">
              <a:buNone/>
            </a:pPr>
            <a:r>
              <a:rPr lang="en-US" sz="1600" b="1" dirty="0">
                <a:solidFill>
                  <a:schemeClr val="accent1"/>
                </a:solidFill>
              </a:rPr>
              <a:t>Client</a:t>
            </a:r>
            <a:endParaRPr lang="en-US" sz="1600" dirty="0"/>
          </a:p>
        </p:txBody>
      </p:sp>
      <p:sp>
        <p:nvSpPr>
          <p:cNvPr id="6" name="Text 3"/>
          <p:cNvSpPr txBox="1"/>
          <p:nvPr/>
        </p:nvSpPr>
        <p:spPr>
          <a:xfrm>
            <a:off x="3017520" y="1389888"/>
            <a:ext cx="3200400" cy="548640"/>
          </a:xfrm>
          <a:prstGeom prst="rect">
            <a:avLst/>
          </a:prstGeom>
          <a:noFill/>
          <a:ln/>
        </p:spPr>
        <p:txBody>
          <a:bodyPr wrap="square" lIns="0" tIns="0" rIns="0" bIns="0" rtlCol="0" anchor="ctr"/>
          <a:lstStyle/>
          <a:p>
            <a:pPr indent="0" marL="0">
              <a:buNone/>
            </a:pPr>
            <a:r>
              <a:rPr lang="en-US" sz="1400" dirty="0">
                <a:solidFill>
                  <a:schemeClr val="tx1"/>
                </a:solidFill>
              </a:rPr>
              <a:t>Responsive web app on phone or desktop</a:t>
            </a:r>
            <a:endParaRPr lang="en-US" sz="1400" dirty="0"/>
          </a:p>
        </p:txBody>
      </p:sp>
      <p:sp>
        <p:nvSpPr>
          <p:cNvPr id="7" name="Application icon circle"/>
          <p:cNvSpPr/>
          <p:nvPr/>
        </p:nvSpPr>
        <p:spPr>
          <a:xfrm>
            <a:off x="548640" y="2286000"/>
            <a:ext cx="594360" cy="594360"/>
          </a:xfrm>
          <a:prstGeom prst="ellipse">
            <a:avLst/>
          </a:prstGeom>
          <a:solidFill>
            <a:schemeClr val="accent3"/>
          </a:solidFill>
          <a:ln w="12700">
            <a:solidFill>
              <a:schemeClr val="accent3"/>
            </a:solidFill>
            <a:prstDash val="solid"/>
          </a:ln>
        </p:spPr>
      </p:sp>
      <p:pic>
        <p:nvPicPr>
          <p:cNvPr id="8" name="Application icon" descr="preencoded.png">    </p:cNvPr>
          <p:cNvPicPr>
            <a:picLocks noChangeAspect="1"/>
          </p:cNvPicPr>
          <p:nvPr/>
        </p:nvPicPr>
        <p:blipFill>
          <a:blip r:embed="rId2"/>
          <a:stretch>
            <a:fillRect/>
          </a:stretch>
        </p:blipFill>
        <p:spPr>
          <a:xfrm>
            <a:off x="691286" y="2428646"/>
            <a:ext cx="309067" cy="309067"/>
          </a:xfrm>
          <a:prstGeom prst="rect">
            <a:avLst/>
          </a:prstGeom>
        </p:spPr>
      </p:pic>
      <p:sp>
        <p:nvSpPr>
          <p:cNvPr id="9" name="Text 5"/>
          <p:cNvSpPr txBox="1"/>
          <p:nvPr/>
        </p:nvSpPr>
        <p:spPr>
          <a:xfrm>
            <a:off x="1325880" y="2304288"/>
            <a:ext cx="1737360" cy="548640"/>
          </a:xfrm>
          <a:prstGeom prst="rect">
            <a:avLst/>
          </a:prstGeom>
          <a:noFill/>
          <a:ln/>
        </p:spPr>
        <p:txBody>
          <a:bodyPr wrap="square" lIns="0" tIns="0" rIns="0" bIns="0" rtlCol="0" anchor="ctr"/>
          <a:lstStyle/>
          <a:p>
            <a:pPr indent="0" marL="0">
              <a:buNone/>
            </a:pPr>
            <a:r>
              <a:rPr lang="en-US" sz="1600" b="1" dirty="0">
                <a:solidFill>
                  <a:schemeClr val="accent1"/>
                </a:solidFill>
              </a:rPr>
              <a:t>Application</a:t>
            </a:r>
            <a:endParaRPr lang="en-US" sz="1600" dirty="0"/>
          </a:p>
        </p:txBody>
      </p:sp>
      <p:sp>
        <p:nvSpPr>
          <p:cNvPr id="10" name="Text 6"/>
          <p:cNvSpPr txBox="1"/>
          <p:nvPr/>
        </p:nvSpPr>
        <p:spPr>
          <a:xfrm>
            <a:off x="3017520" y="2304288"/>
            <a:ext cx="3200400" cy="548640"/>
          </a:xfrm>
          <a:prstGeom prst="rect">
            <a:avLst/>
          </a:prstGeom>
          <a:noFill/>
          <a:ln/>
        </p:spPr>
        <p:txBody>
          <a:bodyPr wrap="square" lIns="0" tIns="0" rIns="0" bIns="0" rtlCol="0" anchor="ctr"/>
          <a:lstStyle/>
          <a:p>
            <a:pPr indent="0" marL="0">
              <a:buNone/>
            </a:pPr>
            <a:r>
              <a:rPr lang="en-US" sz="1400" dirty="0">
                <a:solidFill>
                  <a:schemeClr val="tx1"/>
                </a:solidFill>
              </a:rPr>
              <a:t>REST API (Node.js or Python), role-based access</a:t>
            </a:r>
            <a:endParaRPr lang="en-US" sz="1400" dirty="0"/>
          </a:p>
        </p:txBody>
      </p:sp>
      <p:sp>
        <p:nvSpPr>
          <p:cNvPr id="11" name="AI / NLP icon circle"/>
          <p:cNvSpPr/>
          <p:nvPr/>
        </p:nvSpPr>
        <p:spPr>
          <a:xfrm>
            <a:off x="548640" y="3200400"/>
            <a:ext cx="594360" cy="594360"/>
          </a:xfrm>
          <a:prstGeom prst="ellipse">
            <a:avLst/>
          </a:prstGeom>
          <a:solidFill>
            <a:schemeClr val="accent3"/>
          </a:solidFill>
          <a:ln w="12700">
            <a:solidFill>
              <a:schemeClr val="accent3"/>
            </a:solidFill>
            <a:prstDash val="solid"/>
          </a:ln>
        </p:spPr>
      </p:sp>
      <p:pic>
        <p:nvPicPr>
          <p:cNvPr id="12" name="AI / NLP icon" descr="preencoded.png">    </p:cNvPr>
          <p:cNvPicPr>
            <a:picLocks noChangeAspect="1"/>
          </p:cNvPicPr>
          <p:nvPr/>
        </p:nvPicPr>
        <p:blipFill>
          <a:blip r:embed="rId3"/>
          <a:stretch>
            <a:fillRect/>
          </a:stretch>
        </p:blipFill>
        <p:spPr>
          <a:xfrm>
            <a:off x="691286" y="3343046"/>
            <a:ext cx="309067" cy="309067"/>
          </a:xfrm>
          <a:prstGeom prst="rect">
            <a:avLst/>
          </a:prstGeom>
        </p:spPr>
      </p:pic>
      <p:sp>
        <p:nvSpPr>
          <p:cNvPr id="13" name="Text 8"/>
          <p:cNvSpPr txBox="1"/>
          <p:nvPr/>
        </p:nvSpPr>
        <p:spPr>
          <a:xfrm>
            <a:off x="1325880" y="3218688"/>
            <a:ext cx="1737360" cy="548640"/>
          </a:xfrm>
          <a:prstGeom prst="rect">
            <a:avLst/>
          </a:prstGeom>
          <a:noFill/>
          <a:ln/>
        </p:spPr>
        <p:txBody>
          <a:bodyPr wrap="square" lIns="0" tIns="0" rIns="0" bIns="0" rtlCol="0" anchor="ctr"/>
          <a:lstStyle/>
          <a:p>
            <a:pPr indent="0" marL="0">
              <a:buNone/>
            </a:pPr>
            <a:r>
              <a:rPr lang="en-US" sz="1600" b="1" dirty="0">
                <a:solidFill>
                  <a:schemeClr val="accent1"/>
                </a:solidFill>
              </a:rPr>
              <a:t>AI / NLP</a:t>
            </a:r>
            <a:endParaRPr lang="en-US" sz="1600" dirty="0"/>
          </a:p>
        </p:txBody>
      </p:sp>
      <p:sp>
        <p:nvSpPr>
          <p:cNvPr id="14" name="Text 9"/>
          <p:cNvSpPr txBox="1"/>
          <p:nvPr/>
        </p:nvSpPr>
        <p:spPr>
          <a:xfrm>
            <a:off x="3017520" y="3218688"/>
            <a:ext cx="3200400" cy="548640"/>
          </a:xfrm>
          <a:prstGeom prst="rect">
            <a:avLst/>
          </a:prstGeom>
          <a:noFill/>
          <a:ln/>
        </p:spPr>
        <p:txBody>
          <a:bodyPr wrap="square" lIns="0" tIns="0" rIns="0" bIns="0" rtlCol="0" anchor="ctr"/>
          <a:lstStyle/>
          <a:p>
            <a:pPr indent="0" marL="0">
              <a:buNone/>
            </a:pPr>
            <a:r>
              <a:rPr lang="en-US" sz="1400" dirty="0">
                <a:solidFill>
                  <a:schemeClr val="tx1"/>
                </a:solidFill>
              </a:rPr>
              <a:t>Hosted LLM API + embedding model for retrieval</a:t>
            </a:r>
            <a:endParaRPr lang="en-US" sz="1400" dirty="0"/>
          </a:p>
        </p:txBody>
      </p:sp>
      <p:sp>
        <p:nvSpPr>
          <p:cNvPr id="15" name="Data icon circle"/>
          <p:cNvSpPr/>
          <p:nvPr/>
        </p:nvSpPr>
        <p:spPr>
          <a:xfrm>
            <a:off x="548640" y="4114800"/>
            <a:ext cx="594360" cy="594360"/>
          </a:xfrm>
          <a:prstGeom prst="ellipse">
            <a:avLst/>
          </a:prstGeom>
          <a:solidFill>
            <a:schemeClr val="accent3"/>
          </a:solidFill>
          <a:ln w="12700">
            <a:solidFill>
              <a:schemeClr val="accent3"/>
            </a:solidFill>
            <a:prstDash val="solid"/>
          </a:ln>
        </p:spPr>
      </p:sp>
      <p:pic>
        <p:nvPicPr>
          <p:cNvPr id="16" name="Data icon" descr="preencoded.png">    </p:cNvPr>
          <p:cNvPicPr>
            <a:picLocks noChangeAspect="1"/>
          </p:cNvPicPr>
          <p:nvPr/>
        </p:nvPicPr>
        <p:blipFill>
          <a:blip r:embed="rId4"/>
          <a:stretch>
            <a:fillRect/>
          </a:stretch>
        </p:blipFill>
        <p:spPr>
          <a:xfrm>
            <a:off x="691286" y="4257446"/>
            <a:ext cx="309067" cy="309067"/>
          </a:xfrm>
          <a:prstGeom prst="rect">
            <a:avLst/>
          </a:prstGeom>
        </p:spPr>
      </p:pic>
      <p:sp>
        <p:nvSpPr>
          <p:cNvPr id="17" name="Text 11"/>
          <p:cNvSpPr txBox="1"/>
          <p:nvPr/>
        </p:nvSpPr>
        <p:spPr>
          <a:xfrm>
            <a:off x="1325880" y="4133088"/>
            <a:ext cx="1737360" cy="548640"/>
          </a:xfrm>
          <a:prstGeom prst="rect">
            <a:avLst/>
          </a:prstGeom>
          <a:noFill/>
          <a:ln/>
        </p:spPr>
        <p:txBody>
          <a:bodyPr wrap="square" lIns="0" tIns="0" rIns="0" bIns="0" rtlCol="0" anchor="ctr"/>
          <a:lstStyle/>
          <a:p>
            <a:pPr indent="0" marL="0">
              <a:buNone/>
            </a:pPr>
            <a:r>
              <a:rPr lang="en-US" sz="1600" b="1" dirty="0">
                <a:solidFill>
                  <a:schemeClr val="accent1"/>
                </a:solidFill>
              </a:rPr>
              <a:t>Data</a:t>
            </a:r>
            <a:endParaRPr lang="en-US" sz="1600" dirty="0"/>
          </a:p>
        </p:txBody>
      </p:sp>
      <p:sp>
        <p:nvSpPr>
          <p:cNvPr id="18" name="Text 12"/>
          <p:cNvSpPr txBox="1"/>
          <p:nvPr/>
        </p:nvSpPr>
        <p:spPr>
          <a:xfrm>
            <a:off x="3017520" y="4133088"/>
            <a:ext cx="3200400" cy="548640"/>
          </a:xfrm>
          <a:prstGeom prst="rect">
            <a:avLst/>
          </a:prstGeom>
          <a:noFill/>
          <a:ln/>
        </p:spPr>
        <p:txBody>
          <a:bodyPr wrap="square" lIns="0" tIns="0" rIns="0" bIns="0" rtlCol="0" anchor="ctr"/>
          <a:lstStyle/>
          <a:p>
            <a:pPr indent="0" marL="0">
              <a:buNone/>
            </a:pPr>
            <a:r>
              <a:rPr lang="en-US" sz="1400" dirty="0">
                <a:solidFill>
                  <a:schemeClr val="tx1"/>
                </a:solidFill>
              </a:rPr>
              <a:t>PostgreSQL with pgvector; daily encrypted backups</a:t>
            </a:r>
            <a:endParaRPr lang="en-US" sz="1400" dirty="0"/>
          </a:p>
        </p:txBody>
      </p:sp>
      <p:sp>
        <p:nvSpPr>
          <p:cNvPr id="19" name="Hosting icon circle"/>
          <p:cNvSpPr/>
          <p:nvPr/>
        </p:nvSpPr>
        <p:spPr>
          <a:xfrm>
            <a:off x="548640" y="5029200"/>
            <a:ext cx="594360" cy="594360"/>
          </a:xfrm>
          <a:prstGeom prst="ellipse">
            <a:avLst/>
          </a:prstGeom>
          <a:solidFill>
            <a:schemeClr val="accent3"/>
          </a:solidFill>
          <a:ln w="12700">
            <a:solidFill>
              <a:schemeClr val="accent3"/>
            </a:solidFill>
            <a:prstDash val="solid"/>
          </a:ln>
        </p:spPr>
      </p:sp>
      <p:pic>
        <p:nvPicPr>
          <p:cNvPr id="20" name="Hosting icon" descr="preencoded.png">    </p:cNvPr>
          <p:cNvPicPr>
            <a:picLocks noChangeAspect="1"/>
          </p:cNvPicPr>
          <p:nvPr/>
        </p:nvPicPr>
        <p:blipFill>
          <a:blip r:embed="rId5"/>
          <a:stretch>
            <a:fillRect/>
          </a:stretch>
        </p:blipFill>
        <p:spPr>
          <a:xfrm>
            <a:off x="691286" y="5171846"/>
            <a:ext cx="309067" cy="309067"/>
          </a:xfrm>
          <a:prstGeom prst="rect">
            <a:avLst/>
          </a:prstGeom>
        </p:spPr>
      </p:pic>
      <p:sp>
        <p:nvSpPr>
          <p:cNvPr id="21" name="Text 14"/>
          <p:cNvSpPr txBox="1"/>
          <p:nvPr/>
        </p:nvSpPr>
        <p:spPr>
          <a:xfrm>
            <a:off x="1325880" y="5047488"/>
            <a:ext cx="1737360" cy="548640"/>
          </a:xfrm>
          <a:prstGeom prst="rect">
            <a:avLst/>
          </a:prstGeom>
          <a:noFill/>
          <a:ln/>
        </p:spPr>
        <p:txBody>
          <a:bodyPr wrap="square" lIns="0" tIns="0" rIns="0" bIns="0" rtlCol="0" anchor="ctr"/>
          <a:lstStyle/>
          <a:p>
            <a:pPr indent="0" marL="0">
              <a:buNone/>
            </a:pPr>
            <a:r>
              <a:rPr lang="en-US" sz="1600" b="1" dirty="0">
                <a:solidFill>
                  <a:schemeClr val="accent1"/>
                </a:solidFill>
              </a:rPr>
              <a:t>Hosting</a:t>
            </a:r>
            <a:endParaRPr lang="en-US" sz="1600" dirty="0"/>
          </a:p>
        </p:txBody>
      </p:sp>
      <p:sp>
        <p:nvSpPr>
          <p:cNvPr id="22" name="Text 15"/>
          <p:cNvSpPr txBox="1"/>
          <p:nvPr/>
        </p:nvSpPr>
        <p:spPr>
          <a:xfrm>
            <a:off x="3017520" y="5047488"/>
            <a:ext cx="3200400" cy="548640"/>
          </a:xfrm>
          <a:prstGeom prst="rect">
            <a:avLst/>
          </a:prstGeom>
          <a:noFill/>
          <a:ln/>
        </p:spPr>
        <p:txBody>
          <a:bodyPr wrap="square" lIns="0" tIns="0" rIns="0" bIns="0" rtlCol="0" anchor="ctr"/>
          <a:lstStyle/>
          <a:p>
            <a:pPr indent="0" marL="0">
              <a:buNone/>
            </a:pPr>
            <a:r>
              <a:rPr lang="en-US" sz="1400" dirty="0">
                <a:solidFill>
                  <a:schemeClr val="tx1"/>
                </a:solidFill>
              </a:rPr>
              <a:t>Cloud VM, about 2 vCPU and 4 GB RAM for the pilot</a:t>
            </a:r>
            <a:endParaRPr lang="en-US" sz="1400" dirty="0"/>
          </a:p>
        </p:txBody>
      </p:sp>
      <p:sp>
        <p:nvSpPr>
          <p:cNvPr id="23" name="security card"/>
          <p:cNvSpPr/>
          <p:nvPr/>
        </p:nvSpPr>
        <p:spPr>
          <a:xfrm>
            <a:off x="6583680" y="1325880"/>
            <a:ext cx="5029200" cy="4663440"/>
          </a:xfrm>
          <a:prstGeom prst="roundRect">
            <a:avLst>
              <a:gd name="adj" fmla="val 2353"/>
            </a:avLst>
          </a:prstGeom>
          <a:solidFill>
            <a:schemeClr val="accent1"/>
          </a:solidFill>
          <a:ln w="12700">
            <a:solidFill>
              <a:schemeClr val="accent1"/>
            </a:solidFill>
            <a:prstDash val="solid"/>
          </a:ln>
        </p:spPr>
      </p:sp>
      <p:sp>
        <p:nvSpPr>
          <p:cNvPr id="24" name="security icon circle"/>
          <p:cNvSpPr/>
          <p:nvPr/>
        </p:nvSpPr>
        <p:spPr>
          <a:xfrm>
            <a:off x="6858000" y="1600200"/>
            <a:ext cx="640080" cy="640080"/>
          </a:xfrm>
          <a:prstGeom prst="ellipse">
            <a:avLst/>
          </a:prstGeom>
          <a:solidFill>
            <a:schemeClr val="accent4"/>
          </a:solidFill>
          <a:ln w="12700">
            <a:solidFill>
              <a:schemeClr val="accent4"/>
            </a:solidFill>
            <a:prstDash val="solid"/>
          </a:ln>
        </p:spPr>
      </p:sp>
      <p:pic>
        <p:nvPicPr>
          <p:cNvPr id="25" name="security icon" descr="preencoded.png">    </p:cNvPr>
          <p:cNvPicPr>
            <a:picLocks noChangeAspect="1"/>
          </p:cNvPicPr>
          <p:nvPr/>
        </p:nvPicPr>
        <p:blipFill>
          <a:blip r:embed="rId6"/>
          <a:stretch>
            <a:fillRect/>
          </a:stretch>
        </p:blipFill>
        <p:spPr>
          <a:xfrm>
            <a:off x="7011619" y="1753819"/>
            <a:ext cx="332842" cy="332842"/>
          </a:xfrm>
          <a:prstGeom prst="rect">
            <a:avLst/>
          </a:prstGeom>
        </p:spPr>
      </p:pic>
      <p:sp>
        <p:nvSpPr>
          <p:cNvPr id="26" name="Text 18"/>
          <p:cNvSpPr txBox="1"/>
          <p:nvPr/>
        </p:nvSpPr>
        <p:spPr>
          <a:xfrm>
            <a:off x="7635240" y="1645920"/>
            <a:ext cx="3840480" cy="548640"/>
          </a:xfrm>
          <a:prstGeom prst="rect">
            <a:avLst/>
          </a:prstGeom>
          <a:noFill/>
          <a:ln/>
        </p:spPr>
        <p:txBody>
          <a:bodyPr wrap="square" lIns="0" tIns="0" rIns="0" bIns="0" rtlCol="0" anchor="ctr"/>
          <a:lstStyle/>
          <a:p>
            <a:pPr indent="0" marL="0">
              <a:buNone/>
            </a:pPr>
            <a:r>
              <a:rPr lang="en-US" sz="2000" b="1" dirty="0">
                <a:solidFill>
                  <a:schemeClr val="bg1"/>
                </a:solidFill>
              </a:rPr>
              <a:t>Security and privacy</a:t>
            </a:r>
            <a:endParaRPr lang="en-US" sz="2000" dirty="0"/>
          </a:p>
        </p:txBody>
      </p:sp>
      <p:sp>
        <p:nvSpPr>
          <p:cNvPr id="27" name="Text 19"/>
          <p:cNvSpPr txBox="1"/>
          <p:nvPr/>
        </p:nvSpPr>
        <p:spPr>
          <a:xfrm>
            <a:off x="6903720" y="2423160"/>
            <a:ext cx="4526280" cy="3383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HTTPS, hashed passwords, optional 2FA for owners</a:t>
            </a:r>
            <a:endParaRPr lang="en-US" sz="1500" dirty="0"/>
          </a:p>
          <a:p>
            <a:pPr marL="342900" indent="-342900">
              <a:spcAft>
                <a:spcPts val="600"/>
              </a:spcAft>
              <a:buSzPct val="100000"/>
              <a:buChar char="•"/>
            </a:pPr>
            <a:r>
              <a:rPr lang="en-US" sz="1500" dirty="0">
                <a:solidFill>
                  <a:schemeClr val="bg1"/>
                </a:solidFill>
              </a:rPr>
              <a:t>Customer text treated as data, never as instructions</a:t>
            </a:r>
            <a:endParaRPr lang="en-US" sz="1500" dirty="0"/>
          </a:p>
          <a:p>
            <a:pPr marL="342900" indent="-342900">
              <a:spcAft>
                <a:spcPts val="600"/>
              </a:spcAft>
              <a:buSzPct val="100000"/>
              <a:buChar char="•"/>
            </a:pPr>
            <a:r>
              <a:rPr lang="en-US" sz="1500" dirty="0">
                <a:solidFill>
                  <a:schemeClr val="bg1"/>
                </a:solidFill>
              </a:rPr>
              <a:t>Replies checked against the record before sending</a:t>
            </a:r>
            <a:endParaRPr lang="en-US" sz="1500" dirty="0"/>
          </a:p>
          <a:p>
            <a:pPr marL="342900" indent="-342900">
              <a:spcAft>
                <a:spcPts val="600"/>
              </a:spcAft>
              <a:buSzPct val="100000"/>
              <a:buChar char="•"/>
            </a:pPr>
            <a:r>
              <a:rPr lang="en-US" sz="1500" dirty="0">
                <a:solidFill>
                  <a:schemeClr val="bg1"/>
                </a:solidFill>
              </a:rPr>
              <a:t>Sensitive numbers masked; chats kept 90 days</a:t>
            </a:r>
            <a:endParaRPr lang="en-US" sz="1500" dirty="0"/>
          </a:p>
          <a:p>
            <a:pPr marL="342900" indent="-342900">
              <a:spcAft>
                <a:spcPts val="600"/>
              </a:spcAft>
              <a:buSzPct val="100000"/>
              <a:buChar char="•"/>
            </a:pPr>
            <a:r>
              <a:rPr lang="en-US" sz="1500" dirty="0">
                <a:solidFill>
                  <a:schemeClr val="bg1"/>
                </a:solidFill>
              </a:rPr>
              <a:t>Chats never used to train models</a:t>
            </a:r>
            <a:endParaRPr lang="en-US" sz="1500" dirty="0"/>
          </a:p>
          <a:p>
            <a:pPr marL="342900" indent="-342900">
              <a:spcAft>
                <a:spcPts val="600"/>
              </a:spcAft>
              <a:buSzPct val="100000"/>
              <a:buChar char="•"/>
            </a:pPr>
            <a:r>
              <a:rPr lang="en-US" sz="1500" dirty="0">
                <a:solidFill>
                  <a:schemeClr val="bg1"/>
                </a:solidFill>
              </a:rPr>
              <a:t>Follows RA 10173 and NPC Advisory 2024-04</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Business and sustainability model</a:t>
            </a:r>
            <a:endParaRPr lang="en-US" sz="3200" dirty="0"/>
          </a:p>
        </p:txBody>
      </p:sp>
      <p:sp>
        <p:nvSpPr>
          <p:cNvPr id="3" name="Free tier card"/>
          <p:cNvSpPr/>
          <p:nvPr/>
        </p:nvSpPr>
        <p:spPr>
          <a:xfrm>
            <a:off x="548640" y="1371600"/>
            <a:ext cx="2331720" cy="3657600"/>
          </a:xfrm>
          <a:prstGeom prst="roundRect">
            <a:avLst>
              <a:gd name="adj" fmla="val 4706"/>
            </a:avLst>
          </a:prstGeom>
          <a:solidFill>
            <a:schemeClr val="bg2"/>
          </a:solidFill>
          <a:ln w="12700">
            <a:solidFill>
              <a:schemeClr val="bg2"/>
            </a:solidFill>
            <a:prstDash val="solid"/>
          </a:ln>
        </p:spPr>
      </p:sp>
      <p:sp>
        <p:nvSpPr>
          <p:cNvPr id="4" name="Text 2"/>
          <p:cNvSpPr txBox="1"/>
          <p:nvPr/>
        </p:nvSpPr>
        <p:spPr>
          <a:xfrm>
            <a:off x="777240" y="1554480"/>
            <a:ext cx="1920240" cy="411480"/>
          </a:xfrm>
          <a:prstGeom prst="rect">
            <a:avLst/>
          </a:prstGeom>
          <a:noFill/>
          <a:ln/>
        </p:spPr>
        <p:txBody>
          <a:bodyPr wrap="square" lIns="0" tIns="0" rIns="0" bIns="0" rtlCol="0" anchor="t"/>
          <a:lstStyle/>
          <a:p>
            <a:pPr indent="0" marL="0">
              <a:buNone/>
            </a:pPr>
            <a:r>
              <a:rPr lang="en-US" sz="1800" b="1" dirty="0">
                <a:solidFill>
                  <a:schemeClr val="accent1"/>
                </a:solidFill>
              </a:rPr>
              <a:t>Free</a:t>
            </a:r>
            <a:endParaRPr lang="en-US" sz="1800" dirty="0"/>
          </a:p>
        </p:txBody>
      </p:sp>
      <p:sp>
        <p:nvSpPr>
          <p:cNvPr id="5" name="Text 3"/>
          <p:cNvSpPr txBox="1"/>
          <p:nvPr/>
        </p:nvSpPr>
        <p:spPr>
          <a:xfrm>
            <a:off x="777240" y="1965960"/>
            <a:ext cx="1920240" cy="73152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₱0</a:t>
            </a:r>
            <a:endParaRPr lang="en-US" sz="3400" dirty="0"/>
          </a:p>
        </p:txBody>
      </p:sp>
      <p:sp>
        <p:nvSpPr>
          <p:cNvPr id="6" name="Text 4"/>
          <p:cNvSpPr txBox="1"/>
          <p:nvPr/>
        </p:nvSpPr>
        <p:spPr>
          <a:xfrm>
            <a:off x="777240" y="2697480"/>
            <a:ext cx="1920240" cy="274320"/>
          </a:xfrm>
          <a:prstGeom prst="rect">
            <a:avLst/>
          </a:prstGeom>
          <a:noFill/>
          <a:ln/>
        </p:spPr>
        <p:txBody>
          <a:bodyPr wrap="square" lIns="0" tIns="0" rIns="0" bIns="0" rtlCol="0" anchor="t"/>
          <a:lstStyle/>
          <a:p>
            <a:pPr indent="0" marL="0">
              <a:buNone/>
            </a:pPr>
            <a:r>
              <a:rPr lang="en-US" sz="1100" dirty="0">
                <a:solidFill>
                  <a:srgbClr val="5E6E66"/>
                </a:solidFill>
              </a:rPr>
              <a:t>per month</a:t>
            </a:r>
            <a:endParaRPr lang="en-US" sz="1100" dirty="0"/>
          </a:p>
        </p:txBody>
      </p:sp>
      <p:sp>
        <p:nvSpPr>
          <p:cNvPr id="7" name="Text 5"/>
          <p:cNvSpPr txBox="1"/>
          <p:nvPr/>
        </p:nvSpPr>
        <p:spPr>
          <a:xfrm>
            <a:off x="731520" y="3108960"/>
            <a:ext cx="201168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Up to 100 AI-answered chats a month</a:t>
            </a:r>
            <a:endParaRPr lang="en-US" sz="1400" dirty="0"/>
          </a:p>
          <a:p>
            <a:pPr marL="342900" indent="-342900">
              <a:spcAft>
                <a:spcPts val="400"/>
              </a:spcAft>
              <a:buSzPct val="100000"/>
              <a:buChar char="•"/>
            </a:pPr>
            <a:r>
              <a:rPr lang="en-US" sz="1400" dirty="0">
                <a:solidFill>
                  <a:schemeClr val="tx1"/>
                </a:solidFill>
              </a:rPr>
              <a:t>1 staff account</a:t>
            </a:r>
            <a:endParaRPr lang="en-US" sz="1400" dirty="0"/>
          </a:p>
          <a:p>
            <a:pPr marL="342900" indent="-342900">
              <a:spcAft>
                <a:spcPts val="400"/>
              </a:spcAft>
              <a:buSzPct val="100000"/>
              <a:buChar char="•"/>
            </a:pPr>
            <a:r>
              <a:rPr lang="en-US" sz="1400" dirty="0">
                <a:solidFill>
                  <a:schemeClr val="tx1"/>
                </a:solidFill>
              </a:rPr>
              <a:t>Try with no risk</a:t>
            </a:r>
            <a:endParaRPr lang="en-US" sz="1400" dirty="0"/>
          </a:p>
        </p:txBody>
      </p:sp>
      <p:sp>
        <p:nvSpPr>
          <p:cNvPr id="8" name="Starter tier card"/>
          <p:cNvSpPr/>
          <p:nvPr/>
        </p:nvSpPr>
        <p:spPr>
          <a:xfrm>
            <a:off x="3063240" y="1371600"/>
            <a:ext cx="2331720" cy="3657600"/>
          </a:xfrm>
          <a:prstGeom prst="roundRect">
            <a:avLst>
              <a:gd name="adj" fmla="val 4706"/>
            </a:avLst>
          </a:prstGeom>
          <a:solidFill>
            <a:schemeClr val="accent1"/>
          </a:solidFill>
          <a:ln w="12700">
            <a:solidFill>
              <a:schemeClr val="accent1"/>
            </a:solidFill>
            <a:prstDash val="solid"/>
          </a:ln>
        </p:spPr>
      </p:sp>
      <p:sp>
        <p:nvSpPr>
          <p:cNvPr id="9" name="Text 7"/>
          <p:cNvSpPr txBox="1"/>
          <p:nvPr/>
        </p:nvSpPr>
        <p:spPr>
          <a:xfrm>
            <a:off x="3291840" y="1554480"/>
            <a:ext cx="1920240" cy="411480"/>
          </a:xfrm>
          <a:prstGeom prst="rect">
            <a:avLst/>
          </a:prstGeom>
          <a:noFill/>
          <a:ln/>
        </p:spPr>
        <p:txBody>
          <a:bodyPr wrap="square" lIns="0" tIns="0" rIns="0" bIns="0" rtlCol="0" anchor="t"/>
          <a:lstStyle/>
          <a:p>
            <a:pPr indent="0" marL="0">
              <a:buNone/>
            </a:pPr>
            <a:r>
              <a:rPr lang="en-US" sz="1800" b="1" dirty="0">
                <a:solidFill>
                  <a:schemeClr val="bg1"/>
                </a:solidFill>
              </a:rPr>
              <a:t>Starter</a:t>
            </a:r>
            <a:endParaRPr lang="en-US" sz="1800" dirty="0"/>
          </a:p>
        </p:txBody>
      </p:sp>
      <p:sp>
        <p:nvSpPr>
          <p:cNvPr id="10" name="Text 8"/>
          <p:cNvSpPr txBox="1"/>
          <p:nvPr/>
        </p:nvSpPr>
        <p:spPr>
          <a:xfrm>
            <a:off x="3291840" y="1965960"/>
            <a:ext cx="1920240" cy="731520"/>
          </a:xfrm>
          <a:prstGeom prst="rect">
            <a:avLst/>
          </a:prstGeom>
          <a:noFill/>
          <a:ln/>
        </p:spPr>
        <p:txBody>
          <a:bodyPr wrap="square" lIns="0" tIns="0" rIns="0" bIns="0" rtlCol="0" anchor="t"/>
          <a:lstStyle/>
          <a:p>
            <a:pPr indent="0" marL="0">
              <a:buNone/>
            </a:pPr>
            <a:r>
              <a:rPr lang="en-US" sz="3400" b="1" dirty="0">
                <a:solidFill>
                  <a:srgbClr val="F2C9BE"/>
                </a:solidFill>
                <a:latin typeface="Cambria" pitchFamily="34" charset="0"/>
                <a:ea typeface="Cambria" pitchFamily="34" charset="-122"/>
                <a:cs typeface="Cambria" pitchFamily="34" charset="-120"/>
              </a:rPr>
              <a:t>₱499</a:t>
            </a:r>
            <a:endParaRPr lang="en-US" sz="3400" dirty="0"/>
          </a:p>
        </p:txBody>
      </p:sp>
      <p:sp>
        <p:nvSpPr>
          <p:cNvPr id="11" name="Text 9"/>
          <p:cNvSpPr txBox="1"/>
          <p:nvPr/>
        </p:nvSpPr>
        <p:spPr>
          <a:xfrm>
            <a:off x="3291840" y="2697480"/>
            <a:ext cx="1920240" cy="274320"/>
          </a:xfrm>
          <a:prstGeom prst="rect">
            <a:avLst/>
          </a:prstGeom>
          <a:noFill/>
          <a:ln/>
        </p:spPr>
        <p:txBody>
          <a:bodyPr wrap="square" lIns="0" tIns="0" rIns="0" bIns="0" rtlCol="0" anchor="t"/>
          <a:lstStyle/>
          <a:p>
            <a:pPr indent="0" marL="0">
              <a:buNone/>
            </a:pPr>
            <a:r>
              <a:rPr lang="en-US" sz="1100" dirty="0">
                <a:solidFill>
                  <a:srgbClr val="DDEBE3"/>
                </a:solidFill>
              </a:rPr>
              <a:t>per month</a:t>
            </a:r>
            <a:endParaRPr lang="en-US" sz="1100" dirty="0"/>
          </a:p>
        </p:txBody>
      </p:sp>
      <p:sp>
        <p:nvSpPr>
          <p:cNvPr id="12" name="Text 10"/>
          <p:cNvSpPr txBox="1"/>
          <p:nvPr/>
        </p:nvSpPr>
        <p:spPr>
          <a:xfrm>
            <a:off x="3246120" y="3108960"/>
            <a:ext cx="201168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1,000 chats a month</a:t>
            </a:r>
            <a:endParaRPr lang="en-US" sz="1400" dirty="0"/>
          </a:p>
          <a:p>
            <a:pPr marL="342900" indent="-342900">
              <a:spcAft>
                <a:spcPts val="400"/>
              </a:spcAft>
              <a:buSzPct val="100000"/>
              <a:buChar char="•"/>
            </a:pPr>
            <a:r>
              <a:rPr lang="en-US" sz="1400" dirty="0">
                <a:solidFill>
                  <a:schemeClr val="bg1"/>
                </a:solidFill>
              </a:rPr>
              <a:t>2 staff accounts</a:t>
            </a:r>
            <a:endParaRPr lang="en-US" sz="1400" dirty="0"/>
          </a:p>
          <a:p>
            <a:pPr marL="342900" indent="-342900">
              <a:spcAft>
                <a:spcPts val="400"/>
              </a:spcAft>
              <a:buSzPct val="100000"/>
              <a:buChar char="•"/>
            </a:pPr>
            <a:r>
              <a:rPr lang="en-US" sz="1400" dirty="0">
                <a:solidFill>
                  <a:schemeClr val="bg1"/>
                </a:solidFill>
              </a:rPr>
              <a:t>Fits most micro sellers</a:t>
            </a:r>
            <a:endParaRPr lang="en-US" sz="1400" dirty="0"/>
          </a:p>
        </p:txBody>
      </p:sp>
      <p:sp>
        <p:nvSpPr>
          <p:cNvPr id="13" name="Growth tier card"/>
          <p:cNvSpPr/>
          <p:nvPr/>
        </p:nvSpPr>
        <p:spPr>
          <a:xfrm>
            <a:off x="5577840" y="1371600"/>
            <a:ext cx="2331720" cy="3657600"/>
          </a:xfrm>
          <a:prstGeom prst="roundRect">
            <a:avLst>
              <a:gd name="adj" fmla="val 4706"/>
            </a:avLst>
          </a:prstGeom>
          <a:solidFill>
            <a:schemeClr val="bg2"/>
          </a:solidFill>
          <a:ln w="12700">
            <a:solidFill>
              <a:schemeClr val="bg2"/>
            </a:solidFill>
            <a:prstDash val="solid"/>
          </a:ln>
        </p:spPr>
      </p:sp>
      <p:sp>
        <p:nvSpPr>
          <p:cNvPr id="14" name="Text 12"/>
          <p:cNvSpPr txBox="1"/>
          <p:nvPr/>
        </p:nvSpPr>
        <p:spPr>
          <a:xfrm>
            <a:off x="5806440" y="1554480"/>
            <a:ext cx="1920240" cy="411480"/>
          </a:xfrm>
          <a:prstGeom prst="rect">
            <a:avLst/>
          </a:prstGeom>
          <a:noFill/>
          <a:ln/>
        </p:spPr>
        <p:txBody>
          <a:bodyPr wrap="square" lIns="0" tIns="0" rIns="0" bIns="0" rtlCol="0" anchor="t"/>
          <a:lstStyle/>
          <a:p>
            <a:pPr indent="0" marL="0">
              <a:buNone/>
            </a:pPr>
            <a:r>
              <a:rPr lang="en-US" sz="1800" b="1" dirty="0">
                <a:solidFill>
                  <a:schemeClr val="accent1"/>
                </a:solidFill>
              </a:rPr>
              <a:t>Growth</a:t>
            </a:r>
            <a:endParaRPr lang="en-US" sz="1800" dirty="0"/>
          </a:p>
        </p:txBody>
      </p:sp>
      <p:sp>
        <p:nvSpPr>
          <p:cNvPr id="15" name="Text 13"/>
          <p:cNvSpPr txBox="1"/>
          <p:nvPr/>
        </p:nvSpPr>
        <p:spPr>
          <a:xfrm>
            <a:off x="5806440" y="1965960"/>
            <a:ext cx="1920240" cy="73152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₱1,299</a:t>
            </a:r>
            <a:endParaRPr lang="en-US" sz="3400" dirty="0"/>
          </a:p>
        </p:txBody>
      </p:sp>
      <p:sp>
        <p:nvSpPr>
          <p:cNvPr id="16" name="Text 14"/>
          <p:cNvSpPr txBox="1"/>
          <p:nvPr/>
        </p:nvSpPr>
        <p:spPr>
          <a:xfrm>
            <a:off x="5806440" y="2697480"/>
            <a:ext cx="1920240" cy="274320"/>
          </a:xfrm>
          <a:prstGeom prst="rect">
            <a:avLst/>
          </a:prstGeom>
          <a:noFill/>
          <a:ln/>
        </p:spPr>
        <p:txBody>
          <a:bodyPr wrap="square" lIns="0" tIns="0" rIns="0" bIns="0" rtlCol="0" anchor="t"/>
          <a:lstStyle/>
          <a:p>
            <a:pPr indent="0" marL="0">
              <a:buNone/>
            </a:pPr>
            <a:r>
              <a:rPr lang="en-US" sz="1100" dirty="0">
                <a:solidFill>
                  <a:srgbClr val="5E6E66"/>
                </a:solidFill>
              </a:rPr>
              <a:t>per month</a:t>
            </a:r>
            <a:endParaRPr lang="en-US" sz="1100" dirty="0"/>
          </a:p>
        </p:txBody>
      </p:sp>
      <p:sp>
        <p:nvSpPr>
          <p:cNvPr id="17" name="Text 15"/>
          <p:cNvSpPr txBox="1"/>
          <p:nvPr/>
        </p:nvSpPr>
        <p:spPr>
          <a:xfrm>
            <a:off x="5760720" y="3108960"/>
            <a:ext cx="201168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3,000 chats a month</a:t>
            </a:r>
            <a:endParaRPr lang="en-US" sz="1400" dirty="0"/>
          </a:p>
          <a:p>
            <a:pPr marL="342900" indent="-342900">
              <a:spcAft>
                <a:spcPts val="400"/>
              </a:spcAft>
              <a:buSzPct val="100000"/>
              <a:buChar char="•"/>
            </a:pPr>
            <a:r>
              <a:rPr lang="en-US" sz="1400" dirty="0">
                <a:solidFill>
                  <a:schemeClr val="tx1"/>
                </a:solidFill>
              </a:rPr>
              <a:t>5 staff accounts, reports</a:t>
            </a:r>
            <a:endParaRPr lang="en-US" sz="1400" dirty="0"/>
          </a:p>
          <a:p>
            <a:pPr marL="342900" indent="-342900">
              <a:spcAft>
                <a:spcPts val="400"/>
              </a:spcAft>
              <a:buSzPct val="100000"/>
              <a:buChar char="•"/>
            </a:pPr>
            <a:r>
              <a:rPr lang="en-US" sz="1400" dirty="0">
                <a:solidFill>
                  <a:schemeClr val="tx1"/>
                </a:solidFill>
              </a:rPr>
              <a:t>Messenger integration (future)</a:t>
            </a:r>
            <a:endParaRPr lang="en-US" sz="1400" dirty="0"/>
          </a:p>
        </p:txBody>
      </p:sp>
      <p:sp>
        <p:nvSpPr>
          <p:cNvPr id="18" name="Text 16"/>
          <p:cNvSpPr txBox="1"/>
          <p:nvPr/>
        </p:nvSpPr>
        <p:spPr>
          <a:xfrm>
            <a:off x="548640" y="5166360"/>
            <a:ext cx="7315200" cy="365760"/>
          </a:xfrm>
          <a:prstGeom prst="rect">
            <a:avLst/>
          </a:prstGeom>
          <a:noFill/>
          <a:ln/>
        </p:spPr>
        <p:txBody>
          <a:bodyPr wrap="square" lIns="0" tIns="0" rIns="0" bIns="0" rtlCol="0" anchor="t"/>
          <a:lstStyle/>
          <a:p>
            <a:pPr indent="0" marL="0">
              <a:buNone/>
            </a:pPr>
            <a:r>
              <a:rPr lang="en-US" sz="1200" i="1" dirty="0">
                <a:solidFill>
                  <a:srgbClr val="5E6E66"/>
                </a:solidFill>
              </a:rPr>
              <a:t>Planning figures; to be tested in the seller survey. Optional ₱1,500 one-time setup help.</a:t>
            </a:r>
            <a:endParaRPr lang="en-US" sz="1200" dirty="0"/>
          </a:p>
        </p:txBody>
      </p:sp>
      <p:sp>
        <p:nvSpPr>
          <p:cNvPr id="19" name="Model icon circle"/>
          <p:cNvSpPr/>
          <p:nvPr/>
        </p:nvSpPr>
        <p:spPr>
          <a:xfrm>
            <a:off x="8275320" y="1371600"/>
            <a:ext cx="548640" cy="548640"/>
          </a:xfrm>
          <a:prstGeom prst="ellipse">
            <a:avLst/>
          </a:prstGeom>
          <a:solidFill>
            <a:schemeClr val="accent2"/>
          </a:solidFill>
          <a:ln w="12700">
            <a:solidFill>
              <a:schemeClr val="accent2"/>
            </a:solidFill>
            <a:prstDash val="solid"/>
          </a:ln>
        </p:spPr>
      </p:sp>
      <p:pic>
        <p:nvPicPr>
          <p:cNvPr id="20" name="Model icon" descr="preencoded.png">    </p:cNvPr>
          <p:cNvPicPr>
            <a:picLocks noChangeAspect="1"/>
          </p:cNvPicPr>
          <p:nvPr/>
        </p:nvPicPr>
        <p:blipFill>
          <a:blip r:embed="rId1"/>
          <a:stretch>
            <a:fillRect/>
          </a:stretch>
        </p:blipFill>
        <p:spPr>
          <a:xfrm>
            <a:off x="8406994" y="1503274"/>
            <a:ext cx="285293" cy="285293"/>
          </a:xfrm>
          <a:prstGeom prst="rect">
            <a:avLst/>
          </a:prstGeom>
        </p:spPr>
      </p:pic>
      <p:sp>
        <p:nvSpPr>
          <p:cNvPr id="21" name="Text 18"/>
          <p:cNvSpPr txBox="1"/>
          <p:nvPr/>
        </p:nvSpPr>
        <p:spPr>
          <a:xfrm>
            <a:off x="8961120" y="1371600"/>
            <a:ext cx="2651760" cy="365760"/>
          </a:xfrm>
          <a:prstGeom prst="rect">
            <a:avLst/>
          </a:prstGeom>
          <a:noFill/>
          <a:ln/>
        </p:spPr>
        <p:txBody>
          <a:bodyPr wrap="square" lIns="0" tIns="0" rIns="0" bIns="0" rtlCol="0" anchor="t"/>
          <a:lstStyle/>
          <a:p>
            <a:pPr indent="0" marL="0">
              <a:buNone/>
            </a:pPr>
            <a:r>
              <a:rPr lang="en-US" sz="1600" b="1" dirty="0">
                <a:solidFill>
                  <a:schemeClr val="accent1"/>
                </a:solidFill>
              </a:rPr>
              <a:t>Model</a:t>
            </a:r>
            <a:endParaRPr lang="en-US" sz="1600" dirty="0"/>
          </a:p>
        </p:txBody>
      </p:sp>
      <p:sp>
        <p:nvSpPr>
          <p:cNvPr id="22" name="Text 19"/>
          <p:cNvSpPr txBox="1"/>
          <p:nvPr/>
        </p:nvSpPr>
        <p:spPr>
          <a:xfrm>
            <a:off x="8961120" y="1755648"/>
            <a:ext cx="2651760" cy="822960"/>
          </a:xfrm>
          <a:prstGeom prst="rect">
            <a:avLst/>
          </a:prstGeom>
          <a:noFill/>
          <a:ln/>
        </p:spPr>
        <p:txBody>
          <a:bodyPr wrap="square" lIns="0" tIns="0" rIns="0" bIns="0" rtlCol="0" anchor="t"/>
          <a:lstStyle/>
          <a:p>
            <a:pPr indent="0" marL="0">
              <a:buNone/>
            </a:pPr>
            <a:r>
              <a:rPr lang="en-US" sz="1300" dirty="0">
                <a:solidFill>
                  <a:schemeClr val="tx1"/>
                </a:solidFill>
              </a:rPr>
              <a:t>B2B software-as-a-service; the seller pays, not the buyer</a:t>
            </a:r>
            <a:endParaRPr lang="en-US" sz="1300" dirty="0"/>
          </a:p>
        </p:txBody>
      </p:sp>
      <p:sp>
        <p:nvSpPr>
          <p:cNvPr id="23" name="Channels icon circle"/>
          <p:cNvSpPr/>
          <p:nvPr/>
        </p:nvSpPr>
        <p:spPr>
          <a:xfrm>
            <a:off x="8275320" y="2651760"/>
            <a:ext cx="548640" cy="548640"/>
          </a:xfrm>
          <a:prstGeom prst="ellipse">
            <a:avLst/>
          </a:prstGeom>
          <a:solidFill>
            <a:schemeClr val="accent2"/>
          </a:solidFill>
          <a:ln w="12700">
            <a:solidFill>
              <a:schemeClr val="accent2"/>
            </a:solidFill>
            <a:prstDash val="solid"/>
          </a:ln>
        </p:spPr>
      </p:sp>
      <p:pic>
        <p:nvPicPr>
          <p:cNvPr id="24" name="Channels icon" descr="preencoded.png">    </p:cNvPr>
          <p:cNvPicPr>
            <a:picLocks noChangeAspect="1"/>
          </p:cNvPicPr>
          <p:nvPr/>
        </p:nvPicPr>
        <p:blipFill>
          <a:blip r:embed="rId2"/>
          <a:stretch>
            <a:fillRect/>
          </a:stretch>
        </p:blipFill>
        <p:spPr>
          <a:xfrm>
            <a:off x="8406994" y="2783434"/>
            <a:ext cx="285293" cy="285293"/>
          </a:xfrm>
          <a:prstGeom prst="rect">
            <a:avLst/>
          </a:prstGeom>
        </p:spPr>
      </p:pic>
      <p:sp>
        <p:nvSpPr>
          <p:cNvPr id="25" name="Text 21"/>
          <p:cNvSpPr txBox="1"/>
          <p:nvPr/>
        </p:nvSpPr>
        <p:spPr>
          <a:xfrm>
            <a:off x="8961120" y="2651760"/>
            <a:ext cx="2651760" cy="365760"/>
          </a:xfrm>
          <a:prstGeom prst="rect">
            <a:avLst/>
          </a:prstGeom>
          <a:noFill/>
          <a:ln/>
        </p:spPr>
        <p:txBody>
          <a:bodyPr wrap="square" lIns="0" tIns="0" rIns="0" bIns="0" rtlCol="0" anchor="t"/>
          <a:lstStyle/>
          <a:p>
            <a:pPr indent="0" marL="0">
              <a:buNone/>
            </a:pPr>
            <a:r>
              <a:rPr lang="en-US" sz="1600" b="1" dirty="0">
                <a:solidFill>
                  <a:schemeClr val="accent1"/>
                </a:solidFill>
              </a:rPr>
              <a:t>Channels</a:t>
            </a:r>
            <a:endParaRPr lang="en-US" sz="1600" dirty="0"/>
          </a:p>
        </p:txBody>
      </p:sp>
      <p:sp>
        <p:nvSpPr>
          <p:cNvPr id="26" name="Text 22"/>
          <p:cNvSpPr txBox="1"/>
          <p:nvPr/>
        </p:nvSpPr>
        <p:spPr>
          <a:xfrm>
            <a:off x="8961120" y="3035808"/>
            <a:ext cx="2651760" cy="822960"/>
          </a:xfrm>
          <a:prstGeom prst="rect">
            <a:avLst/>
          </a:prstGeom>
          <a:noFill/>
          <a:ln/>
        </p:spPr>
        <p:txBody>
          <a:bodyPr wrap="square" lIns="0" tIns="0" rIns="0" bIns="0" rtlCol="0" anchor="t"/>
          <a:lstStyle/>
          <a:p>
            <a:pPr indent="0" marL="0">
              <a:buNone/>
            </a:pPr>
            <a:r>
              <a:rPr lang="en-US" sz="1300" dirty="0">
                <a:solidFill>
                  <a:schemeClr val="tx1"/>
                </a:solidFill>
              </a:rPr>
              <a:t>DTI Negosyo Centers, DICT training cohorts, local seller groups</a:t>
            </a:r>
            <a:endParaRPr lang="en-US" sz="1300" dirty="0"/>
          </a:p>
        </p:txBody>
      </p:sp>
      <p:sp>
        <p:nvSpPr>
          <p:cNvPr id="27" name="Cost control icon circle"/>
          <p:cNvSpPr/>
          <p:nvPr/>
        </p:nvSpPr>
        <p:spPr>
          <a:xfrm>
            <a:off x="8275320" y="3931920"/>
            <a:ext cx="548640" cy="548640"/>
          </a:xfrm>
          <a:prstGeom prst="ellipse">
            <a:avLst/>
          </a:prstGeom>
          <a:solidFill>
            <a:schemeClr val="accent2"/>
          </a:solidFill>
          <a:ln w="12700">
            <a:solidFill>
              <a:schemeClr val="accent2"/>
            </a:solidFill>
            <a:prstDash val="solid"/>
          </a:ln>
        </p:spPr>
      </p:sp>
      <p:pic>
        <p:nvPicPr>
          <p:cNvPr id="28" name="Cost control icon" descr="preencoded.png">    </p:cNvPr>
          <p:cNvPicPr>
            <a:picLocks noChangeAspect="1"/>
          </p:cNvPicPr>
          <p:nvPr/>
        </p:nvPicPr>
        <p:blipFill>
          <a:blip r:embed="rId3"/>
          <a:stretch>
            <a:fillRect/>
          </a:stretch>
        </p:blipFill>
        <p:spPr>
          <a:xfrm>
            <a:off x="8406994" y="4063594"/>
            <a:ext cx="285293" cy="285293"/>
          </a:xfrm>
          <a:prstGeom prst="rect">
            <a:avLst/>
          </a:prstGeom>
        </p:spPr>
      </p:pic>
      <p:sp>
        <p:nvSpPr>
          <p:cNvPr id="29" name="Text 24"/>
          <p:cNvSpPr txBox="1"/>
          <p:nvPr/>
        </p:nvSpPr>
        <p:spPr>
          <a:xfrm>
            <a:off x="8961120" y="3931920"/>
            <a:ext cx="2651760" cy="365760"/>
          </a:xfrm>
          <a:prstGeom prst="rect">
            <a:avLst/>
          </a:prstGeom>
          <a:noFill/>
          <a:ln/>
        </p:spPr>
        <p:txBody>
          <a:bodyPr wrap="square" lIns="0" tIns="0" rIns="0" bIns="0" rtlCol="0" anchor="t"/>
          <a:lstStyle/>
          <a:p>
            <a:pPr indent="0" marL="0">
              <a:buNone/>
            </a:pPr>
            <a:r>
              <a:rPr lang="en-US" sz="1600" b="1" dirty="0">
                <a:solidFill>
                  <a:schemeClr val="accent1"/>
                </a:solidFill>
              </a:rPr>
              <a:t>Cost control</a:t>
            </a:r>
            <a:endParaRPr lang="en-US" sz="1600" dirty="0"/>
          </a:p>
        </p:txBody>
      </p:sp>
      <p:sp>
        <p:nvSpPr>
          <p:cNvPr id="30" name="Text 25"/>
          <p:cNvSpPr txBox="1"/>
          <p:nvPr/>
        </p:nvSpPr>
        <p:spPr>
          <a:xfrm>
            <a:off x="8961120" y="4315968"/>
            <a:ext cx="2651760" cy="822960"/>
          </a:xfrm>
          <a:prstGeom prst="rect">
            <a:avLst/>
          </a:prstGeom>
          <a:noFill/>
          <a:ln/>
        </p:spPr>
        <p:txBody>
          <a:bodyPr wrap="square" lIns="0" tIns="0" rIns="0" bIns="0" rtlCol="0" anchor="t"/>
          <a:lstStyle/>
          <a:p>
            <a:pPr indent="0" marL="0">
              <a:buNone/>
            </a:pPr>
            <a:r>
              <a:rPr lang="en-US" sz="1300" dirty="0">
                <a:solidFill>
                  <a:schemeClr val="tx1"/>
                </a:solidFill>
              </a:rPr>
              <a:t>Exact FAQ matches skip the AI; usage caps per tier</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How the prototype will be judged</a:t>
            </a:r>
            <a:endParaRPr lang="en-US" sz="3200" dirty="0"/>
          </a:p>
        </p:txBody>
      </p:sp>
      <p:sp>
        <p:nvSpPr>
          <p:cNvPr id="3" name="target card 1"/>
          <p:cNvSpPr/>
          <p:nvPr/>
        </p:nvSpPr>
        <p:spPr>
          <a:xfrm>
            <a:off x="548640" y="1371600"/>
            <a:ext cx="3520440" cy="1965960"/>
          </a:xfrm>
          <a:prstGeom prst="roundRect">
            <a:avLst>
              <a:gd name="adj" fmla="val 5581"/>
            </a:avLst>
          </a:prstGeom>
          <a:solidFill>
            <a:schemeClr val="bg2"/>
          </a:solidFill>
          <a:ln w="12700">
            <a:solidFill>
              <a:schemeClr val="bg2"/>
            </a:solidFill>
            <a:prstDash val="solid"/>
          </a:ln>
        </p:spPr>
      </p:sp>
      <p:sp>
        <p:nvSpPr>
          <p:cNvPr id="4" name="Text 2"/>
          <p:cNvSpPr txBox="1"/>
          <p:nvPr/>
        </p:nvSpPr>
        <p:spPr>
          <a:xfrm>
            <a:off x="822960" y="1554480"/>
            <a:ext cx="301752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 90%</a:t>
            </a:r>
            <a:endParaRPr lang="en-US" sz="4000" dirty="0"/>
          </a:p>
        </p:txBody>
      </p:sp>
      <p:sp>
        <p:nvSpPr>
          <p:cNvPr id="5" name="Text 3"/>
          <p:cNvSpPr txBox="1"/>
          <p:nvPr/>
        </p:nvSpPr>
        <p:spPr>
          <a:xfrm>
            <a:off x="822960" y="2331720"/>
            <a:ext cx="3017520" cy="365760"/>
          </a:xfrm>
          <a:prstGeom prst="rect">
            <a:avLst/>
          </a:prstGeom>
          <a:noFill/>
          <a:ln/>
        </p:spPr>
        <p:txBody>
          <a:bodyPr wrap="square" lIns="0" tIns="0" rIns="0" bIns="0" rtlCol="0" anchor="t"/>
          <a:lstStyle/>
          <a:p>
            <a:pPr indent="0" marL="0">
              <a:buNone/>
            </a:pPr>
            <a:r>
              <a:rPr lang="en-US" sz="1600" b="1" dirty="0">
                <a:solidFill>
                  <a:schemeClr val="tx1"/>
                </a:solidFill>
              </a:rPr>
              <a:t>Response accuracy</a:t>
            </a:r>
            <a:endParaRPr lang="en-US" sz="1600" dirty="0"/>
          </a:p>
        </p:txBody>
      </p:sp>
      <p:sp>
        <p:nvSpPr>
          <p:cNvPr id="6" name="Text 4"/>
          <p:cNvSpPr txBox="1"/>
          <p:nvPr/>
        </p:nvSpPr>
        <p:spPr>
          <a:xfrm>
            <a:off x="822960" y="2697480"/>
            <a:ext cx="3017520" cy="548640"/>
          </a:xfrm>
          <a:prstGeom prst="rect">
            <a:avLst/>
          </a:prstGeom>
          <a:noFill/>
          <a:ln/>
        </p:spPr>
        <p:txBody>
          <a:bodyPr wrap="square" lIns="0" tIns="0" rIns="0" bIns="0" rtlCol="0" anchor="t"/>
          <a:lstStyle/>
          <a:p>
            <a:pPr indent="0" marL="0">
              <a:buNone/>
            </a:pPr>
            <a:r>
              <a:rPr lang="en-US" sz="1300" dirty="0">
                <a:solidFill>
                  <a:srgbClr val="4A5A52"/>
                </a:solidFill>
              </a:rPr>
              <a:t>Correct, supported answers on the test set</a:t>
            </a:r>
            <a:endParaRPr lang="en-US" sz="1300" dirty="0"/>
          </a:p>
        </p:txBody>
      </p:sp>
      <p:sp>
        <p:nvSpPr>
          <p:cNvPr id="7" name="target card 2"/>
          <p:cNvSpPr/>
          <p:nvPr/>
        </p:nvSpPr>
        <p:spPr>
          <a:xfrm>
            <a:off x="4297680" y="1371600"/>
            <a:ext cx="3520440" cy="1965960"/>
          </a:xfrm>
          <a:prstGeom prst="roundRect">
            <a:avLst>
              <a:gd name="adj" fmla="val 5581"/>
            </a:avLst>
          </a:prstGeom>
          <a:solidFill>
            <a:schemeClr val="bg2"/>
          </a:solidFill>
          <a:ln w="12700">
            <a:solidFill>
              <a:schemeClr val="bg2"/>
            </a:solidFill>
            <a:prstDash val="solid"/>
          </a:ln>
        </p:spPr>
      </p:sp>
      <p:sp>
        <p:nvSpPr>
          <p:cNvPr id="8" name="Text 6"/>
          <p:cNvSpPr txBox="1"/>
          <p:nvPr/>
        </p:nvSpPr>
        <p:spPr>
          <a:xfrm>
            <a:off x="4572000" y="1554480"/>
            <a:ext cx="301752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 5 s</a:t>
            </a:r>
            <a:endParaRPr lang="en-US" sz="4000" dirty="0"/>
          </a:p>
        </p:txBody>
      </p:sp>
      <p:sp>
        <p:nvSpPr>
          <p:cNvPr id="9" name="Text 7"/>
          <p:cNvSpPr txBox="1"/>
          <p:nvPr/>
        </p:nvSpPr>
        <p:spPr>
          <a:xfrm>
            <a:off x="4572000" y="2331720"/>
            <a:ext cx="3017520" cy="365760"/>
          </a:xfrm>
          <a:prstGeom prst="rect">
            <a:avLst/>
          </a:prstGeom>
          <a:noFill/>
          <a:ln/>
        </p:spPr>
        <p:txBody>
          <a:bodyPr wrap="square" lIns="0" tIns="0" rIns="0" bIns="0" rtlCol="0" anchor="t"/>
          <a:lstStyle/>
          <a:p>
            <a:pPr indent="0" marL="0">
              <a:buNone/>
            </a:pPr>
            <a:r>
              <a:rPr lang="en-US" sz="1600" b="1" dirty="0">
                <a:solidFill>
                  <a:schemeClr val="tx1"/>
                </a:solidFill>
              </a:rPr>
              <a:t>Response time</a:t>
            </a:r>
            <a:endParaRPr lang="en-US" sz="1600" dirty="0"/>
          </a:p>
        </p:txBody>
      </p:sp>
      <p:sp>
        <p:nvSpPr>
          <p:cNvPr id="10" name="Text 8"/>
          <p:cNvSpPr txBox="1"/>
          <p:nvPr/>
        </p:nvSpPr>
        <p:spPr>
          <a:xfrm>
            <a:off x="4572000" y="2697480"/>
            <a:ext cx="3017520" cy="548640"/>
          </a:xfrm>
          <a:prstGeom prst="rect">
            <a:avLst/>
          </a:prstGeom>
          <a:noFill/>
          <a:ln/>
        </p:spPr>
        <p:txBody>
          <a:bodyPr wrap="square" lIns="0" tIns="0" rIns="0" bIns="0" rtlCol="0" anchor="t"/>
          <a:lstStyle/>
          <a:p>
            <a:pPr indent="0" marL="0">
              <a:buNone/>
            </a:pPr>
            <a:r>
              <a:rPr lang="en-US" sz="1300" dirty="0">
                <a:solidFill>
                  <a:srgbClr val="4A5A52"/>
                </a:solidFill>
              </a:rPr>
              <a:t>Median time from message to reply</a:t>
            </a:r>
            <a:endParaRPr lang="en-US" sz="1300" dirty="0"/>
          </a:p>
        </p:txBody>
      </p:sp>
      <p:sp>
        <p:nvSpPr>
          <p:cNvPr id="11" name="target card 3"/>
          <p:cNvSpPr/>
          <p:nvPr/>
        </p:nvSpPr>
        <p:spPr>
          <a:xfrm>
            <a:off x="8046720" y="1371600"/>
            <a:ext cx="3520440" cy="1965960"/>
          </a:xfrm>
          <a:prstGeom prst="roundRect">
            <a:avLst>
              <a:gd name="adj" fmla="val 5581"/>
            </a:avLst>
          </a:prstGeom>
          <a:solidFill>
            <a:schemeClr val="bg2"/>
          </a:solidFill>
          <a:ln w="12700">
            <a:solidFill>
              <a:schemeClr val="bg2"/>
            </a:solidFill>
            <a:prstDash val="solid"/>
          </a:ln>
        </p:spPr>
      </p:sp>
      <p:sp>
        <p:nvSpPr>
          <p:cNvPr id="12" name="Text 10"/>
          <p:cNvSpPr txBox="1"/>
          <p:nvPr/>
        </p:nvSpPr>
        <p:spPr>
          <a:xfrm>
            <a:off x="8321040" y="1554480"/>
            <a:ext cx="301752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 70</a:t>
            </a:r>
            <a:endParaRPr lang="en-US" sz="4000" dirty="0"/>
          </a:p>
        </p:txBody>
      </p:sp>
      <p:sp>
        <p:nvSpPr>
          <p:cNvPr id="13" name="Text 11"/>
          <p:cNvSpPr txBox="1"/>
          <p:nvPr/>
        </p:nvSpPr>
        <p:spPr>
          <a:xfrm>
            <a:off x="8321040" y="2331720"/>
            <a:ext cx="3017520" cy="365760"/>
          </a:xfrm>
          <a:prstGeom prst="rect">
            <a:avLst/>
          </a:prstGeom>
          <a:noFill/>
          <a:ln/>
        </p:spPr>
        <p:txBody>
          <a:bodyPr wrap="square" lIns="0" tIns="0" rIns="0" bIns="0" rtlCol="0" anchor="t"/>
          <a:lstStyle/>
          <a:p>
            <a:pPr indent="0" marL="0">
              <a:buNone/>
            </a:pPr>
            <a:r>
              <a:rPr lang="en-US" sz="1600" b="1" dirty="0">
                <a:solidFill>
                  <a:schemeClr val="tx1"/>
                </a:solidFill>
              </a:rPr>
              <a:t>Usability (SUS)</a:t>
            </a:r>
            <a:endParaRPr lang="en-US" sz="1600" dirty="0"/>
          </a:p>
        </p:txBody>
      </p:sp>
      <p:sp>
        <p:nvSpPr>
          <p:cNvPr id="14" name="Text 12"/>
          <p:cNvSpPr txBox="1"/>
          <p:nvPr/>
        </p:nvSpPr>
        <p:spPr>
          <a:xfrm>
            <a:off x="8321040" y="2697480"/>
            <a:ext cx="3017520" cy="548640"/>
          </a:xfrm>
          <a:prstGeom prst="rect">
            <a:avLst/>
          </a:prstGeom>
          <a:noFill/>
          <a:ln/>
        </p:spPr>
        <p:txBody>
          <a:bodyPr wrap="square" lIns="0" tIns="0" rIns="0" bIns="0" rtlCol="0" anchor="t"/>
          <a:lstStyle/>
          <a:p>
            <a:pPr indent="0" marL="0">
              <a:buNone/>
            </a:pPr>
            <a:r>
              <a:rPr lang="en-US" sz="1300" dirty="0">
                <a:solidFill>
                  <a:srgbClr val="4A5A52"/>
                </a:solidFill>
              </a:rPr>
              <a:t>System Usability Scale score</a:t>
            </a:r>
            <a:endParaRPr lang="en-US" sz="1300" dirty="0"/>
          </a:p>
        </p:txBody>
      </p:sp>
      <p:sp>
        <p:nvSpPr>
          <p:cNvPr id="15" name="target card 4"/>
          <p:cNvSpPr/>
          <p:nvPr/>
        </p:nvSpPr>
        <p:spPr>
          <a:xfrm>
            <a:off x="548640" y="3520440"/>
            <a:ext cx="3520440" cy="1965960"/>
          </a:xfrm>
          <a:prstGeom prst="roundRect">
            <a:avLst>
              <a:gd name="adj" fmla="val 5581"/>
            </a:avLst>
          </a:prstGeom>
          <a:solidFill>
            <a:schemeClr val="bg2"/>
          </a:solidFill>
          <a:ln w="12700">
            <a:solidFill>
              <a:schemeClr val="bg2"/>
            </a:solidFill>
            <a:prstDash val="solid"/>
          </a:ln>
        </p:spPr>
      </p:sp>
      <p:sp>
        <p:nvSpPr>
          <p:cNvPr id="16" name="Text 14"/>
          <p:cNvSpPr txBox="1"/>
          <p:nvPr/>
        </p:nvSpPr>
        <p:spPr>
          <a:xfrm>
            <a:off x="822960" y="3703320"/>
            <a:ext cx="301752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 4.0</a:t>
            </a:r>
            <a:endParaRPr lang="en-US" sz="4000" dirty="0"/>
          </a:p>
        </p:txBody>
      </p:sp>
      <p:sp>
        <p:nvSpPr>
          <p:cNvPr id="17" name="Text 15"/>
          <p:cNvSpPr txBox="1"/>
          <p:nvPr/>
        </p:nvSpPr>
        <p:spPr>
          <a:xfrm>
            <a:off x="822960" y="4480560"/>
            <a:ext cx="3017520" cy="365760"/>
          </a:xfrm>
          <a:prstGeom prst="rect">
            <a:avLst/>
          </a:prstGeom>
          <a:noFill/>
          <a:ln/>
        </p:spPr>
        <p:txBody>
          <a:bodyPr wrap="square" lIns="0" tIns="0" rIns="0" bIns="0" rtlCol="0" anchor="t"/>
          <a:lstStyle/>
          <a:p>
            <a:pPr indent="0" marL="0">
              <a:buNone/>
            </a:pPr>
            <a:r>
              <a:rPr lang="en-US" sz="1600" b="1" dirty="0">
                <a:solidFill>
                  <a:schemeClr val="tx1"/>
                </a:solidFill>
              </a:rPr>
              <a:t>Satisfaction</a:t>
            </a:r>
            <a:endParaRPr lang="en-US" sz="1600" dirty="0"/>
          </a:p>
        </p:txBody>
      </p:sp>
      <p:sp>
        <p:nvSpPr>
          <p:cNvPr id="18" name="Text 16"/>
          <p:cNvSpPr txBox="1"/>
          <p:nvPr/>
        </p:nvSpPr>
        <p:spPr>
          <a:xfrm>
            <a:off x="822960" y="4846320"/>
            <a:ext cx="3017520" cy="548640"/>
          </a:xfrm>
          <a:prstGeom prst="rect">
            <a:avLst/>
          </a:prstGeom>
          <a:noFill/>
          <a:ln/>
        </p:spPr>
        <p:txBody>
          <a:bodyPr wrap="square" lIns="0" tIns="0" rIns="0" bIns="0" rtlCol="0" anchor="t"/>
          <a:lstStyle/>
          <a:p>
            <a:pPr indent="0" marL="0">
              <a:buNone/>
            </a:pPr>
            <a:r>
              <a:rPr lang="en-US" sz="1300" dirty="0">
                <a:solidFill>
                  <a:srgbClr val="4A5A52"/>
                </a:solidFill>
              </a:rPr>
              <a:t>Relevance and satisfaction ratings, out of 5</a:t>
            </a:r>
            <a:endParaRPr lang="en-US" sz="1300" dirty="0"/>
          </a:p>
        </p:txBody>
      </p:sp>
      <p:sp>
        <p:nvSpPr>
          <p:cNvPr id="19" name="target card 5"/>
          <p:cNvSpPr/>
          <p:nvPr/>
        </p:nvSpPr>
        <p:spPr>
          <a:xfrm>
            <a:off x="4297680" y="3520440"/>
            <a:ext cx="3520440" cy="1965960"/>
          </a:xfrm>
          <a:prstGeom prst="roundRect">
            <a:avLst>
              <a:gd name="adj" fmla="val 5581"/>
            </a:avLst>
          </a:prstGeom>
          <a:solidFill>
            <a:schemeClr val="bg2"/>
          </a:solidFill>
          <a:ln w="12700">
            <a:solidFill>
              <a:schemeClr val="bg2"/>
            </a:solidFill>
            <a:prstDash val="solid"/>
          </a:ln>
        </p:spPr>
      </p:sp>
      <p:sp>
        <p:nvSpPr>
          <p:cNvPr id="20" name="Text 18"/>
          <p:cNvSpPr txBox="1"/>
          <p:nvPr/>
        </p:nvSpPr>
        <p:spPr>
          <a:xfrm>
            <a:off x="4572000" y="3703320"/>
            <a:ext cx="3017520"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100%</a:t>
            </a:r>
            <a:endParaRPr lang="en-US" sz="4000" dirty="0"/>
          </a:p>
        </p:txBody>
      </p:sp>
      <p:sp>
        <p:nvSpPr>
          <p:cNvPr id="21" name="Text 19"/>
          <p:cNvSpPr txBox="1"/>
          <p:nvPr/>
        </p:nvSpPr>
        <p:spPr>
          <a:xfrm>
            <a:off x="4572000" y="4480560"/>
            <a:ext cx="3017520" cy="365760"/>
          </a:xfrm>
          <a:prstGeom prst="rect">
            <a:avLst/>
          </a:prstGeom>
          <a:noFill/>
          <a:ln/>
        </p:spPr>
        <p:txBody>
          <a:bodyPr wrap="square" lIns="0" tIns="0" rIns="0" bIns="0" rtlCol="0" anchor="t"/>
          <a:lstStyle/>
          <a:p>
            <a:pPr indent="0" marL="0">
              <a:buNone/>
            </a:pPr>
            <a:r>
              <a:rPr lang="en-US" sz="1600" b="1" dirty="0">
                <a:solidFill>
                  <a:schemeClr val="tx1"/>
                </a:solidFill>
              </a:rPr>
              <a:t>Escalation safety</a:t>
            </a:r>
            <a:endParaRPr lang="en-US" sz="1600" dirty="0"/>
          </a:p>
        </p:txBody>
      </p:sp>
      <p:sp>
        <p:nvSpPr>
          <p:cNvPr id="22" name="Text 20"/>
          <p:cNvSpPr txBox="1"/>
          <p:nvPr/>
        </p:nvSpPr>
        <p:spPr>
          <a:xfrm>
            <a:off x="4572000" y="4846320"/>
            <a:ext cx="3017520" cy="548640"/>
          </a:xfrm>
          <a:prstGeom prst="rect">
            <a:avLst/>
          </a:prstGeom>
          <a:noFill/>
          <a:ln/>
        </p:spPr>
        <p:txBody>
          <a:bodyPr wrap="square" lIns="0" tIns="0" rIns="0" bIns="0" rtlCol="0" anchor="t"/>
          <a:lstStyle/>
          <a:p>
            <a:pPr indent="0" marL="0">
              <a:buNone/>
            </a:pPr>
            <a:r>
              <a:rPr lang="en-US" sz="1300" dirty="0">
                <a:solidFill>
                  <a:srgbClr val="4A5A52"/>
                </a:solidFill>
              </a:rPr>
              <a:t>Critical cases never answered by the bot</a:t>
            </a:r>
            <a:endParaRPr lang="en-US" sz="1300" dirty="0"/>
          </a:p>
        </p:txBody>
      </p:sp>
      <p:sp>
        <p:nvSpPr>
          <p:cNvPr id="23" name="target card 6"/>
          <p:cNvSpPr/>
          <p:nvPr/>
        </p:nvSpPr>
        <p:spPr>
          <a:xfrm>
            <a:off x="8046720" y="3520440"/>
            <a:ext cx="3520440" cy="1965960"/>
          </a:xfrm>
          <a:prstGeom prst="roundRect">
            <a:avLst>
              <a:gd name="adj" fmla="val 5581"/>
            </a:avLst>
          </a:prstGeom>
          <a:solidFill>
            <a:schemeClr val="bg2"/>
          </a:solidFill>
          <a:ln w="12700">
            <a:solidFill>
              <a:schemeClr val="bg2"/>
            </a:solidFill>
            <a:prstDash val="solid"/>
          </a:ln>
        </p:spPr>
      </p:sp>
      <p:sp>
        <p:nvSpPr>
          <p:cNvPr id="24" name="Text 22"/>
          <p:cNvSpPr txBox="1"/>
          <p:nvPr/>
        </p:nvSpPr>
        <p:spPr>
          <a:xfrm>
            <a:off x="8321040" y="3703320"/>
            <a:ext cx="301752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 10 pts</a:t>
            </a:r>
            <a:endParaRPr lang="en-US" sz="4000" dirty="0"/>
          </a:p>
        </p:txBody>
      </p:sp>
      <p:sp>
        <p:nvSpPr>
          <p:cNvPr id="25" name="Text 23"/>
          <p:cNvSpPr txBox="1"/>
          <p:nvPr/>
        </p:nvSpPr>
        <p:spPr>
          <a:xfrm>
            <a:off x="8321040" y="4480560"/>
            <a:ext cx="3017520" cy="365760"/>
          </a:xfrm>
          <a:prstGeom prst="rect">
            <a:avLst/>
          </a:prstGeom>
          <a:noFill/>
          <a:ln/>
        </p:spPr>
        <p:txBody>
          <a:bodyPr wrap="square" lIns="0" tIns="0" rIns="0" bIns="0" rtlCol="0" anchor="t"/>
          <a:lstStyle/>
          <a:p>
            <a:pPr indent="0" marL="0">
              <a:buNone/>
            </a:pPr>
            <a:r>
              <a:rPr lang="en-US" sz="1600" b="1" dirty="0">
                <a:solidFill>
                  <a:schemeClr val="tx1"/>
                </a:solidFill>
              </a:rPr>
              <a:t>Language parity</a:t>
            </a:r>
            <a:endParaRPr lang="en-US" sz="1600" dirty="0"/>
          </a:p>
        </p:txBody>
      </p:sp>
      <p:sp>
        <p:nvSpPr>
          <p:cNvPr id="26" name="Text 24"/>
          <p:cNvSpPr txBox="1"/>
          <p:nvPr/>
        </p:nvSpPr>
        <p:spPr>
          <a:xfrm>
            <a:off x="8321040" y="4846320"/>
            <a:ext cx="3017520" cy="548640"/>
          </a:xfrm>
          <a:prstGeom prst="rect">
            <a:avLst/>
          </a:prstGeom>
          <a:noFill/>
          <a:ln/>
        </p:spPr>
        <p:txBody>
          <a:bodyPr wrap="square" lIns="0" tIns="0" rIns="0" bIns="0" rtlCol="0" anchor="t"/>
          <a:lstStyle/>
          <a:p>
            <a:pPr indent="0" marL="0">
              <a:buNone/>
            </a:pPr>
            <a:r>
              <a:rPr lang="en-US" sz="1300" dirty="0">
                <a:solidFill>
                  <a:srgbClr val="4A5A52"/>
                </a:solidFill>
              </a:rPr>
              <a:t>Accuracy gap across English, Filipino, Taglish</a:t>
            </a:r>
            <a:endParaRPr lang="en-US" sz="1300" dirty="0"/>
          </a:p>
        </p:txBody>
      </p:sp>
      <p:sp>
        <p:nvSpPr>
          <p:cNvPr id="27" name="Text 25"/>
          <p:cNvSpPr txBox="1"/>
          <p:nvPr/>
        </p:nvSpPr>
        <p:spPr>
          <a:xfrm>
            <a:off x="548640" y="5715000"/>
            <a:ext cx="11064240" cy="502920"/>
          </a:xfrm>
          <a:prstGeom prst="rect">
            <a:avLst/>
          </a:prstGeom>
          <a:noFill/>
          <a:ln/>
        </p:spPr>
        <p:txBody>
          <a:bodyPr wrap="square" lIns="0" tIns="0" rIns="0" bIns="0" rtlCol="0" anchor="t"/>
          <a:lstStyle/>
          <a:p>
            <a:pPr indent="0" marL="0">
              <a:buNone/>
            </a:pPr>
            <a:r>
              <a:rPr lang="en-US" sz="1300" i="1" dirty="0">
                <a:solidFill>
                  <a:srgbClr val="4A5A52"/>
                </a:solidFill>
              </a:rPr>
              <a:t>Test set: 120 inquiries (40 English, 40 Filipino, 40 Taglish), expected answers fixed before testing. No results are claimed until the prototype is tested.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Data collection plan</a:t>
            </a:r>
            <a:endParaRPr lang="en-US" sz="3200" dirty="0"/>
          </a:p>
        </p:txBody>
      </p:sp>
      <p:sp>
        <p:nvSpPr>
          <p:cNvPr id="3" name="survey card 1"/>
          <p:cNvSpPr/>
          <p:nvPr/>
        </p:nvSpPr>
        <p:spPr>
          <a:xfrm>
            <a:off x="548640" y="1371600"/>
            <a:ext cx="5440680" cy="2514600"/>
          </a:xfrm>
          <a:prstGeom prst="roundRect">
            <a:avLst>
              <a:gd name="adj" fmla="val 4364"/>
            </a:avLst>
          </a:prstGeom>
          <a:solidFill>
            <a:schemeClr val="bg2"/>
          </a:solidFill>
          <a:ln w="12700">
            <a:solidFill>
              <a:schemeClr val="bg2"/>
            </a:solidFill>
            <a:prstDash val="solid"/>
          </a:ln>
        </p:spPr>
      </p:sp>
      <p:sp>
        <p:nvSpPr>
          <p:cNvPr id="4" name="survey icon 1 circle"/>
          <p:cNvSpPr/>
          <p:nvPr/>
        </p:nvSpPr>
        <p:spPr>
          <a:xfrm>
            <a:off x="822960" y="1600200"/>
            <a:ext cx="640080" cy="640080"/>
          </a:xfrm>
          <a:prstGeom prst="ellipse">
            <a:avLst/>
          </a:prstGeom>
          <a:solidFill>
            <a:schemeClr val="accent1"/>
          </a:solidFill>
          <a:ln w="12700">
            <a:solidFill>
              <a:schemeClr val="accent1"/>
            </a:solidFill>
            <a:prstDash val="solid"/>
          </a:ln>
        </p:spPr>
      </p:sp>
      <p:pic>
        <p:nvPicPr>
          <p:cNvPr id="5" name="survey icon 1"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1645920" y="1645920"/>
            <a:ext cx="4114800" cy="548640"/>
          </a:xfrm>
          <a:prstGeom prst="rect">
            <a:avLst/>
          </a:prstGeom>
          <a:noFill/>
          <a:ln/>
        </p:spPr>
        <p:txBody>
          <a:bodyPr wrap="square" lIns="0" tIns="0" rIns="0" bIns="0" rtlCol="0" anchor="ctr"/>
          <a:lstStyle/>
          <a:p>
            <a:pPr indent="0" marL="0">
              <a:buNone/>
            </a:pPr>
            <a:r>
              <a:rPr lang="en-US" sz="1800" b="1" dirty="0">
                <a:solidFill>
                  <a:schemeClr val="accent1"/>
                </a:solidFill>
              </a:rPr>
              <a:t>Survey A: Seller needs</a:t>
            </a:r>
            <a:endParaRPr lang="en-US" sz="1800" dirty="0"/>
          </a:p>
        </p:txBody>
      </p:sp>
      <p:sp>
        <p:nvSpPr>
          <p:cNvPr id="7" name="Text 4"/>
          <p:cNvSpPr txBox="1"/>
          <p:nvPr/>
        </p:nvSpPr>
        <p:spPr>
          <a:xfrm>
            <a:off x="822960" y="2377440"/>
            <a:ext cx="4937760" cy="914400"/>
          </a:xfrm>
          <a:prstGeom prst="rect">
            <a:avLst/>
          </a:prstGeom>
          <a:noFill/>
          <a:ln/>
        </p:spPr>
        <p:txBody>
          <a:bodyPr wrap="square" lIns="0" tIns="0" rIns="0" bIns="0" rtlCol="0" anchor="t"/>
          <a:lstStyle/>
          <a:p>
            <a:pPr indent="0" marL="0">
              <a:buNone/>
            </a:pPr>
            <a:r>
              <a:rPr lang="en-US" sz="1400" dirty="0">
                <a:solidFill>
                  <a:schemeClr val="tx1"/>
                </a:solidFill>
              </a:rPr>
              <a:t>Before building. Screening question, 28 items: profile, current practices, views on AI, willingness to pay, open questions.</a:t>
            </a:r>
            <a:endParaRPr lang="en-US" sz="1400" dirty="0"/>
          </a:p>
        </p:txBody>
      </p:sp>
      <p:sp>
        <p:nvSpPr>
          <p:cNvPr id="8" name="Text 5"/>
          <p:cNvSpPr txBox="1"/>
          <p:nvPr/>
        </p:nvSpPr>
        <p:spPr>
          <a:xfrm>
            <a:off x="822960" y="3337560"/>
            <a:ext cx="4937760" cy="365760"/>
          </a:xfrm>
          <a:prstGeom prst="rect">
            <a:avLst/>
          </a:prstGeom>
          <a:noFill/>
          <a:ln/>
        </p:spPr>
        <p:txBody>
          <a:bodyPr wrap="square" lIns="0" tIns="0" rIns="0" bIns="0" rtlCol="0" anchor="t"/>
          <a:lstStyle/>
          <a:p>
            <a:pPr indent="0" marL="0">
              <a:buNone/>
            </a:pPr>
            <a:r>
              <a:rPr lang="en-US" sz="1400" b="1" dirty="0">
                <a:solidFill>
                  <a:schemeClr val="accent2"/>
                </a:solidFill>
              </a:rPr>
              <a:t>Target: 30+ sellers; 8–12 interviews</a:t>
            </a:r>
            <a:endParaRPr lang="en-US" sz="1400" dirty="0"/>
          </a:p>
        </p:txBody>
      </p:sp>
      <p:sp>
        <p:nvSpPr>
          <p:cNvPr id="9" name="survey card 2"/>
          <p:cNvSpPr/>
          <p:nvPr/>
        </p:nvSpPr>
        <p:spPr>
          <a:xfrm>
            <a:off x="6172200" y="1371600"/>
            <a:ext cx="5440680" cy="2514600"/>
          </a:xfrm>
          <a:prstGeom prst="roundRect">
            <a:avLst>
              <a:gd name="adj" fmla="val 4364"/>
            </a:avLst>
          </a:prstGeom>
          <a:solidFill>
            <a:schemeClr val="bg2"/>
          </a:solidFill>
          <a:ln w="12700">
            <a:solidFill>
              <a:schemeClr val="bg2"/>
            </a:solidFill>
            <a:prstDash val="solid"/>
          </a:ln>
        </p:spPr>
      </p:sp>
      <p:sp>
        <p:nvSpPr>
          <p:cNvPr id="10" name="survey icon 2 circle"/>
          <p:cNvSpPr/>
          <p:nvPr/>
        </p:nvSpPr>
        <p:spPr>
          <a:xfrm>
            <a:off x="6446520" y="1600200"/>
            <a:ext cx="640080" cy="640080"/>
          </a:xfrm>
          <a:prstGeom prst="ellipse">
            <a:avLst/>
          </a:prstGeom>
          <a:solidFill>
            <a:schemeClr val="accent1"/>
          </a:solidFill>
          <a:ln w="12700">
            <a:solidFill>
              <a:schemeClr val="accent1"/>
            </a:solidFill>
            <a:prstDash val="solid"/>
          </a:ln>
        </p:spPr>
      </p:sp>
      <p:pic>
        <p:nvPicPr>
          <p:cNvPr id="11" name="survey icon 2" descr="preencoded.png">    </p:cNvPr>
          <p:cNvPicPr>
            <a:picLocks noChangeAspect="1"/>
          </p:cNvPicPr>
          <p:nvPr/>
        </p:nvPicPr>
        <p:blipFill>
          <a:blip r:embed="rId2"/>
          <a:stretch>
            <a:fillRect/>
          </a:stretch>
        </p:blipFill>
        <p:spPr>
          <a:xfrm>
            <a:off x="6600139" y="1753819"/>
            <a:ext cx="332842" cy="332842"/>
          </a:xfrm>
          <a:prstGeom prst="rect">
            <a:avLst/>
          </a:prstGeom>
        </p:spPr>
      </p:pic>
      <p:sp>
        <p:nvSpPr>
          <p:cNvPr id="12" name="Text 8"/>
          <p:cNvSpPr txBox="1"/>
          <p:nvPr/>
        </p:nvSpPr>
        <p:spPr>
          <a:xfrm>
            <a:off x="7269480" y="1645920"/>
            <a:ext cx="4114800" cy="548640"/>
          </a:xfrm>
          <a:prstGeom prst="rect">
            <a:avLst/>
          </a:prstGeom>
          <a:noFill/>
          <a:ln/>
        </p:spPr>
        <p:txBody>
          <a:bodyPr wrap="square" lIns="0" tIns="0" rIns="0" bIns="0" rtlCol="0" anchor="ctr"/>
          <a:lstStyle/>
          <a:p>
            <a:pPr indent="0" marL="0">
              <a:buNone/>
            </a:pPr>
            <a:r>
              <a:rPr lang="en-US" sz="1800" b="1" dirty="0">
                <a:solidFill>
                  <a:schemeClr val="accent1"/>
                </a:solidFill>
              </a:rPr>
              <a:t>Survey B: Prototype evaluation</a:t>
            </a:r>
            <a:endParaRPr lang="en-US" sz="1800" dirty="0"/>
          </a:p>
        </p:txBody>
      </p:sp>
      <p:sp>
        <p:nvSpPr>
          <p:cNvPr id="13" name="Text 9"/>
          <p:cNvSpPr txBox="1"/>
          <p:nvPr/>
        </p:nvSpPr>
        <p:spPr>
          <a:xfrm>
            <a:off x="6446520" y="2377440"/>
            <a:ext cx="4937760" cy="914400"/>
          </a:xfrm>
          <a:prstGeom prst="rect">
            <a:avLst/>
          </a:prstGeom>
          <a:noFill/>
          <a:ln/>
        </p:spPr>
        <p:txBody>
          <a:bodyPr wrap="square" lIns="0" tIns="0" rIns="0" bIns="0" rtlCol="0" anchor="t"/>
          <a:lstStyle/>
          <a:p>
            <a:pPr indent="0" marL="0">
              <a:buNone/>
            </a:pPr>
            <a:r>
              <a:rPr lang="en-US" sz="1400" dirty="0">
                <a:solidFill>
                  <a:schemeClr val="tx1"/>
                </a:solidFill>
              </a:rPr>
              <a:t>After testing. Accuracy, response time, SUS usability, trust and escalation, dashboard, satisfaction.</a:t>
            </a:r>
            <a:endParaRPr lang="en-US" sz="1400" dirty="0"/>
          </a:p>
        </p:txBody>
      </p:sp>
      <p:sp>
        <p:nvSpPr>
          <p:cNvPr id="14" name="Text 10"/>
          <p:cNvSpPr txBox="1"/>
          <p:nvPr/>
        </p:nvSpPr>
        <p:spPr>
          <a:xfrm>
            <a:off x="6446520" y="3337560"/>
            <a:ext cx="4937760" cy="365760"/>
          </a:xfrm>
          <a:prstGeom prst="rect">
            <a:avLst/>
          </a:prstGeom>
          <a:noFill/>
          <a:ln/>
        </p:spPr>
        <p:txBody>
          <a:bodyPr wrap="square" lIns="0" tIns="0" rIns="0" bIns="0" rtlCol="0" anchor="t"/>
          <a:lstStyle/>
          <a:p>
            <a:pPr indent="0" marL="0">
              <a:buNone/>
            </a:pPr>
            <a:r>
              <a:rPr lang="en-US" sz="1400" b="1" dirty="0">
                <a:solidFill>
                  <a:schemeClr val="accent2"/>
                </a:solidFill>
              </a:rPr>
              <a:t>Target: 15–20 pilot users</a:t>
            </a:r>
            <a:endParaRPr lang="en-US" sz="1400" dirty="0"/>
          </a:p>
        </p:txBody>
      </p:sp>
      <p:sp>
        <p:nvSpPr>
          <p:cNvPr id="15" name="Text 11"/>
          <p:cNvSpPr txBox="1"/>
          <p:nvPr/>
        </p:nvSpPr>
        <p:spPr>
          <a:xfrm>
            <a:off x="548640" y="4160520"/>
            <a:ext cx="10972800" cy="411480"/>
          </a:xfrm>
          <a:prstGeom prst="rect">
            <a:avLst/>
          </a:prstGeom>
          <a:noFill/>
          <a:ln/>
        </p:spPr>
        <p:txBody>
          <a:bodyPr wrap="square" lIns="0" tIns="0" rIns="0" bIns="0" rtlCol="0" anchor="t"/>
          <a:lstStyle/>
          <a:p>
            <a:pPr indent="0" marL="0">
              <a:buNone/>
            </a:pPr>
            <a:r>
              <a:rPr lang="en-US" sz="1700" b="1" dirty="0">
                <a:solidFill>
                  <a:schemeClr val="accent1"/>
                </a:solidFill>
              </a:rPr>
              <a:t>Recruitment channels (purposive and referral sampling)</a:t>
            </a:r>
            <a:endParaRPr lang="en-US" sz="1700" dirty="0"/>
          </a:p>
        </p:txBody>
      </p:sp>
      <p:sp>
        <p:nvSpPr>
          <p:cNvPr id="16" name="channel chip 1"/>
          <p:cNvSpPr/>
          <p:nvPr/>
        </p:nvSpPr>
        <p:spPr>
          <a:xfrm>
            <a:off x="548640" y="4663440"/>
            <a:ext cx="3657600" cy="457200"/>
          </a:xfrm>
          <a:prstGeom prst="roundRect">
            <a:avLst>
              <a:gd name="adj" fmla="val 50000"/>
            </a:avLst>
          </a:prstGeom>
          <a:solidFill>
            <a:schemeClr val="bg2"/>
          </a:solidFill>
          <a:ln w="12700">
            <a:solidFill>
              <a:schemeClr val="accent3"/>
            </a:solidFill>
            <a:prstDash val="solid"/>
          </a:ln>
        </p:spPr>
      </p:sp>
      <p:sp>
        <p:nvSpPr>
          <p:cNvPr id="17" name="Text 13"/>
          <p:cNvSpPr txBox="1"/>
          <p:nvPr/>
        </p:nvSpPr>
        <p:spPr>
          <a:xfrm>
            <a:off x="548640" y="4663440"/>
            <a:ext cx="3657600" cy="457200"/>
          </a:xfrm>
          <a:prstGeom prst="rect">
            <a:avLst/>
          </a:prstGeom>
          <a:noFill/>
          <a:ln/>
        </p:spPr>
        <p:txBody>
          <a:bodyPr wrap="square" lIns="0" tIns="0" rIns="0" bIns="0" rtlCol="0" anchor="ctr"/>
          <a:lstStyle/>
          <a:p>
            <a:pPr algn="ctr" indent="0" marL="0">
              <a:buNone/>
            </a:pPr>
            <a:r>
              <a:rPr lang="en-US" sz="1300" dirty="0">
                <a:solidFill>
                  <a:schemeClr val="tx1"/>
                </a:solidFill>
              </a:rPr>
              <a:t>DTI Baguio-Benguet / Negosyo Centers</a:t>
            </a:r>
            <a:endParaRPr lang="en-US" sz="1300" dirty="0"/>
          </a:p>
        </p:txBody>
      </p:sp>
      <p:sp>
        <p:nvSpPr>
          <p:cNvPr id="18" name="channel chip 2"/>
          <p:cNvSpPr/>
          <p:nvPr/>
        </p:nvSpPr>
        <p:spPr>
          <a:xfrm>
            <a:off x="4370832" y="4663440"/>
            <a:ext cx="2286000" cy="457200"/>
          </a:xfrm>
          <a:prstGeom prst="roundRect">
            <a:avLst>
              <a:gd name="adj" fmla="val 50000"/>
            </a:avLst>
          </a:prstGeom>
          <a:solidFill>
            <a:schemeClr val="bg2"/>
          </a:solidFill>
          <a:ln w="12700">
            <a:solidFill>
              <a:schemeClr val="accent3"/>
            </a:solidFill>
            <a:prstDash val="solid"/>
          </a:ln>
        </p:spPr>
      </p:sp>
      <p:sp>
        <p:nvSpPr>
          <p:cNvPr id="19" name="Text 15"/>
          <p:cNvSpPr txBox="1"/>
          <p:nvPr/>
        </p:nvSpPr>
        <p:spPr>
          <a:xfrm>
            <a:off x="4370832" y="4663440"/>
            <a:ext cx="2286000" cy="457200"/>
          </a:xfrm>
          <a:prstGeom prst="rect">
            <a:avLst/>
          </a:prstGeom>
          <a:noFill/>
          <a:ln/>
        </p:spPr>
        <p:txBody>
          <a:bodyPr wrap="square" lIns="0" tIns="0" rIns="0" bIns="0" rtlCol="0" anchor="ctr"/>
          <a:lstStyle/>
          <a:p>
            <a:pPr algn="ctr" indent="0" marL="0">
              <a:buNone/>
            </a:pPr>
            <a:r>
              <a:rPr lang="en-US" sz="1300" dirty="0">
                <a:solidFill>
                  <a:schemeClr val="tx1"/>
                </a:solidFill>
              </a:rPr>
              <a:t>DICT-CAR SPARK cohort</a:t>
            </a:r>
            <a:endParaRPr lang="en-US" sz="1300" dirty="0"/>
          </a:p>
        </p:txBody>
      </p:sp>
      <p:sp>
        <p:nvSpPr>
          <p:cNvPr id="20" name="channel chip 3"/>
          <p:cNvSpPr/>
          <p:nvPr/>
        </p:nvSpPr>
        <p:spPr>
          <a:xfrm>
            <a:off x="6821424" y="4663440"/>
            <a:ext cx="2834640" cy="457200"/>
          </a:xfrm>
          <a:prstGeom prst="roundRect">
            <a:avLst>
              <a:gd name="adj" fmla="val 50000"/>
            </a:avLst>
          </a:prstGeom>
          <a:solidFill>
            <a:schemeClr val="bg2"/>
          </a:solidFill>
          <a:ln w="12700">
            <a:solidFill>
              <a:schemeClr val="accent3"/>
            </a:solidFill>
            <a:prstDash val="solid"/>
          </a:ln>
        </p:spPr>
      </p:sp>
      <p:sp>
        <p:nvSpPr>
          <p:cNvPr id="21" name="Text 17"/>
          <p:cNvSpPr txBox="1"/>
          <p:nvPr/>
        </p:nvSpPr>
        <p:spPr>
          <a:xfrm>
            <a:off x="6821424" y="4663440"/>
            <a:ext cx="2834640" cy="457200"/>
          </a:xfrm>
          <a:prstGeom prst="rect">
            <a:avLst/>
          </a:prstGeom>
          <a:noFill/>
          <a:ln/>
        </p:spPr>
        <p:txBody>
          <a:bodyPr wrap="square" lIns="0" tIns="0" rIns="0" bIns="0" rtlCol="0" anchor="ctr"/>
          <a:lstStyle/>
          <a:p>
            <a:pPr algn="ctr" indent="0" marL="0">
              <a:buNone/>
            </a:pPr>
            <a:r>
              <a:rPr lang="en-US" sz="1300" dirty="0">
                <a:solidFill>
                  <a:schemeClr val="tx1"/>
                </a:solidFill>
              </a:rPr>
              <a:t>Baguio City business office</a:t>
            </a:r>
            <a:endParaRPr lang="en-US" sz="1300" dirty="0"/>
          </a:p>
        </p:txBody>
      </p:sp>
      <p:sp>
        <p:nvSpPr>
          <p:cNvPr id="22" name="channel chip 4"/>
          <p:cNvSpPr/>
          <p:nvPr/>
        </p:nvSpPr>
        <p:spPr>
          <a:xfrm>
            <a:off x="548640" y="5230368"/>
            <a:ext cx="2926080" cy="457200"/>
          </a:xfrm>
          <a:prstGeom prst="roundRect">
            <a:avLst>
              <a:gd name="adj" fmla="val 50000"/>
            </a:avLst>
          </a:prstGeom>
          <a:solidFill>
            <a:schemeClr val="bg2"/>
          </a:solidFill>
          <a:ln w="12700">
            <a:solidFill>
              <a:schemeClr val="accent3"/>
            </a:solidFill>
            <a:prstDash val="solid"/>
          </a:ln>
        </p:spPr>
      </p:sp>
      <p:sp>
        <p:nvSpPr>
          <p:cNvPr id="23" name="Text 19"/>
          <p:cNvSpPr txBox="1"/>
          <p:nvPr/>
        </p:nvSpPr>
        <p:spPr>
          <a:xfrm>
            <a:off x="548640" y="5230368"/>
            <a:ext cx="2926080" cy="457200"/>
          </a:xfrm>
          <a:prstGeom prst="rect">
            <a:avLst/>
          </a:prstGeom>
          <a:noFill/>
          <a:ln/>
        </p:spPr>
        <p:txBody>
          <a:bodyPr wrap="square" lIns="0" tIns="0" rIns="0" bIns="0" rtlCol="0" anchor="ctr"/>
          <a:lstStyle/>
          <a:p>
            <a:pPr algn="ctr" indent="0" marL="0">
              <a:buNone/>
            </a:pPr>
            <a:r>
              <a:rPr lang="en-US" sz="1300" dirty="0">
                <a:solidFill>
                  <a:schemeClr val="tx1"/>
                </a:solidFill>
              </a:rPr>
              <a:t>Local Facebook seller groups</a:t>
            </a:r>
            <a:endParaRPr lang="en-US" sz="1300" dirty="0"/>
          </a:p>
        </p:txBody>
      </p:sp>
      <p:sp>
        <p:nvSpPr>
          <p:cNvPr id="24" name="channel chip 5"/>
          <p:cNvSpPr/>
          <p:nvPr/>
        </p:nvSpPr>
        <p:spPr>
          <a:xfrm>
            <a:off x="3639312" y="5230368"/>
            <a:ext cx="2468880" cy="457200"/>
          </a:xfrm>
          <a:prstGeom prst="roundRect">
            <a:avLst>
              <a:gd name="adj" fmla="val 50000"/>
            </a:avLst>
          </a:prstGeom>
          <a:solidFill>
            <a:schemeClr val="bg2"/>
          </a:solidFill>
          <a:ln w="12700">
            <a:solidFill>
              <a:schemeClr val="accent3"/>
            </a:solidFill>
            <a:prstDash val="solid"/>
          </a:ln>
        </p:spPr>
      </p:sp>
      <p:sp>
        <p:nvSpPr>
          <p:cNvPr id="25" name="Text 21"/>
          <p:cNvSpPr txBox="1"/>
          <p:nvPr/>
        </p:nvSpPr>
        <p:spPr>
          <a:xfrm>
            <a:off x="3639312" y="5230368"/>
            <a:ext cx="2468880" cy="457200"/>
          </a:xfrm>
          <a:prstGeom prst="rect">
            <a:avLst/>
          </a:prstGeom>
          <a:noFill/>
          <a:ln/>
        </p:spPr>
        <p:txBody>
          <a:bodyPr wrap="square" lIns="0" tIns="0" rIns="0" bIns="0" rtlCol="0" anchor="ctr"/>
          <a:lstStyle/>
          <a:p>
            <a:pPr algn="ctr" indent="0" marL="0">
              <a:buNone/>
            </a:pPr>
            <a:r>
              <a:rPr lang="en-US" sz="1300" dirty="0">
                <a:solidFill>
                  <a:schemeClr val="tx1"/>
                </a:solidFill>
              </a:rPr>
              <a:t>Bazaars and trade fairs</a:t>
            </a:r>
            <a:endParaRPr lang="en-US" sz="1300" dirty="0"/>
          </a:p>
        </p:txBody>
      </p:sp>
      <p:sp>
        <p:nvSpPr>
          <p:cNvPr id="26" name="Text 22"/>
          <p:cNvSpPr txBox="1"/>
          <p:nvPr/>
        </p:nvSpPr>
        <p:spPr>
          <a:xfrm>
            <a:off x="548640" y="5806440"/>
            <a:ext cx="11064240" cy="502920"/>
          </a:xfrm>
          <a:prstGeom prst="rect">
            <a:avLst/>
          </a:prstGeom>
          <a:noFill/>
          <a:ln/>
        </p:spPr>
        <p:txBody>
          <a:bodyPr wrap="square" lIns="0" tIns="0" rIns="0" bIns="0" rtlCol="0" anchor="t"/>
          <a:lstStyle/>
          <a:p>
            <a:pPr indent="0" marL="0">
              <a:buNone/>
            </a:pPr>
            <a:r>
              <a:rPr lang="en-US" sz="1400" i="1" dirty="0">
                <a:solidFill>
                  <a:srgbClr val="4A5A52"/>
                </a:solidFill>
              </a:rPr>
              <a:t>Next step: adviser approval of the instruments and request letter, then send letters and open the survey. Data handled under RA 10173.</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Conclusion and recommendations</a:t>
            </a:r>
            <a:endParaRPr lang="en-US" sz="3200" dirty="0"/>
          </a:p>
        </p:txBody>
      </p:sp>
      <p:sp>
        <p:nvSpPr>
          <p:cNvPr id="3" name="conclusion card"/>
          <p:cNvSpPr/>
          <p:nvPr/>
        </p:nvSpPr>
        <p:spPr>
          <a:xfrm>
            <a:off x="548640" y="1371600"/>
            <a:ext cx="5120640" cy="4572000"/>
          </a:xfrm>
          <a:prstGeom prst="roundRect">
            <a:avLst>
              <a:gd name="adj" fmla="val 2400"/>
            </a:avLst>
          </a:prstGeom>
          <a:solidFill>
            <a:schemeClr val="accent1"/>
          </a:solidFill>
          <a:ln w="12700">
            <a:solidFill>
              <a:schemeClr val="accent1"/>
            </a:solidFill>
            <a:prstDash val="solid"/>
          </a:ln>
        </p:spPr>
      </p:sp>
      <p:sp>
        <p:nvSpPr>
          <p:cNvPr id="4" name="Text 2"/>
          <p:cNvSpPr txBox="1"/>
          <p:nvPr/>
        </p:nvSpPr>
        <p:spPr>
          <a:xfrm>
            <a:off x="868680" y="1600200"/>
            <a:ext cx="4572000" cy="457200"/>
          </a:xfrm>
          <a:prstGeom prst="rect">
            <a:avLst/>
          </a:prstGeom>
          <a:noFill/>
          <a:ln/>
        </p:spPr>
        <p:txBody>
          <a:bodyPr wrap="square" lIns="0" tIns="0" rIns="0" bIns="0" rtlCol="0" anchor="t"/>
          <a:lstStyle/>
          <a:p>
            <a:pPr indent="0" marL="0">
              <a:buNone/>
            </a:pPr>
            <a:r>
              <a:rPr lang="en-US" sz="2000" b="1" dirty="0">
                <a:solidFill>
                  <a:schemeClr val="bg1"/>
                </a:solidFill>
              </a:rPr>
              <a:t>Conclusion</a:t>
            </a:r>
            <a:endParaRPr lang="en-US" sz="2000" dirty="0"/>
          </a:p>
        </p:txBody>
      </p:sp>
      <p:sp>
        <p:nvSpPr>
          <p:cNvPr id="5" name="Text 3"/>
          <p:cNvSpPr txBox="1"/>
          <p:nvPr/>
        </p:nvSpPr>
        <p:spPr>
          <a:xfrm>
            <a:off x="868680" y="2148840"/>
            <a:ext cx="457200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Small sellers in Baguio and Benguet are moving online, and answering customers is becoming a daily burden.</a:t>
            </a:r>
            <a:endParaRPr lang="en-US" sz="1500" dirty="0"/>
          </a:p>
          <a:p>
            <a:pPr marL="342900" indent="-342900">
              <a:spcAft>
                <a:spcPts val="1000"/>
              </a:spcAft>
              <a:buSzPct val="100000"/>
              <a:buChar char="•"/>
            </a:pPr>
            <a:r>
              <a:rPr lang="en-US" sz="1500" dirty="0">
                <a:solidFill>
                  <a:schemeClr val="bg1"/>
                </a:solidFill>
              </a:rPr>
              <a:t>The design answers only from the owner's records, works in Taglish, and hands off to staff.</a:t>
            </a:r>
            <a:endParaRPr lang="en-US" sz="1500" dirty="0"/>
          </a:p>
          <a:p>
            <a:pPr marL="342900" indent="-342900">
              <a:spcAft>
                <a:spcPts val="1000"/>
              </a:spcAft>
              <a:buSzPct val="100000"/>
              <a:buChar char="•"/>
            </a:pPr>
            <a:r>
              <a:rPr lang="en-US" sz="1500" dirty="0">
                <a:solidFill>
                  <a:schemeClr val="bg1"/>
                </a:solidFill>
              </a:rPr>
              <a:t>Of four options, it was the only one that gave owners control over the facts while still cutting their workload.</a:t>
            </a:r>
            <a:endParaRPr lang="en-US" sz="1500" dirty="0"/>
          </a:p>
        </p:txBody>
      </p:sp>
      <p:sp>
        <p:nvSpPr>
          <p:cNvPr id="6" name="Text 4"/>
          <p:cNvSpPr txBox="1"/>
          <p:nvPr/>
        </p:nvSpPr>
        <p:spPr>
          <a:xfrm>
            <a:off x="6035040" y="1371600"/>
            <a:ext cx="5486400" cy="457200"/>
          </a:xfrm>
          <a:prstGeom prst="rect">
            <a:avLst/>
          </a:prstGeom>
          <a:noFill/>
          <a:ln/>
        </p:spPr>
        <p:txBody>
          <a:bodyPr wrap="square" lIns="0" tIns="0" rIns="0" bIns="0" rtlCol="0" anchor="t"/>
          <a:lstStyle/>
          <a:p>
            <a:pPr indent="0" marL="0">
              <a:buNone/>
            </a:pPr>
            <a:r>
              <a:rPr lang="en-US" sz="2000" b="1" dirty="0">
                <a:solidFill>
                  <a:schemeClr val="accent1"/>
                </a:solidFill>
              </a:rPr>
              <a:t>Recommendations</a:t>
            </a:r>
            <a:endParaRPr lang="en-US" sz="2000" dirty="0"/>
          </a:p>
        </p:txBody>
      </p:sp>
      <p:sp>
        <p:nvSpPr>
          <p:cNvPr id="7" name="recommendation number 1"/>
          <p:cNvSpPr/>
          <p:nvPr/>
        </p:nvSpPr>
        <p:spPr>
          <a:xfrm>
            <a:off x="6035040" y="1965960"/>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6035040" y="19659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7"/>
          <p:cNvSpPr txBox="1"/>
          <p:nvPr/>
        </p:nvSpPr>
        <p:spPr>
          <a:xfrm>
            <a:off x="6720840" y="1920240"/>
            <a:ext cx="4892040" cy="640080"/>
          </a:xfrm>
          <a:prstGeom prst="rect">
            <a:avLst/>
          </a:prstGeom>
          <a:noFill/>
          <a:ln/>
        </p:spPr>
        <p:txBody>
          <a:bodyPr wrap="square" lIns="0" tIns="0" rIns="0" bIns="0" rtlCol="0" anchor="ctr"/>
          <a:lstStyle/>
          <a:p>
            <a:pPr indent="0" marL="0">
              <a:buNone/>
            </a:pPr>
            <a:r>
              <a:rPr lang="en-US" sz="1500" dirty="0">
                <a:solidFill>
                  <a:schemeClr val="tx1"/>
                </a:solidFill>
              </a:rPr>
              <a:t>Build and test the prototype; report results only after testing</a:t>
            </a:r>
            <a:endParaRPr lang="en-US" sz="1500" dirty="0"/>
          </a:p>
        </p:txBody>
      </p:sp>
      <p:sp>
        <p:nvSpPr>
          <p:cNvPr id="10" name="recommendation number 2"/>
          <p:cNvSpPr/>
          <p:nvPr/>
        </p:nvSpPr>
        <p:spPr>
          <a:xfrm>
            <a:off x="6035040" y="2752344"/>
            <a:ext cx="502920" cy="502920"/>
          </a:xfrm>
          <a:prstGeom prst="ellipse">
            <a:avLst/>
          </a:prstGeom>
          <a:solidFill>
            <a:schemeClr val="accent2"/>
          </a:solidFill>
          <a:ln w="12700">
            <a:solidFill>
              <a:schemeClr val="accent2"/>
            </a:solidFill>
            <a:prstDash val="solid"/>
          </a:ln>
        </p:spPr>
      </p:sp>
      <p:sp>
        <p:nvSpPr>
          <p:cNvPr id="11" name="Text 9"/>
          <p:cNvSpPr txBox="1"/>
          <p:nvPr/>
        </p:nvSpPr>
        <p:spPr>
          <a:xfrm>
            <a:off x="6035040" y="2752344"/>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6720840" y="2706624"/>
            <a:ext cx="4892040" cy="640080"/>
          </a:xfrm>
          <a:prstGeom prst="rect">
            <a:avLst/>
          </a:prstGeom>
          <a:noFill/>
          <a:ln/>
        </p:spPr>
        <p:txBody>
          <a:bodyPr wrap="square" lIns="0" tIns="0" rIns="0" bIns="0" rtlCol="0" anchor="ctr"/>
          <a:lstStyle/>
          <a:p>
            <a:pPr indent="0" marL="0">
              <a:buNone/>
            </a:pPr>
            <a:r>
              <a:rPr lang="en-US" sz="1500" dirty="0">
                <a:solidFill>
                  <a:schemeClr val="tx1"/>
                </a:solidFill>
              </a:rPr>
              <a:t>Confirm requirements through seller interviews before Sprint 2</a:t>
            </a:r>
            <a:endParaRPr lang="en-US" sz="1500" dirty="0"/>
          </a:p>
        </p:txBody>
      </p:sp>
      <p:sp>
        <p:nvSpPr>
          <p:cNvPr id="13" name="recommendation number 3"/>
          <p:cNvSpPr/>
          <p:nvPr/>
        </p:nvSpPr>
        <p:spPr>
          <a:xfrm>
            <a:off x="6035040" y="3538728"/>
            <a:ext cx="502920" cy="502920"/>
          </a:xfrm>
          <a:prstGeom prst="ellipse">
            <a:avLst/>
          </a:prstGeom>
          <a:solidFill>
            <a:schemeClr val="accent2"/>
          </a:solidFill>
          <a:ln w="12700">
            <a:solidFill>
              <a:schemeClr val="accent2"/>
            </a:solidFill>
            <a:prstDash val="solid"/>
          </a:ln>
        </p:spPr>
      </p:sp>
      <p:sp>
        <p:nvSpPr>
          <p:cNvPr id="14" name="Text 12"/>
          <p:cNvSpPr txBox="1"/>
          <p:nvPr/>
        </p:nvSpPr>
        <p:spPr>
          <a:xfrm>
            <a:off x="6035040" y="3538728"/>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3"/>
          <p:cNvSpPr txBox="1"/>
          <p:nvPr/>
        </p:nvSpPr>
        <p:spPr>
          <a:xfrm>
            <a:off x="6720840" y="3493008"/>
            <a:ext cx="4892040" cy="640080"/>
          </a:xfrm>
          <a:prstGeom prst="rect">
            <a:avLst/>
          </a:prstGeom>
          <a:noFill/>
          <a:ln/>
        </p:spPr>
        <p:txBody>
          <a:bodyPr wrap="square" lIns="0" tIns="0" rIns="0" bIns="0" rtlCol="0" anchor="ctr"/>
          <a:lstStyle/>
          <a:p>
            <a:pPr indent="0" marL="0">
              <a:buNone/>
            </a:pPr>
            <a:r>
              <a:rPr lang="en-US" sz="1500" dirty="0">
                <a:solidFill>
                  <a:schemeClr val="tx1"/>
                </a:solidFill>
              </a:rPr>
              <a:t>Keep escalation rules strict at launch; relax only with evidence</a:t>
            </a:r>
            <a:endParaRPr lang="en-US" sz="1500" dirty="0"/>
          </a:p>
        </p:txBody>
      </p:sp>
      <p:sp>
        <p:nvSpPr>
          <p:cNvPr id="16" name="recommendation number 4"/>
          <p:cNvSpPr/>
          <p:nvPr/>
        </p:nvSpPr>
        <p:spPr>
          <a:xfrm>
            <a:off x="6035040" y="4325112"/>
            <a:ext cx="502920" cy="502920"/>
          </a:xfrm>
          <a:prstGeom prst="ellipse">
            <a:avLst/>
          </a:prstGeom>
          <a:solidFill>
            <a:schemeClr val="accent2"/>
          </a:solidFill>
          <a:ln w="12700">
            <a:solidFill>
              <a:schemeClr val="accent2"/>
            </a:solidFill>
            <a:prstDash val="solid"/>
          </a:ln>
        </p:spPr>
      </p:sp>
      <p:sp>
        <p:nvSpPr>
          <p:cNvPr id="17" name="Text 15"/>
          <p:cNvSpPr txBox="1"/>
          <p:nvPr/>
        </p:nvSpPr>
        <p:spPr>
          <a:xfrm>
            <a:off x="6035040" y="4325112"/>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6720840" y="4279392"/>
            <a:ext cx="4892040" cy="640080"/>
          </a:xfrm>
          <a:prstGeom prst="rect">
            <a:avLst/>
          </a:prstGeom>
          <a:noFill/>
          <a:ln/>
        </p:spPr>
        <p:txBody>
          <a:bodyPr wrap="square" lIns="0" tIns="0" rIns="0" bIns="0" rtlCol="0" anchor="ctr"/>
          <a:lstStyle/>
          <a:p>
            <a:pPr indent="0" marL="0">
              <a:buNone/>
            </a:pPr>
            <a:r>
              <a:rPr lang="en-US" sz="1500" dirty="0">
                <a:solidFill>
                  <a:schemeClr val="tx1"/>
                </a:solidFill>
              </a:rPr>
              <a:t>Add Facebook Messenger integration next</a:t>
            </a:r>
            <a:endParaRPr lang="en-US" sz="1500" dirty="0"/>
          </a:p>
        </p:txBody>
      </p:sp>
      <p:sp>
        <p:nvSpPr>
          <p:cNvPr id="19" name="recommendation number 5"/>
          <p:cNvSpPr/>
          <p:nvPr/>
        </p:nvSpPr>
        <p:spPr>
          <a:xfrm>
            <a:off x="6035040" y="5111496"/>
            <a:ext cx="502920" cy="502920"/>
          </a:xfrm>
          <a:prstGeom prst="ellipse">
            <a:avLst/>
          </a:prstGeom>
          <a:solidFill>
            <a:schemeClr val="accent2"/>
          </a:solidFill>
          <a:ln w="12700">
            <a:solidFill>
              <a:schemeClr val="accent2"/>
            </a:solidFill>
            <a:prstDash val="solid"/>
          </a:ln>
        </p:spPr>
      </p:sp>
      <p:sp>
        <p:nvSpPr>
          <p:cNvPr id="20" name="Text 18"/>
          <p:cNvSpPr txBox="1"/>
          <p:nvPr/>
        </p:nvSpPr>
        <p:spPr>
          <a:xfrm>
            <a:off x="6035040" y="5111496"/>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19"/>
          <p:cNvSpPr txBox="1"/>
          <p:nvPr/>
        </p:nvSpPr>
        <p:spPr>
          <a:xfrm>
            <a:off x="6720840" y="5065776"/>
            <a:ext cx="4892040" cy="640080"/>
          </a:xfrm>
          <a:prstGeom prst="rect">
            <a:avLst/>
          </a:prstGeom>
          <a:noFill/>
          <a:ln/>
        </p:spPr>
        <p:txBody>
          <a:bodyPr wrap="square" lIns="0" tIns="0" rIns="0" bIns="0" rtlCol="0" anchor="ctr"/>
          <a:lstStyle/>
          <a:p>
            <a:pPr indent="0" marL="0">
              <a:buNone/>
            </a:pPr>
            <a:r>
              <a:rPr lang="en-US" sz="1500" dirty="0">
                <a:solidFill>
                  <a:schemeClr val="tx1"/>
                </a:solidFill>
              </a:rPr>
              <a:t>Partner with DTI-CAR and DICT-CAR as a follow-up to their training</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Selected references</a:t>
            </a:r>
            <a:endParaRPr lang="en-US" sz="3200" dirty="0"/>
          </a:p>
        </p:txBody>
      </p:sp>
      <p:sp>
        <p:nvSpPr>
          <p:cNvPr id="3" name="Text 1"/>
          <p:cNvSpPr txBox="1"/>
          <p:nvPr/>
        </p:nvSpPr>
        <p:spPr>
          <a:xfrm>
            <a:off x="548640" y="1371600"/>
            <a:ext cx="11064240" cy="4754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Department of Trade and Industry. 2024. 2023 Philippine MSME Statistics in Brief.</a:t>
            </a:r>
            <a:endParaRPr lang="en-US" sz="1400" dirty="0"/>
          </a:p>
          <a:p>
            <a:pPr marL="342900" indent="-342900">
              <a:spcAft>
                <a:spcPts val="600"/>
              </a:spcAft>
              <a:buSzPct val="100000"/>
              <a:buChar char="•"/>
            </a:pPr>
            <a:r>
              <a:rPr lang="en-US" sz="1400" dirty="0">
                <a:solidFill>
                  <a:schemeClr val="tx1"/>
                </a:solidFill>
              </a:rPr>
              <a:t>Philippine Statistics Authority. 2025. 2024 NICTHS: E-Commerce; 2026. Digital Economy Satellite Account.</a:t>
            </a:r>
            <a:endParaRPr lang="en-US" sz="1400" dirty="0"/>
          </a:p>
          <a:p>
            <a:pPr marL="342900" indent="-342900">
              <a:spcAft>
                <a:spcPts val="600"/>
              </a:spcAft>
              <a:buSzPct val="100000"/>
              <a:buChar char="•"/>
            </a:pPr>
            <a:r>
              <a:rPr lang="en-US" sz="1400" dirty="0">
                <a:solidFill>
                  <a:schemeClr val="tx1"/>
                </a:solidFill>
              </a:rPr>
              <a:t>D. Huang, D. G. Markovitch, R. A. Stough. 2024. Can chatbot customer service match human service agents on customer satisfaction? J. Retail. Consum. Serv. 76.</a:t>
            </a:r>
            <a:endParaRPr lang="en-US" sz="1400" dirty="0"/>
          </a:p>
          <a:p>
            <a:pPr marL="342900" indent="-342900">
              <a:spcAft>
                <a:spcPts val="600"/>
              </a:spcAft>
              <a:buSzPct val="100000"/>
              <a:buChar char="•"/>
            </a:pPr>
            <a:r>
              <a:rPr lang="en-US" sz="1400" dirty="0">
                <a:solidFill>
                  <a:schemeClr val="tx1"/>
                </a:solidFill>
              </a:rPr>
              <a:t>Y. Zhang, C. Liang, X. Li. 2024. Understanding virtual agents' service quality in the context of customer service. Electron. Commer. Res. Appl. 65.</a:t>
            </a:r>
            <a:endParaRPr lang="en-US" sz="1400" dirty="0"/>
          </a:p>
          <a:p>
            <a:pPr marL="342900" indent="-342900">
              <a:spcAft>
                <a:spcPts val="600"/>
              </a:spcAft>
              <a:buSzPct val="100000"/>
              <a:buChar char="•"/>
            </a:pPr>
            <a:r>
              <a:rPr lang="en-US" sz="1400" dirty="0">
                <a:solidFill>
                  <a:schemeClr val="tx1"/>
                </a:solidFill>
              </a:rPr>
              <a:t>J. R. Montalan et al. 2025. Batayan: A Filipino NLP benchmark for evaluating large language models. ACL 2025.</a:t>
            </a:r>
            <a:endParaRPr lang="en-US" sz="1400" dirty="0"/>
          </a:p>
          <a:p>
            <a:pPr marL="342900" indent="-342900">
              <a:spcAft>
                <a:spcPts val="600"/>
              </a:spcAft>
              <a:buSzPct val="100000"/>
              <a:buChar char="•"/>
            </a:pPr>
            <a:r>
              <a:rPr lang="en-US" sz="1400" dirty="0">
                <a:solidFill>
                  <a:schemeClr val="tx1"/>
                </a:solidFill>
              </a:rPr>
              <a:t>DLSU Senior High School Research Congress. 2024. Optimizing customer support: AI chatbots of Shopee and Lazada in the Philippines.</a:t>
            </a:r>
            <a:endParaRPr lang="en-US" sz="1400" dirty="0"/>
          </a:p>
          <a:p>
            <a:pPr marL="342900" indent="-342900">
              <a:spcAft>
                <a:spcPts val="600"/>
              </a:spcAft>
              <a:buSzPct val="100000"/>
              <a:buChar char="•"/>
            </a:pPr>
            <a:r>
              <a:rPr lang="en-US" sz="1400" dirty="0">
                <a:solidFill>
                  <a:schemeClr val="tx1"/>
                </a:solidFill>
              </a:rPr>
              <a:t>National Privacy Commission. 2024. NPC Advisory No. 2024-04 on AI systems processing personal data.</a:t>
            </a:r>
            <a:endParaRPr lang="en-US" sz="1400" dirty="0"/>
          </a:p>
          <a:p>
            <a:pPr marL="342900" indent="-342900">
              <a:spcAft>
                <a:spcPts val="600"/>
              </a:spcAft>
              <a:buSzPct val="100000"/>
              <a:buChar char="•"/>
            </a:pPr>
            <a:r>
              <a:rPr lang="en-US" sz="1400" dirty="0">
                <a:solidFill>
                  <a:schemeClr val="tx1"/>
                </a:solidFill>
              </a:rPr>
              <a:t>OWASP Foundation. 2025. OWASP Top 10 for LLM Applications; E. Tabassi. 2023. NIST AI RMF 1.0.</a:t>
            </a:r>
            <a:endParaRPr lang="en-US" sz="1400" dirty="0"/>
          </a:p>
          <a:p>
            <a:pPr marL="342900" indent="-342900">
              <a:spcAft>
                <a:spcPts val="600"/>
              </a:spcAft>
              <a:buSzPct val="100000"/>
              <a:buChar char="•"/>
            </a:pPr>
            <a:r>
              <a:rPr lang="en-US" sz="1400" dirty="0">
                <a:solidFill>
                  <a:schemeClr val="tx1"/>
                </a:solidFill>
              </a:rPr>
              <a:t>Philippine Information Agency. 2026. Reports on DICT, DTI and Tatak Pinoy MSME programs in Baguio and the Cordillera.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8778240" cy="182880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Maraming salamat po!</a:t>
            </a:r>
            <a:endParaRPr lang="en-US" sz="4000" dirty="0"/>
          </a:p>
        </p:txBody>
      </p:sp>
      <p:sp>
        <p:nvSpPr>
          <p:cNvPr id="3" name="Text 0"/>
          <p:cNvSpPr/>
          <p:nvPr>
            <p:ph idx="101" type="body" hasCustomPrompt="1"/>
          </p:nvPr>
        </p:nvSpPr>
        <p:spPr>
          <a:xfrm>
            <a:off x="731520" y="3794760"/>
            <a:ext cx="10698480" cy="2011680"/>
          </a:xfrm>
          <a:prstGeom prst="rect">
            <a:avLst/>
          </a:prstGeom>
          <a:noFill/>
          <a:ln/>
        </p:spPr>
        <p:txBody>
          <a:bodyPr wrap="square" rtlCol="0" anchor="t"/>
          <a:lstStyle/>
          <a:p>
            <a:pPr algn="l" indent="0" marL="0">
              <a:buNone/>
            </a:pPr>
            <a:r>
              <a:rPr lang="en-US" sz="1800" i="1" dirty="0">
                <a:solidFill>
                  <a:srgbClr val="FFFFFF"/>
                </a:solidFill>
              </a:rPr>
              <a:t>“The owner's records, not the AI's general knowledge, decide what customers are told.”</a:t>
            </a:r>
            <a:endParaRPr lang="en-US" sz="1800" dirty="0"/>
          </a:p>
          <a:p>
            <a:pPr algn="l" indent="0" marL="0">
              <a:buNone/>
            </a:pPr>
            <a:r>
              <a:rPr lang="en-US" sz="1800" dirty="0">
                <a:solidFill>
                  <a:srgbClr val="CFE0D6"/>
                </a:solidFill>
              </a:rPr>
              <a:t> </a:t>
            </a:r>
            <a:endParaRPr lang="en-US" sz="1800" dirty="0"/>
          </a:p>
          <a:p>
            <a:pPr algn="l" indent="0" marL="0">
              <a:buNone/>
            </a:pPr>
            <a:r>
              <a:rPr lang="en-US" sz="1800" dirty="0">
                <a:solidFill>
                  <a:srgbClr val="CFE0D6"/>
                </a:solidFill>
              </a:rPr>
              <a:t>Questions and suggestions are welcome.  |  jeanalynlagera123@gmail.com</a:t>
            </a:r>
            <a:endParaRPr lang="en-US" sz="1800" dirty="0"/>
          </a:p>
        </p:txBody>
      </p:sp>
      <p:pic>
        <p:nvPicPr>
          <p:cNvPr id="4" name="chat icon decoration" descr="preencoded.png">    </p:cNvPr>
          <p:cNvPicPr>
            <a:picLocks noChangeAspect="1"/>
          </p:cNvPicPr>
          <p:nvPr/>
        </p:nvPicPr>
        <p:blipFill>
          <a:blip r:embed="rId1"/>
          <a:stretch>
            <a:fillRect/>
          </a:stretch>
        </p:blipFill>
        <p:spPr>
          <a:xfrm>
            <a:off x="9692640" y="457200"/>
            <a:ext cx="1828800" cy="1828800"/>
          </a:xfrm>
          <a:prstGeom prst="rect">
            <a:avLst/>
          </a:prstGeom>
        </p:spPr>
      </p:pic>
    </p:spTree>
  </p:cSld>
  <p:clrMapOvr>
    <a:masterClrMapping/>
  </p:clrMapOvr>
</p:sld>
</file>

<file path=ppt/theme/theme1.xml><?xml version="1.0" encoding="utf-8"?>
<a:theme xmlns:a="http://schemas.openxmlformats.org/drawingml/2006/main" name="Baguio Pine">
  <a:themeElements>
    <a:clrScheme name="Baguio Pine">
      <a:dk1>
        <a:srgbClr val="1B2A24"/>
      </a:dk1>
      <a:lt1>
        <a:srgbClr val="FFFFFF"/>
      </a:lt1>
      <a:dk2>
        <a:srgbClr val="1F4D3A"/>
      </a:dk2>
      <a:lt2>
        <a:srgbClr val="EEF3EF"/>
      </a:lt2>
      <a:accent1>
        <a:srgbClr val="1F4D3A"/>
      </a:accent1>
      <a:accent2>
        <a:srgbClr val="C8553D"/>
      </a:accent2>
      <a:accent3>
        <a:srgbClr val="6A8F7A"/>
      </a:accent3>
      <a:accent4>
        <a:srgbClr val="D9A441"/>
      </a:accent4>
      <a:accent5>
        <a:srgbClr val="3F6E8C"/>
      </a:accent5>
      <a:accent6>
        <a:srgbClr val="8C6A4F"/>
      </a:accent6>
      <a:hlink>
        <a:srgbClr val="3F6E8C"/>
      </a:hlink>
      <a:folHlink>
        <a:srgbClr val="8C6A4F"/>
      </a:folHlink>
    </a:clrScheme>
    <a:fontScheme name="Baguio P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Customer Support System for Baguio and Benguet MSMEs</dc:title>
  <dc:subject>PptxGenJS Presentation</dc:subject>
  <dc:creator>Jeanalyn Marie B. Lagera</dc:creator>
  <cp:lastModifiedBy>Jeanalyn Marie B. Lagera</cp:lastModifiedBy>
  <cp:revision>1</cp:revision>
  <dcterms:created xsi:type="dcterms:W3CDTF">2026-10-07T12:35:52Z</dcterms:created>
  <dcterms:modified xsi:type="dcterms:W3CDTF">2026-10-07T12:35:52Z</dcterms:modified>
</cp:coreProperties>
</file>